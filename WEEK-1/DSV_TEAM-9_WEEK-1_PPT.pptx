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jpg" ContentType="image/jp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600" b="1" i="0">
                <a:solidFill>
                  <a:srgbClr val="5C4828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5C4828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00" b="1" i="0">
                <a:solidFill>
                  <a:srgbClr val="5C4828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5C4828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9F5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0"/>
            <a:ext cx="7732395" cy="10287000"/>
          </a:xfrm>
          <a:custGeom>
            <a:avLst/>
            <a:gdLst/>
            <a:ahLst/>
            <a:cxnLst/>
            <a:rect l="l" t="t" r="r" b="b"/>
            <a:pathLst>
              <a:path w="7732395" h="10287000">
                <a:moveTo>
                  <a:pt x="0" y="10287000"/>
                </a:moveTo>
                <a:lnTo>
                  <a:pt x="7106847" y="10286999"/>
                </a:lnTo>
                <a:lnTo>
                  <a:pt x="7138071" y="10233337"/>
                </a:lnTo>
                <a:lnTo>
                  <a:pt x="7164317" y="10187130"/>
                </a:lnTo>
                <a:lnTo>
                  <a:pt x="7189940" y="10141029"/>
                </a:lnTo>
                <a:lnTo>
                  <a:pt x="7214941" y="10095030"/>
                </a:lnTo>
                <a:lnTo>
                  <a:pt x="7239323" y="10049130"/>
                </a:lnTo>
                <a:lnTo>
                  <a:pt x="7263088" y="10003327"/>
                </a:lnTo>
                <a:lnTo>
                  <a:pt x="7286238" y="9957617"/>
                </a:lnTo>
                <a:lnTo>
                  <a:pt x="7308775" y="9911999"/>
                </a:lnTo>
                <a:lnTo>
                  <a:pt x="7330701" y="9866468"/>
                </a:lnTo>
                <a:lnTo>
                  <a:pt x="7352018" y="9821022"/>
                </a:lnTo>
                <a:lnTo>
                  <a:pt x="7372728" y="9775658"/>
                </a:lnTo>
                <a:lnTo>
                  <a:pt x="7392834" y="9730374"/>
                </a:lnTo>
                <a:lnTo>
                  <a:pt x="7412337" y="9685165"/>
                </a:lnTo>
                <a:lnTo>
                  <a:pt x="7431240" y="9640030"/>
                </a:lnTo>
                <a:lnTo>
                  <a:pt x="7449544" y="9594966"/>
                </a:lnTo>
                <a:lnTo>
                  <a:pt x="7467252" y="9549970"/>
                </a:lnTo>
                <a:lnTo>
                  <a:pt x="7484366" y="9505038"/>
                </a:lnTo>
                <a:lnTo>
                  <a:pt x="7500887" y="9460168"/>
                </a:lnTo>
                <a:lnTo>
                  <a:pt x="7516819" y="9415357"/>
                </a:lnTo>
                <a:lnTo>
                  <a:pt x="7532162" y="9370602"/>
                </a:lnTo>
                <a:lnTo>
                  <a:pt x="7546920" y="9325901"/>
                </a:lnTo>
                <a:lnTo>
                  <a:pt x="7561094" y="9281250"/>
                </a:lnTo>
                <a:lnTo>
                  <a:pt x="7574686" y="9236646"/>
                </a:lnTo>
                <a:lnTo>
                  <a:pt x="7587698" y="9192087"/>
                </a:lnTo>
                <a:lnTo>
                  <a:pt x="7600133" y="9147569"/>
                </a:lnTo>
                <a:lnTo>
                  <a:pt x="7611992" y="9103091"/>
                </a:lnTo>
                <a:lnTo>
                  <a:pt x="7623278" y="9058648"/>
                </a:lnTo>
                <a:lnTo>
                  <a:pt x="7633992" y="9014238"/>
                </a:lnTo>
                <a:lnTo>
                  <a:pt x="7644138" y="8969859"/>
                </a:lnTo>
                <a:lnTo>
                  <a:pt x="7653716" y="8925506"/>
                </a:lnTo>
                <a:lnTo>
                  <a:pt x="7662729" y="8881178"/>
                </a:lnTo>
                <a:lnTo>
                  <a:pt x="7671179" y="8836872"/>
                </a:lnTo>
                <a:lnTo>
                  <a:pt x="7679068" y="8792584"/>
                </a:lnTo>
                <a:lnTo>
                  <a:pt x="7686398" y="8748312"/>
                </a:lnTo>
                <a:lnTo>
                  <a:pt x="7693171" y="8704053"/>
                </a:lnTo>
                <a:lnTo>
                  <a:pt x="7699390" y="8659803"/>
                </a:lnTo>
                <a:lnTo>
                  <a:pt x="7705056" y="8615561"/>
                </a:lnTo>
                <a:lnTo>
                  <a:pt x="7710172" y="8571323"/>
                </a:lnTo>
                <a:lnTo>
                  <a:pt x="7714739" y="8527086"/>
                </a:lnTo>
                <a:lnTo>
                  <a:pt x="7718760" y="8482848"/>
                </a:lnTo>
                <a:lnTo>
                  <a:pt x="7722237" y="8438605"/>
                </a:lnTo>
                <a:lnTo>
                  <a:pt x="7725171" y="8394355"/>
                </a:lnTo>
                <a:lnTo>
                  <a:pt x="7727566" y="8350094"/>
                </a:lnTo>
                <a:lnTo>
                  <a:pt x="7729422" y="8305820"/>
                </a:lnTo>
                <a:lnTo>
                  <a:pt x="7730743" y="8261531"/>
                </a:lnTo>
                <a:lnTo>
                  <a:pt x="7731529" y="8217222"/>
                </a:lnTo>
                <a:lnTo>
                  <a:pt x="7731784" y="8172892"/>
                </a:lnTo>
                <a:lnTo>
                  <a:pt x="7731509" y="8128536"/>
                </a:lnTo>
                <a:lnTo>
                  <a:pt x="7730707" y="8084154"/>
                </a:lnTo>
                <a:lnTo>
                  <a:pt x="7729379" y="8039741"/>
                </a:lnTo>
                <a:lnTo>
                  <a:pt x="7727528" y="7995294"/>
                </a:lnTo>
                <a:lnTo>
                  <a:pt x="7725155" y="7950811"/>
                </a:lnTo>
                <a:lnTo>
                  <a:pt x="7722263" y="7906289"/>
                </a:lnTo>
                <a:lnTo>
                  <a:pt x="7718338" y="7854983"/>
                </a:lnTo>
                <a:lnTo>
                  <a:pt x="7710492" y="7772460"/>
                </a:lnTo>
                <a:lnTo>
                  <a:pt x="7705544" y="7727753"/>
                </a:lnTo>
                <a:lnTo>
                  <a:pt x="7700087" y="7682992"/>
                </a:lnTo>
                <a:lnTo>
                  <a:pt x="7694123" y="7638175"/>
                </a:lnTo>
                <a:lnTo>
                  <a:pt x="7687654" y="7593298"/>
                </a:lnTo>
                <a:lnTo>
                  <a:pt x="7680683" y="7548359"/>
                </a:lnTo>
                <a:lnTo>
                  <a:pt x="7673212" y="7503355"/>
                </a:lnTo>
                <a:lnTo>
                  <a:pt x="7665242" y="7458284"/>
                </a:lnTo>
                <a:lnTo>
                  <a:pt x="7656775" y="7413141"/>
                </a:lnTo>
                <a:lnTo>
                  <a:pt x="7647814" y="7367924"/>
                </a:lnTo>
                <a:lnTo>
                  <a:pt x="7638361" y="7322631"/>
                </a:lnTo>
                <a:lnTo>
                  <a:pt x="7628418" y="7277259"/>
                </a:lnTo>
                <a:lnTo>
                  <a:pt x="7607070" y="7186263"/>
                </a:lnTo>
                <a:lnTo>
                  <a:pt x="7583787" y="7094915"/>
                </a:lnTo>
                <a:lnTo>
                  <a:pt x="7558584" y="7003191"/>
                </a:lnTo>
                <a:lnTo>
                  <a:pt x="7531480" y="6911068"/>
                </a:lnTo>
                <a:lnTo>
                  <a:pt x="7502490" y="6818522"/>
                </a:lnTo>
                <a:lnTo>
                  <a:pt x="7471631" y="6725532"/>
                </a:lnTo>
                <a:lnTo>
                  <a:pt x="7438920" y="6632074"/>
                </a:lnTo>
                <a:lnTo>
                  <a:pt x="7404374" y="6538124"/>
                </a:lnTo>
                <a:lnTo>
                  <a:pt x="7368009" y="6443660"/>
                </a:lnTo>
                <a:lnTo>
                  <a:pt x="7329841" y="6348658"/>
                </a:lnTo>
                <a:lnTo>
                  <a:pt x="7289888" y="6253096"/>
                </a:lnTo>
                <a:lnTo>
                  <a:pt x="7248167" y="6156950"/>
                </a:lnTo>
                <a:lnTo>
                  <a:pt x="7204693" y="6060198"/>
                </a:lnTo>
                <a:lnTo>
                  <a:pt x="7159484" y="5962815"/>
                </a:lnTo>
                <a:lnTo>
                  <a:pt x="7088452" y="5815510"/>
                </a:lnTo>
                <a:lnTo>
                  <a:pt x="7013609" y="5666658"/>
                </a:lnTo>
                <a:lnTo>
                  <a:pt x="6935011" y="5516181"/>
                </a:lnTo>
                <a:lnTo>
                  <a:pt x="6852714" y="5364001"/>
                </a:lnTo>
                <a:lnTo>
                  <a:pt x="6766775" y="5210040"/>
                </a:lnTo>
                <a:lnTo>
                  <a:pt x="6646621" y="5001854"/>
                </a:lnTo>
                <a:lnTo>
                  <a:pt x="6520224" y="4790179"/>
                </a:lnTo>
                <a:lnTo>
                  <a:pt x="6353653" y="4520397"/>
                </a:lnTo>
                <a:lnTo>
                  <a:pt x="6141535" y="4188573"/>
                </a:lnTo>
                <a:lnTo>
                  <a:pt x="5877765" y="3789510"/>
                </a:lnTo>
                <a:lnTo>
                  <a:pt x="5429456" y="3134153"/>
                </a:lnTo>
                <a:lnTo>
                  <a:pt x="4129043" y="1298562"/>
                </a:lnTo>
                <a:lnTo>
                  <a:pt x="3697022" y="705469"/>
                </a:lnTo>
                <a:lnTo>
                  <a:pt x="3397499" y="305490"/>
                </a:lnTo>
                <a:lnTo>
                  <a:pt x="3179777" y="22772"/>
                </a:lnTo>
                <a:lnTo>
                  <a:pt x="3161947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solidFill>
            <a:srgbClr val="D9C6AB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76490" y="7163472"/>
            <a:ext cx="2011764" cy="31235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00" b="1" i="0">
                <a:solidFill>
                  <a:srgbClr val="5C4828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00" b="1" i="0">
                <a:solidFill>
                  <a:srgbClr val="5C4828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9F5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53853" y="962088"/>
            <a:ext cx="16580293" cy="8788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600" b="1" i="0">
                <a:solidFill>
                  <a:srgbClr val="5C4828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641341" y="2044921"/>
            <a:ext cx="13538200" cy="6346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5C4828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image" Target="../media/image6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hyperlink" Target="http://df.info/" TargetMode="External"/><Relationship Id="rId9" Type="http://schemas.openxmlformats.org/officeDocument/2006/relationships/image" Target="../media/image22.png"/><Relationship Id="rId10" Type="http://schemas.openxmlformats.org/officeDocument/2006/relationships/image" Target="../media/image23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Relationship Id="rId9" Type="http://schemas.openxmlformats.org/officeDocument/2006/relationships/image" Target="../media/image40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53373" y="3856303"/>
            <a:ext cx="5634626" cy="643069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6056715" cy="6671749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228157" y="1698644"/>
            <a:ext cx="9831705" cy="8788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10">
                <a:latin typeface="Tahoma"/>
                <a:cs typeface="Tahoma"/>
              </a:rPr>
              <a:t>Spotify</a:t>
            </a:r>
            <a:r>
              <a:rPr dirty="0" spc="-660">
                <a:latin typeface="Tahoma"/>
                <a:cs typeface="Tahoma"/>
              </a:rPr>
              <a:t> </a:t>
            </a:r>
            <a:r>
              <a:rPr dirty="0" spc="-190">
                <a:latin typeface="Tahoma"/>
                <a:cs typeface="Tahoma"/>
              </a:rPr>
              <a:t>Tracks</a:t>
            </a:r>
            <a:r>
              <a:rPr dirty="0" spc="-305">
                <a:latin typeface="Tahoma"/>
                <a:cs typeface="Tahoma"/>
              </a:rPr>
              <a:t> </a:t>
            </a:r>
            <a:r>
              <a:rPr dirty="0" spc="-240">
                <a:latin typeface="Tahoma"/>
                <a:cs typeface="Tahoma"/>
              </a:rPr>
              <a:t>Data</a:t>
            </a:r>
            <a:r>
              <a:rPr dirty="0" spc="-484">
                <a:latin typeface="Tahoma"/>
                <a:cs typeface="Tahoma"/>
              </a:rPr>
              <a:t> </a:t>
            </a:r>
            <a:r>
              <a:rPr dirty="0" spc="-60">
                <a:latin typeface="Tahoma"/>
                <a:cs typeface="Tahoma"/>
              </a:rPr>
              <a:t>Analytics</a:t>
            </a: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26778" y="7052750"/>
            <a:ext cx="123824" cy="1238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26778" y="7557575"/>
            <a:ext cx="123824" cy="1238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26778" y="8062400"/>
            <a:ext cx="123824" cy="1238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26778" y="9576874"/>
            <a:ext cx="123824" cy="12382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999754" y="2753645"/>
            <a:ext cx="11911330" cy="70897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881880" marR="5080" indent="-2492375">
              <a:lnSpc>
                <a:spcPct val="116100"/>
              </a:lnSpc>
              <a:spcBef>
                <a:spcPts val="95"/>
              </a:spcBef>
            </a:pPr>
            <a:r>
              <a:rPr dirty="0" sz="3500" spc="-229">
                <a:solidFill>
                  <a:srgbClr val="5C4828"/>
                </a:solidFill>
                <a:latin typeface="Verdana"/>
                <a:cs typeface="Verdana"/>
              </a:rPr>
              <a:t>“Discovering</a:t>
            </a:r>
            <a:r>
              <a:rPr dirty="0" sz="3500" spc="-420">
                <a:solidFill>
                  <a:srgbClr val="5C4828"/>
                </a:solidFill>
                <a:latin typeface="Verdana"/>
                <a:cs typeface="Verdana"/>
              </a:rPr>
              <a:t> </a:t>
            </a:r>
            <a:r>
              <a:rPr dirty="0" sz="3500" spc="-195">
                <a:solidFill>
                  <a:srgbClr val="5C4828"/>
                </a:solidFill>
                <a:latin typeface="Verdana"/>
                <a:cs typeface="Verdana"/>
              </a:rPr>
              <a:t>the</a:t>
            </a:r>
            <a:r>
              <a:rPr dirty="0" sz="3500" spc="-415">
                <a:solidFill>
                  <a:srgbClr val="5C4828"/>
                </a:solidFill>
                <a:latin typeface="Verdana"/>
                <a:cs typeface="Verdana"/>
              </a:rPr>
              <a:t> </a:t>
            </a:r>
            <a:r>
              <a:rPr dirty="0" sz="3500" spc="-175">
                <a:solidFill>
                  <a:srgbClr val="5C4828"/>
                </a:solidFill>
                <a:latin typeface="Verdana"/>
                <a:cs typeface="Verdana"/>
              </a:rPr>
              <a:t>Factors</a:t>
            </a:r>
            <a:r>
              <a:rPr dirty="0" sz="3500" spc="-415">
                <a:solidFill>
                  <a:srgbClr val="5C4828"/>
                </a:solidFill>
                <a:latin typeface="Verdana"/>
                <a:cs typeface="Verdana"/>
              </a:rPr>
              <a:t> </a:t>
            </a:r>
            <a:r>
              <a:rPr dirty="0" sz="3500" spc="-210">
                <a:solidFill>
                  <a:srgbClr val="5C4828"/>
                </a:solidFill>
                <a:latin typeface="Verdana"/>
                <a:cs typeface="Verdana"/>
              </a:rPr>
              <a:t>Behind</a:t>
            </a:r>
            <a:r>
              <a:rPr dirty="0" sz="3500" spc="-415">
                <a:solidFill>
                  <a:srgbClr val="5C4828"/>
                </a:solidFill>
                <a:latin typeface="Verdana"/>
                <a:cs typeface="Verdana"/>
              </a:rPr>
              <a:t> </a:t>
            </a:r>
            <a:r>
              <a:rPr dirty="0" sz="3500" spc="-235">
                <a:solidFill>
                  <a:srgbClr val="5C4828"/>
                </a:solidFill>
                <a:latin typeface="Verdana"/>
                <a:cs typeface="Verdana"/>
              </a:rPr>
              <a:t>Song</a:t>
            </a:r>
            <a:r>
              <a:rPr dirty="0" sz="3500" spc="-415">
                <a:solidFill>
                  <a:srgbClr val="5C4828"/>
                </a:solidFill>
                <a:latin typeface="Verdana"/>
                <a:cs typeface="Verdana"/>
              </a:rPr>
              <a:t> </a:t>
            </a:r>
            <a:r>
              <a:rPr dirty="0" sz="3500" spc="-155">
                <a:solidFill>
                  <a:srgbClr val="5C4828"/>
                </a:solidFill>
                <a:latin typeface="Verdana"/>
                <a:cs typeface="Verdana"/>
              </a:rPr>
              <a:t>Popularity </a:t>
            </a:r>
            <a:r>
              <a:rPr dirty="0" sz="3500" spc="-229">
                <a:solidFill>
                  <a:srgbClr val="5C4828"/>
                </a:solidFill>
                <a:latin typeface="Verdana"/>
                <a:cs typeface="Verdana"/>
              </a:rPr>
              <a:t>Through</a:t>
            </a:r>
            <a:r>
              <a:rPr dirty="0" sz="3500" spc="-434">
                <a:solidFill>
                  <a:srgbClr val="5C4828"/>
                </a:solidFill>
                <a:latin typeface="Verdana"/>
                <a:cs typeface="Verdana"/>
              </a:rPr>
              <a:t> </a:t>
            </a:r>
            <a:r>
              <a:rPr dirty="0" sz="3500" spc="-270">
                <a:solidFill>
                  <a:srgbClr val="5C4828"/>
                </a:solidFill>
                <a:latin typeface="Verdana"/>
                <a:cs typeface="Verdana"/>
              </a:rPr>
              <a:t>Data</a:t>
            </a:r>
            <a:r>
              <a:rPr dirty="0" sz="3500" spc="-430">
                <a:solidFill>
                  <a:srgbClr val="5C4828"/>
                </a:solidFill>
                <a:latin typeface="Verdana"/>
                <a:cs typeface="Verdana"/>
              </a:rPr>
              <a:t> </a:t>
            </a:r>
            <a:r>
              <a:rPr dirty="0" sz="3500" spc="-40">
                <a:solidFill>
                  <a:srgbClr val="5C4828"/>
                </a:solidFill>
                <a:latin typeface="Verdana"/>
                <a:cs typeface="Verdana"/>
              </a:rPr>
              <a:t>Science”</a:t>
            </a:r>
            <a:endParaRPr sz="35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135"/>
              </a:spcBef>
            </a:pPr>
            <a:r>
              <a:rPr dirty="0" sz="3500" spc="-290">
                <a:solidFill>
                  <a:srgbClr val="5C4828"/>
                </a:solidFill>
                <a:latin typeface="Verdana"/>
                <a:cs typeface="Verdana"/>
              </a:rPr>
              <a:t>Course:</a:t>
            </a:r>
            <a:r>
              <a:rPr dirty="0" sz="3500" spc="-420">
                <a:solidFill>
                  <a:srgbClr val="5C4828"/>
                </a:solidFill>
                <a:latin typeface="Verdana"/>
                <a:cs typeface="Verdana"/>
              </a:rPr>
              <a:t> </a:t>
            </a:r>
            <a:r>
              <a:rPr dirty="0" sz="3500" spc="-270">
                <a:solidFill>
                  <a:srgbClr val="5C4828"/>
                </a:solidFill>
                <a:latin typeface="Verdana"/>
                <a:cs typeface="Verdana"/>
              </a:rPr>
              <a:t>Data</a:t>
            </a:r>
            <a:r>
              <a:rPr dirty="0" sz="3500" spc="-415">
                <a:solidFill>
                  <a:srgbClr val="5C4828"/>
                </a:solidFill>
                <a:latin typeface="Verdana"/>
                <a:cs typeface="Verdana"/>
              </a:rPr>
              <a:t> </a:t>
            </a:r>
            <a:r>
              <a:rPr dirty="0" sz="3500" spc="-160">
                <a:solidFill>
                  <a:srgbClr val="5C4828"/>
                </a:solidFill>
                <a:latin typeface="Verdana"/>
                <a:cs typeface="Verdana"/>
              </a:rPr>
              <a:t>Science</a:t>
            </a:r>
            <a:r>
              <a:rPr dirty="0" sz="3500" spc="-420">
                <a:solidFill>
                  <a:srgbClr val="5C4828"/>
                </a:solidFill>
                <a:latin typeface="Verdana"/>
                <a:cs typeface="Verdana"/>
              </a:rPr>
              <a:t> </a:t>
            </a:r>
            <a:r>
              <a:rPr dirty="0" sz="3500" spc="-240">
                <a:solidFill>
                  <a:srgbClr val="5C4828"/>
                </a:solidFill>
                <a:latin typeface="Verdana"/>
                <a:cs typeface="Verdana"/>
              </a:rPr>
              <a:t>and</a:t>
            </a:r>
            <a:r>
              <a:rPr dirty="0" sz="3500" spc="-530">
                <a:solidFill>
                  <a:srgbClr val="5C4828"/>
                </a:solidFill>
                <a:latin typeface="Verdana"/>
                <a:cs typeface="Verdana"/>
              </a:rPr>
              <a:t> </a:t>
            </a:r>
            <a:r>
              <a:rPr dirty="0" sz="3500" spc="-235">
                <a:solidFill>
                  <a:srgbClr val="5C4828"/>
                </a:solidFill>
                <a:latin typeface="Verdana"/>
                <a:cs typeface="Verdana"/>
              </a:rPr>
              <a:t>Visualization</a:t>
            </a:r>
            <a:r>
              <a:rPr dirty="0" sz="3500" spc="-760">
                <a:solidFill>
                  <a:srgbClr val="5C4828"/>
                </a:solidFill>
                <a:latin typeface="Verdana"/>
                <a:cs typeface="Verdana"/>
              </a:rPr>
              <a:t> </a:t>
            </a:r>
            <a:r>
              <a:rPr dirty="0" baseline="-2525" sz="4950" spc="-487">
                <a:solidFill>
                  <a:srgbClr val="5C4828"/>
                </a:solidFill>
                <a:latin typeface="Verdana"/>
                <a:cs typeface="Verdana"/>
              </a:rPr>
              <a:t>(24ADI204)</a:t>
            </a:r>
            <a:endParaRPr baseline="-2525" sz="49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040"/>
              </a:spcBef>
            </a:pPr>
            <a:endParaRPr sz="35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dirty="0" sz="2850" spc="-160" b="1">
                <a:solidFill>
                  <a:srgbClr val="5C4828"/>
                </a:solidFill>
                <a:latin typeface="Tahoma"/>
                <a:cs typeface="Tahoma"/>
              </a:rPr>
              <a:t>Team</a:t>
            </a:r>
            <a:r>
              <a:rPr dirty="0" sz="2850" spc="-145" b="1">
                <a:solidFill>
                  <a:srgbClr val="5C4828"/>
                </a:solidFill>
                <a:latin typeface="Tahoma"/>
                <a:cs typeface="Tahoma"/>
              </a:rPr>
              <a:t> </a:t>
            </a:r>
            <a:r>
              <a:rPr dirty="0" sz="2850" spc="-10" b="1">
                <a:solidFill>
                  <a:srgbClr val="5C4828"/>
                </a:solidFill>
                <a:latin typeface="Tahoma"/>
                <a:cs typeface="Tahoma"/>
              </a:rPr>
              <a:t>Members:</a:t>
            </a:r>
            <a:endParaRPr sz="2850">
              <a:latin typeface="Tahoma"/>
              <a:cs typeface="Tahoma"/>
            </a:endParaRPr>
          </a:p>
          <a:p>
            <a:pPr marL="631190" marR="7383145">
              <a:lnSpc>
                <a:spcPct val="116199"/>
              </a:lnSpc>
            </a:pPr>
            <a:r>
              <a:rPr dirty="0" sz="2850" spc="-155">
                <a:solidFill>
                  <a:srgbClr val="5C4828"/>
                </a:solidFill>
                <a:latin typeface="Verdana"/>
                <a:cs typeface="Verdana"/>
              </a:rPr>
              <a:t>Prithesa</a:t>
            </a:r>
            <a:r>
              <a:rPr dirty="0" sz="2850" spc="-320">
                <a:solidFill>
                  <a:srgbClr val="5C4828"/>
                </a:solidFill>
                <a:latin typeface="Verdana"/>
                <a:cs typeface="Verdana"/>
              </a:rPr>
              <a:t> </a:t>
            </a:r>
            <a:r>
              <a:rPr dirty="0" sz="2850" spc="-110">
                <a:solidFill>
                  <a:srgbClr val="5C4828"/>
                </a:solidFill>
                <a:latin typeface="Verdana"/>
                <a:cs typeface="Verdana"/>
              </a:rPr>
              <a:t>R(25BAD083) </a:t>
            </a:r>
            <a:r>
              <a:rPr dirty="0" sz="2850" spc="-250">
                <a:solidFill>
                  <a:srgbClr val="5C4828"/>
                </a:solidFill>
                <a:latin typeface="Verdana"/>
                <a:cs typeface="Verdana"/>
              </a:rPr>
              <a:t>Saravanan</a:t>
            </a:r>
            <a:r>
              <a:rPr dirty="0" sz="2850" spc="-380">
                <a:solidFill>
                  <a:srgbClr val="5C4828"/>
                </a:solidFill>
                <a:latin typeface="Verdana"/>
                <a:cs typeface="Verdana"/>
              </a:rPr>
              <a:t> </a:t>
            </a:r>
            <a:r>
              <a:rPr dirty="0" sz="2850" spc="-285">
                <a:solidFill>
                  <a:srgbClr val="5C4828"/>
                </a:solidFill>
                <a:latin typeface="Verdana"/>
                <a:cs typeface="Verdana"/>
              </a:rPr>
              <a:t>A(25BAD102) </a:t>
            </a:r>
            <a:r>
              <a:rPr dirty="0" sz="2850" spc="-240">
                <a:solidFill>
                  <a:srgbClr val="5C4828"/>
                </a:solidFill>
                <a:latin typeface="Verdana"/>
                <a:cs typeface="Verdana"/>
              </a:rPr>
              <a:t>Tejas</a:t>
            </a:r>
            <a:r>
              <a:rPr dirty="0" sz="2850" spc="-430">
                <a:solidFill>
                  <a:srgbClr val="5C4828"/>
                </a:solidFill>
                <a:latin typeface="Verdana"/>
                <a:cs typeface="Verdana"/>
              </a:rPr>
              <a:t> </a:t>
            </a:r>
            <a:r>
              <a:rPr dirty="0" sz="2850" spc="-315">
                <a:solidFill>
                  <a:srgbClr val="5C4828"/>
                </a:solidFill>
                <a:latin typeface="Verdana"/>
                <a:cs typeface="Verdana"/>
              </a:rPr>
              <a:t>T(25BAD124)</a:t>
            </a:r>
            <a:endParaRPr sz="2850">
              <a:latin typeface="Verdana"/>
              <a:cs typeface="Verdana"/>
            </a:endParaRPr>
          </a:p>
          <a:p>
            <a:pPr marL="631190">
              <a:lnSpc>
                <a:spcPct val="100000"/>
              </a:lnSpc>
              <a:spcBef>
                <a:spcPts val="555"/>
              </a:spcBef>
            </a:pPr>
            <a:r>
              <a:rPr dirty="0" sz="2850" spc="-190">
                <a:solidFill>
                  <a:srgbClr val="5C4828"/>
                </a:solidFill>
                <a:latin typeface="Verdana"/>
                <a:cs typeface="Verdana"/>
              </a:rPr>
              <a:t>Viknesh</a:t>
            </a:r>
            <a:r>
              <a:rPr dirty="0" sz="2850" spc="-405">
                <a:solidFill>
                  <a:srgbClr val="5C4828"/>
                </a:solidFill>
                <a:latin typeface="Verdana"/>
                <a:cs typeface="Verdana"/>
              </a:rPr>
              <a:t> </a:t>
            </a:r>
            <a:r>
              <a:rPr dirty="0" sz="2850" spc="-300">
                <a:solidFill>
                  <a:srgbClr val="5C4828"/>
                </a:solidFill>
                <a:latin typeface="Verdana"/>
                <a:cs typeface="Verdana"/>
              </a:rPr>
              <a:t>T(25BAD128)</a:t>
            </a:r>
            <a:endParaRPr sz="28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65"/>
              </a:spcBef>
            </a:pPr>
            <a:endParaRPr sz="2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dirty="0" sz="2850" spc="-65" b="1">
                <a:solidFill>
                  <a:srgbClr val="5C4828"/>
                </a:solidFill>
                <a:latin typeface="Tahoma"/>
                <a:cs typeface="Tahoma"/>
              </a:rPr>
              <a:t>Faculty</a:t>
            </a:r>
            <a:r>
              <a:rPr dirty="0" sz="2850" spc="-200" b="1">
                <a:solidFill>
                  <a:srgbClr val="5C4828"/>
                </a:solidFill>
                <a:latin typeface="Tahoma"/>
                <a:cs typeface="Tahoma"/>
              </a:rPr>
              <a:t> </a:t>
            </a:r>
            <a:r>
              <a:rPr dirty="0" sz="2850" spc="-20" b="1">
                <a:solidFill>
                  <a:srgbClr val="5C4828"/>
                </a:solidFill>
                <a:latin typeface="Tahoma"/>
                <a:cs typeface="Tahoma"/>
              </a:rPr>
              <a:t>Name:</a:t>
            </a:r>
            <a:endParaRPr sz="2850">
              <a:latin typeface="Tahoma"/>
              <a:cs typeface="Tahoma"/>
            </a:endParaRPr>
          </a:p>
          <a:p>
            <a:pPr marL="631190">
              <a:lnSpc>
                <a:spcPct val="100000"/>
              </a:lnSpc>
              <a:spcBef>
                <a:spcPts val="555"/>
              </a:spcBef>
            </a:pPr>
            <a:r>
              <a:rPr dirty="0" sz="2850" spc="-145">
                <a:solidFill>
                  <a:srgbClr val="5C4828"/>
                </a:solidFill>
                <a:latin typeface="Verdana"/>
                <a:cs typeface="Verdana"/>
              </a:rPr>
              <a:t>Dr.Rupashini</a:t>
            </a:r>
            <a:endParaRPr sz="28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996277"/>
            <a:ext cx="923925" cy="3291204"/>
          </a:xfrm>
          <a:custGeom>
            <a:avLst/>
            <a:gdLst/>
            <a:ahLst/>
            <a:cxnLst/>
            <a:rect l="l" t="t" r="r" b="b"/>
            <a:pathLst>
              <a:path w="923925" h="3291204">
                <a:moveTo>
                  <a:pt x="923515" y="2616724"/>
                </a:moveTo>
                <a:lnTo>
                  <a:pt x="923515" y="2554444"/>
                </a:lnTo>
                <a:lnTo>
                  <a:pt x="922716" y="2476181"/>
                </a:lnTo>
                <a:lnTo>
                  <a:pt x="920354" y="2382452"/>
                </a:lnTo>
                <a:lnTo>
                  <a:pt x="916442" y="2288753"/>
                </a:lnTo>
                <a:lnTo>
                  <a:pt x="910902" y="2195133"/>
                </a:lnTo>
                <a:lnTo>
                  <a:pt x="903659" y="2101641"/>
                </a:lnTo>
                <a:lnTo>
                  <a:pt x="894638" y="2008325"/>
                </a:lnTo>
                <a:lnTo>
                  <a:pt x="889438" y="1961749"/>
                </a:lnTo>
                <a:lnTo>
                  <a:pt x="883764" y="1915234"/>
                </a:lnTo>
                <a:lnTo>
                  <a:pt x="877607" y="1868789"/>
                </a:lnTo>
                <a:lnTo>
                  <a:pt x="870959" y="1822418"/>
                </a:lnTo>
                <a:lnTo>
                  <a:pt x="863810" y="1776127"/>
                </a:lnTo>
                <a:lnTo>
                  <a:pt x="856150" y="1729923"/>
                </a:lnTo>
                <a:lnTo>
                  <a:pt x="847969" y="1683812"/>
                </a:lnTo>
                <a:lnTo>
                  <a:pt x="839259" y="1637800"/>
                </a:lnTo>
                <a:lnTo>
                  <a:pt x="830010" y="1591892"/>
                </a:lnTo>
                <a:lnTo>
                  <a:pt x="820212" y="1546096"/>
                </a:lnTo>
                <a:lnTo>
                  <a:pt x="809856" y="1500417"/>
                </a:lnTo>
                <a:lnTo>
                  <a:pt x="798933" y="1454861"/>
                </a:lnTo>
                <a:lnTo>
                  <a:pt x="787432" y="1409435"/>
                </a:lnTo>
                <a:lnTo>
                  <a:pt x="775346" y="1364144"/>
                </a:lnTo>
                <a:lnTo>
                  <a:pt x="762663" y="1318994"/>
                </a:lnTo>
                <a:lnTo>
                  <a:pt x="749375" y="1273992"/>
                </a:lnTo>
                <a:lnTo>
                  <a:pt x="735472" y="1229144"/>
                </a:lnTo>
                <a:lnTo>
                  <a:pt x="720945" y="1184455"/>
                </a:lnTo>
                <a:lnTo>
                  <a:pt x="705784" y="1139932"/>
                </a:lnTo>
                <a:lnTo>
                  <a:pt x="689980" y="1095581"/>
                </a:lnTo>
                <a:lnTo>
                  <a:pt x="673523" y="1051408"/>
                </a:lnTo>
                <a:lnTo>
                  <a:pt x="656405" y="1007420"/>
                </a:lnTo>
                <a:lnTo>
                  <a:pt x="638614" y="963621"/>
                </a:lnTo>
                <a:lnTo>
                  <a:pt x="620143" y="920019"/>
                </a:lnTo>
                <a:lnTo>
                  <a:pt x="600981" y="876619"/>
                </a:lnTo>
                <a:lnTo>
                  <a:pt x="581120" y="833427"/>
                </a:lnTo>
                <a:lnTo>
                  <a:pt x="560549" y="790450"/>
                </a:lnTo>
                <a:lnTo>
                  <a:pt x="539259" y="747694"/>
                </a:lnTo>
                <a:lnTo>
                  <a:pt x="517241" y="705164"/>
                </a:lnTo>
                <a:lnTo>
                  <a:pt x="494485" y="662867"/>
                </a:lnTo>
                <a:lnTo>
                  <a:pt x="470982" y="620809"/>
                </a:lnTo>
                <a:lnTo>
                  <a:pt x="446722" y="578996"/>
                </a:lnTo>
                <a:lnTo>
                  <a:pt x="421697" y="537434"/>
                </a:lnTo>
                <a:lnTo>
                  <a:pt x="395895" y="496130"/>
                </a:lnTo>
                <a:lnTo>
                  <a:pt x="369309" y="455088"/>
                </a:lnTo>
                <a:lnTo>
                  <a:pt x="341928" y="414316"/>
                </a:lnTo>
                <a:lnTo>
                  <a:pt x="313743" y="373819"/>
                </a:lnTo>
                <a:lnTo>
                  <a:pt x="284745" y="333604"/>
                </a:lnTo>
                <a:lnTo>
                  <a:pt x="254924" y="293676"/>
                </a:lnTo>
                <a:lnTo>
                  <a:pt x="224270" y="254042"/>
                </a:lnTo>
                <a:lnTo>
                  <a:pt x="192775" y="214707"/>
                </a:lnTo>
                <a:lnTo>
                  <a:pt x="160429" y="175679"/>
                </a:lnTo>
                <a:lnTo>
                  <a:pt x="127222" y="136962"/>
                </a:lnTo>
                <a:lnTo>
                  <a:pt x="93144" y="98564"/>
                </a:lnTo>
                <a:lnTo>
                  <a:pt x="58188" y="60490"/>
                </a:lnTo>
                <a:lnTo>
                  <a:pt x="22342" y="22745"/>
                </a:lnTo>
                <a:lnTo>
                  <a:pt x="0" y="0"/>
                </a:lnTo>
                <a:lnTo>
                  <a:pt x="0" y="3290721"/>
                </a:lnTo>
                <a:lnTo>
                  <a:pt x="888692" y="3290721"/>
                </a:lnTo>
                <a:lnTo>
                  <a:pt x="902165" y="3129041"/>
                </a:lnTo>
                <a:lnTo>
                  <a:pt x="911356" y="2990055"/>
                </a:lnTo>
                <a:lnTo>
                  <a:pt x="918162" y="2850426"/>
                </a:lnTo>
                <a:lnTo>
                  <a:pt x="922329" y="2710316"/>
                </a:lnTo>
                <a:lnTo>
                  <a:pt x="923515" y="2616724"/>
                </a:lnTo>
                <a:close/>
              </a:path>
            </a:pathLst>
          </a:custGeom>
          <a:solidFill>
            <a:srgbClr val="D9C6AB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3342604" y="0"/>
            <a:ext cx="4946015" cy="3984625"/>
          </a:xfrm>
          <a:custGeom>
            <a:avLst/>
            <a:gdLst/>
            <a:ahLst/>
            <a:cxnLst/>
            <a:rect l="l" t="t" r="r" b="b"/>
            <a:pathLst>
              <a:path w="4946015" h="3984625">
                <a:moveTo>
                  <a:pt x="4945395" y="3755249"/>
                </a:moveTo>
                <a:lnTo>
                  <a:pt x="4905985" y="3777439"/>
                </a:lnTo>
                <a:lnTo>
                  <a:pt x="4863371" y="3799970"/>
                </a:lnTo>
                <a:lnTo>
                  <a:pt x="4820187" y="3821336"/>
                </a:lnTo>
                <a:lnTo>
                  <a:pt x="4776445" y="3841510"/>
                </a:lnTo>
                <a:lnTo>
                  <a:pt x="4732151" y="3860466"/>
                </a:lnTo>
                <a:lnTo>
                  <a:pt x="4687314" y="3878178"/>
                </a:lnTo>
                <a:lnTo>
                  <a:pt x="4641944" y="3894619"/>
                </a:lnTo>
                <a:lnTo>
                  <a:pt x="4596048" y="3909762"/>
                </a:lnTo>
                <a:lnTo>
                  <a:pt x="4549636" y="3923581"/>
                </a:lnTo>
                <a:lnTo>
                  <a:pt x="4502717" y="3936050"/>
                </a:lnTo>
                <a:lnTo>
                  <a:pt x="4455298" y="3947142"/>
                </a:lnTo>
                <a:lnTo>
                  <a:pt x="4407388" y="3956831"/>
                </a:lnTo>
                <a:lnTo>
                  <a:pt x="4358997" y="3965090"/>
                </a:lnTo>
                <a:lnTo>
                  <a:pt x="4310132" y="3971893"/>
                </a:lnTo>
                <a:lnTo>
                  <a:pt x="4260803" y="3977212"/>
                </a:lnTo>
                <a:lnTo>
                  <a:pt x="4211017" y="3981023"/>
                </a:lnTo>
                <a:lnTo>
                  <a:pt x="4160785" y="3983298"/>
                </a:lnTo>
                <a:lnTo>
                  <a:pt x="4110114" y="3984011"/>
                </a:lnTo>
                <a:lnTo>
                  <a:pt x="4059012" y="3983135"/>
                </a:lnTo>
                <a:lnTo>
                  <a:pt x="4008032" y="3980710"/>
                </a:lnTo>
                <a:lnTo>
                  <a:pt x="3957394" y="3976959"/>
                </a:lnTo>
                <a:lnTo>
                  <a:pt x="3907103" y="3971907"/>
                </a:lnTo>
                <a:lnTo>
                  <a:pt x="3857161" y="3965581"/>
                </a:lnTo>
                <a:lnTo>
                  <a:pt x="3807572" y="3958006"/>
                </a:lnTo>
                <a:lnTo>
                  <a:pt x="3758340" y="3949208"/>
                </a:lnTo>
                <a:lnTo>
                  <a:pt x="3709467" y="3939212"/>
                </a:lnTo>
                <a:lnTo>
                  <a:pt x="3660956" y="3928045"/>
                </a:lnTo>
                <a:lnTo>
                  <a:pt x="3612812" y="3915731"/>
                </a:lnTo>
                <a:lnTo>
                  <a:pt x="3565036" y="3902297"/>
                </a:lnTo>
                <a:lnTo>
                  <a:pt x="3517634" y="3887768"/>
                </a:lnTo>
                <a:lnTo>
                  <a:pt x="3470607" y="3872170"/>
                </a:lnTo>
                <a:lnTo>
                  <a:pt x="3423959" y="3855528"/>
                </a:lnTo>
                <a:lnTo>
                  <a:pt x="3377693" y="3837869"/>
                </a:lnTo>
                <a:lnTo>
                  <a:pt x="3331813" y="3819217"/>
                </a:lnTo>
                <a:lnTo>
                  <a:pt x="3286322" y="3799599"/>
                </a:lnTo>
                <a:lnTo>
                  <a:pt x="3241222" y="3779041"/>
                </a:lnTo>
                <a:lnTo>
                  <a:pt x="3196519" y="3757567"/>
                </a:lnTo>
                <a:lnTo>
                  <a:pt x="3152213" y="3735204"/>
                </a:lnTo>
                <a:lnTo>
                  <a:pt x="3108310" y="3711977"/>
                </a:lnTo>
                <a:lnTo>
                  <a:pt x="3064812" y="3687912"/>
                </a:lnTo>
                <a:lnTo>
                  <a:pt x="3021722" y="3663035"/>
                </a:lnTo>
                <a:lnTo>
                  <a:pt x="2979044" y="3637372"/>
                </a:lnTo>
                <a:lnTo>
                  <a:pt x="2936781" y="3610947"/>
                </a:lnTo>
                <a:lnTo>
                  <a:pt x="2894936" y="3583787"/>
                </a:lnTo>
                <a:lnTo>
                  <a:pt x="2853513" y="3555918"/>
                </a:lnTo>
                <a:lnTo>
                  <a:pt x="2812515" y="3527365"/>
                </a:lnTo>
                <a:lnTo>
                  <a:pt x="2771944" y="3498153"/>
                </a:lnTo>
                <a:lnTo>
                  <a:pt x="2731805" y="3468309"/>
                </a:lnTo>
                <a:lnTo>
                  <a:pt x="2692100" y="3437859"/>
                </a:lnTo>
                <a:lnTo>
                  <a:pt x="2652833" y="3406827"/>
                </a:lnTo>
                <a:lnTo>
                  <a:pt x="2614007" y="3375239"/>
                </a:lnTo>
                <a:lnTo>
                  <a:pt x="2575626" y="3343122"/>
                </a:lnTo>
                <a:lnTo>
                  <a:pt x="2537692" y="3310501"/>
                </a:lnTo>
                <a:lnTo>
                  <a:pt x="2500209" y="3277401"/>
                </a:lnTo>
                <a:lnTo>
                  <a:pt x="2463181" y="3243848"/>
                </a:lnTo>
                <a:lnTo>
                  <a:pt x="2426609" y="3209869"/>
                </a:lnTo>
                <a:lnTo>
                  <a:pt x="2390499" y="3175488"/>
                </a:lnTo>
                <a:lnTo>
                  <a:pt x="2354852" y="3140731"/>
                </a:lnTo>
                <a:lnTo>
                  <a:pt x="2319673" y="3105625"/>
                </a:lnTo>
                <a:lnTo>
                  <a:pt x="2284964" y="3070194"/>
                </a:lnTo>
                <a:lnTo>
                  <a:pt x="2249611" y="3033405"/>
                </a:lnTo>
                <a:lnTo>
                  <a:pt x="2214616" y="2996326"/>
                </a:lnTo>
                <a:lnTo>
                  <a:pt x="2179962" y="2958969"/>
                </a:lnTo>
                <a:lnTo>
                  <a:pt x="2145632" y="2921348"/>
                </a:lnTo>
                <a:lnTo>
                  <a:pt x="2111608" y="2883478"/>
                </a:lnTo>
                <a:lnTo>
                  <a:pt x="2077875" y="2845372"/>
                </a:lnTo>
                <a:lnTo>
                  <a:pt x="2044416" y="2807045"/>
                </a:lnTo>
                <a:lnTo>
                  <a:pt x="2011213" y="2768510"/>
                </a:lnTo>
                <a:lnTo>
                  <a:pt x="1978250" y="2729780"/>
                </a:lnTo>
                <a:lnTo>
                  <a:pt x="1945510" y="2690871"/>
                </a:lnTo>
                <a:lnTo>
                  <a:pt x="1912977" y="2651795"/>
                </a:lnTo>
                <a:lnTo>
                  <a:pt x="1880633" y="2612567"/>
                </a:lnTo>
                <a:lnTo>
                  <a:pt x="1848463" y="2573200"/>
                </a:lnTo>
                <a:lnTo>
                  <a:pt x="1816448" y="2533709"/>
                </a:lnTo>
                <a:lnTo>
                  <a:pt x="1784572" y="2494108"/>
                </a:lnTo>
                <a:lnTo>
                  <a:pt x="1752820" y="2454409"/>
                </a:lnTo>
                <a:lnTo>
                  <a:pt x="1721173" y="2414628"/>
                </a:lnTo>
                <a:lnTo>
                  <a:pt x="1689614" y="2374778"/>
                </a:lnTo>
                <a:lnTo>
                  <a:pt x="1438340" y="2055159"/>
                </a:lnTo>
                <a:lnTo>
                  <a:pt x="1375237" y="1975537"/>
                </a:lnTo>
                <a:lnTo>
                  <a:pt x="1343551" y="1935845"/>
                </a:lnTo>
                <a:lnTo>
                  <a:pt x="1311752" y="1896251"/>
                </a:lnTo>
                <a:lnTo>
                  <a:pt x="1279824" y="1856768"/>
                </a:lnTo>
                <a:lnTo>
                  <a:pt x="1247751" y="1817410"/>
                </a:lnTo>
                <a:lnTo>
                  <a:pt x="1215514" y="1778192"/>
                </a:lnTo>
                <a:lnTo>
                  <a:pt x="1183098" y="1739128"/>
                </a:lnTo>
                <a:lnTo>
                  <a:pt x="1150487" y="1700230"/>
                </a:lnTo>
                <a:lnTo>
                  <a:pt x="1117662" y="1661514"/>
                </a:lnTo>
                <a:lnTo>
                  <a:pt x="1084607" y="1622992"/>
                </a:lnTo>
                <a:lnTo>
                  <a:pt x="1051306" y="1584680"/>
                </a:lnTo>
                <a:lnTo>
                  <a:pt x="1017741" y="1546590"/>
                </a:lnTo>
                <a:lnTo>
                  <a:pt x="983897" y="1508737"/>
                </a:lnTo>
                <a:lnTo>
                  <a:pt x="949756" y="1471134"/>
                </a:lnTo>
                <a:lnTo>
                  <a:pt x="915301" y="1433796"/>
                </a:lnTo>
                <a:lnTo>
                  <a:pt x="880515" y="1396736"/>
                </a:lnTo>
                <a:lnTo>
                  <a:pt x="845383" y="1359968"/>
                </a:lnTo>
                <a:lnTo>
                  <a:pt x="809886" y="1323506"/>
                </a:lnTo>
                <a:lnTo>
                  <a:pt x="703860" y="1215457"/>
                </a:lnTo>
                <a:lnTo>
                  <a:pt x="668664" y="1179302"/>
                </a:lnTo>
                <a:lnTo>
                  <a:pt x="633658" y="1142992"/>
                </a:lnTo>
                <a:lnTo>
                  <a:pt x="598911" y="1106477"/>
                </a:lnTo>
                <a:lnTo>
                  <a:pt x="564493" y="1069705"/>
                </a:lnTo>
                <a:lnTo>
                  <a:pt x="530473" y="1032625"/>
                </a:lnTo>
                <a:lnTo>
                  <a:pt x="496922" y="995186"/>
                </a:lnTo>
                <a:lnTo>
                  <a:pt x="463909" y="957337"/>
                </a:lnTo>
                <a:lnTo>
                  <a:pt x="431504" y="919025"/>
                </a:lnTo>
                <a:lnTo>
                  <a:pt x="399776" y="880201"/>
                </a:lnTo>
                <a:lnTo>
                  <a:pt x="368796" y="840813"/>
                </a:lnTo>
                <a:lnTo>
                  <a:pt x="338633" y="800809"/>
                </a:lnTo>
                <a:lnTo>
                  <a:pt x="309357" y="760140"/>
                </a:lnTo>
                <a:lnTo>
                  <a:pt x="281038" y="718752"/>
                </a:lnTo>
                <a:lnTo>
                  <a:pt x="253745" y="676596"/>
                </a:lnTo>
                <a:lnTo>
                  <a:pt x="227548" y="633619"/>
                </a:lnTo>
                <a:lnTo>
                  <a:pt x="202517" y="589772"/>
                </a:lnTo>
                <a:lnTo>
                  <a:pt x="178722" y="545002"/>
                </a:lnTo>
                <a:lnTo>
                  <a:pt x="156469" y="500369"/>
                </a:lnTo>
                <a:lnTo>
                  <a:pt x="135481" y="455062"/>
                </a:lnTo>
                <a:lnTo>
                  <a:pt x="115759" y="409125"/>
                </a:lnTo>
                <a:lnTo>
                  <a:pt x="97307" y="362602"/>
                </a:lnTo>
                <a:lnTo>
                  <a:pt x="80129" y="315538"/>
                </a:lnTo>
                <a:lnTo>
                  <a:pt x="64228" y="267978"/>
                </a:lnTo>
                <a:lnTo>
                  <a:pt x="49608" y="219967"/>
                </a:lnTo>
                <a:lnTo>
                  <a:pt x="36272" y="171548"/>
                </a:lnTo>
                <a:lnTo>
                  <a:pt x="24222" y="122767"/>
                </a:lnTo>
                <a:lnTo>
                  <a:pt x="13464" y="73668"/>
                </a:lnTo>
                <a:lnTo>
                  <a:pt x="4000" y="24297"/>
                </a:lnTo>
                <a:lnTo>
                  <a:pt x="0" y="0"/>
                </a:lnTo>
                <a:lnTo>
                  <a:pt x="4945395" y="0"/>
                </a:lnTo>
                <a:lnTo>
                  <a:pt x="4945395" y="3755249"/>
                </a:lnTo>
                <a:close/>
              </a:path>
            </a:pathLst>
          </a:custGeom>
          <a:solidFill>
            <a:srgbClr val="BFA172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17296" y="5726977"/>
            <a:ext cx="2838449" cy="28003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4183" y="2381367"/>
            <a:ext cx="180975" cy="1809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0358" y="5650268"/>
            <a:ext cx="180974" cy="180974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2167657" y="6317018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3349" y="133349"/>
                </a:moveTo>
                <a:lnTo>
                  <a:pt x="0" y="133349"/>
                </a:lnTo>
                <a:lnTo>
                  <a:pt x="0" y="0"/>
                </a:lnTo>
                <a:lnTo>
                  <a:pt x="133349" y="0"/>
                </a:lnTo>
                <a:lnTo>
                  <a:pt x="133349" y="133349"/>
                </a:lnTo>
                <a:close/>
              </a:path>
            </a:pathLst>
          </a:custGeom>
          <a:solidFill>
            <a:srgbClr val="5C482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167657" y="6878993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3349" y="133349"/>
                </a:moveTo>
                <a:lnTo>
                  <a:pt x="0" y="133349"/>
                </a:lnTo>
                <a:lnTo>
                  <a:pt x="0" y="0"/>
                </a:lnTo>
                <a:lnTo>
                  <a:pt x="133349" y="0"/>
                </a:lnTo>
                <a:lnTo>
                  <a:pt x="133349" y="133349"/>
                </a:lnTo>
                <a:close/>
              </a:path>
            </a:pathLst>
          </a:custGeom>
          <a:solidFill>
            <a:srgbClr val="5C482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167657" y="7440968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3349" y="133349"/>
                </a:moveTo>
                <a:lnTo>
                  <a:pt x="0" y="133349"/>
                </a:lnTo>
                <a:lnTo>
                  <a:pt x="0" y="0"/>
                </a:lnTo>
                <a:lnTo>
                  <a:pt x="133349" y="0"/>
                </a:lnTo>
                <a:lnTo>
                  <a:pt x="133349" y="133349"/>
                </a:lnTo>
                <a:close/>
              </a:path>
            </a:pathLst>
          </a:custGeom>
          <a:solidFill>
            <a:srgbClr val="5C482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167657" y="8002943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3349" y="133349"/>
                </a:moveTo>
                <a:lnTo>
                  <a:pt x="0" y="133349"/>
                </a:lnTo>
                <a:lnTo>
                  <a:pt x="0" y="0"/>
                </a:lnTo>
                <a:lnTo>
                  <a:pt x="133349" y="0"/>
                </a:lnTo>
                <a:lnTo>
                  <a:pt x="133349" y="133349"/>
                </a:lnTo>
                <a:close/>
              </a:path>
            </a:pathLst>
          </a:custGeom>
          <a:solidFill>
            <a:srgbClr val="5C482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167657" y="8564918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3349" y="133349"/>
                </a:moveTo>
                <a:lnTo>
                  <a:pt x="0" y="133349"/>
                </a:lnTo>
                <a:lnTo>
                  <a:pt x="0" y="0"/>
                </a:lnTo>
                <a:lnTo>
                  <a:pt x="133349" y="0"/>
                </a:lnTo>
                <a:lnTo>
                  <a:pt x="133349" y="133349"/>
                </a:lnTo>
                <a:close/>
              </a:path>
            </a:pathLst>
          </a:custGeom>
          <a:solidFill>
            <a:srgbClr val="5C482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318544" y="1987565"/>
            <a:ext cx="16127730" cy="6871970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142240">
              <a:lnSpc>
                <a:spcPct val="100000"/>
              </a:lnSpc>
              <a:spcBef>
                <a:spcPts val="475"/>
              </a:spcBef>
            </a:pPr>
            <a:r>
              <a:rPr dirty="0" sz="4800">
                <a:solidFill>
                  <a:srgbClr val="5C4828"/>
                </a:solidFill>
                <a:latin typeface="Times New Roman"/>
                <a:cs typeface="Times New Roman"/>
              </a:rPr>
              <a:t>What is </a:t>
            </a:r>
            <a:r>
              <a:rPr dirty="0" sz="4800" spc="-10">
                <a:solidFill>
                  <a:srgbClr val="5C4828"/>
                </a:solidFill>
                <a:latin typeface="Times New Roman"/>
                <a:cs typeface="Times New Roman"/>
              </a:rPr>
              <a:t>Spotify?</a:t>
            </a:r>
            <a:endParaRPr sz="4800">
              <a:latin typeface="Times New Roman"/>
              <a:cs typeface="Times New Roman"/>
            </a:endParaRPr>
          </a:p>
          <a:p>
            <a:pPr algn="just" marL="786130" marR="5080">
              <a:lnSpc>
                <a:spcPts val="4050"/>
              </a:lnSpc>
              <a:spcBef>
                <a:spcPts val="425"/>
              </a:spcBef>
            </a:pPr>
            <a:r>
              <a:rPr dirty="0" sz="3400">
                <a:solidFill>
                  <a:srgbClr val="5C4828"/>
                </a:solidFill>
                <a:latin typeface="Times New Roman"/>
                <a:cs typeface="Times New Roman"/>
              </a:rPr>
              <a:t>Spotify</a:t>
            </a:r>
            <a:r>
              <a:rPr dirty="0" sz="3400" spc="830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5C4828"/>
                </a:solidFill>
                <a:latin typeface="Times New Roman"/>
                <a:cs typeface="Times New Roman"/>
              </a:rPr>
              <a:t>is</a:t>
            </a:r>
            <a:r>
              <a:rPr dirty="0" sz="3400" spc="83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5C4828"/>
                </a:solidFill>
                <a:latin typeface="Times New Roman"/>
                <a:cs typeface="Times New Roman"/>
              </a:rPr>
              <a:t>one</a:t>
            </a:r>
            <a:r>
              <a:rPr dirty="0" sz="3400" spc="83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5C4828"/>
                </a:solidFill>
                <a:latin typeface="Times New Roman"/>
                <a:cs typeface="Times New Roman"/>
              </a:rPr>
              <a:t>of</a:t>
            </a:r>
            <a:r>
              <a:rPr dirty="0" sz="3400" spc="830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5C4828"/>
                </a:solidFill>
                <a:latin typeface="Times New Roman"/>
                <a:cs typeface="Times New Roman"/>
              </a:rPr>
              <a:t>the</a:t>
            </a:r>
            <a:r>
              <a:rPr dirty="0" sz="3400" spc="83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5C4828"/>
                </a:solidFill>
                <a:latin typeface="Times New Roman"/>
                <a:cs typeface="Times New Roman"/>
              </a:rPr>
              <a:t>world's</a:t>
            </a:r>
            <a:r>
              <a:rPr dirty="0" sz="3400" spc="83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5C4828"/>
                </a:solidFill>
                <a:latin typeface="Times New Roman"/>
                <a:cs typeface="Times New Roman"/>
              </a:rPr>
              <a:t>leading</a:t>
            </a:r>
            <a:r>
              <a:rPr dirty="0" sz="3400" spc="83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5C4828"/>
                </a:solidFill>
                <a:latin typeface="Times New Roman"/>
                <a:cs typeface="Times New Roman"/>
              </a:rPr>
              <a:t>digital</a:t>
            </a:r>
            <a:r>
              <a:rPr dirty="0" sz="3400" spc="830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5C4828"/>
                </a:solidFill>
                <a:latin typeface="Times New Roman"/>
                <a:cs typeface="Times New Roman"/>
              </a:rPr>
              <a:t>music</a:t>
            </a:r>
            <a:r>
              <a:rPr dirty="0" sz="3400" spc="83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5C4828"/>
                </a:solidFill>
                <a:latin typeface="Times New Roman"/>
                <a:cs typeface="Times New Roman"/>
              </a:rPr>
              <a:t>streaming</a:t>
            </a:r>
            <a:r>
              <a:rPr dirty="0" sz="3400" spc="83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5C4828"/>
                </a:solidFill>
                <a:latin typeface="Times New Roman"/>
                <a:cs typeface="Times New Roman"/>
              </a:rPr>
              <a:t>platforms,</a:t>
            </a:r>
            <a:r>
              <a:rPr dirty="0" sz="3400" spc="83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400" spc="-10">
                <a:solidFill>
                  <a:srgbClr val="5C4828"/>
                </a:solidFill>
                <a:latin typeface="Times New Roman"/>
                <a:cs typeface="Times New Roman"/>
              </a:rPr>
              <a:t>providing </a:t>
            </a:r>
            <a:r>
              <a:rPr dirty="0" sz="3400">
                <a:solidFill>
                  <a:srgbClr val="5C4828"/>
                </a:solidFill>
                <a:latin typeface="Times New Roman"/>
                <a:cs typeface="Times New Roman"/>
              </a:rPr>
              <a:t>access</a:t>
            </a:r>
            <a:r>
              <a:rPr dirty="0" sz="3400" spc="-60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5C4828"/>
                </a:solidFill>
                <a:latin typeface="Times New Roman"/>
                <a:cs typeface="Times New Roman"/>
              </a:rPr>
              <a:t>to</a:t>
            </a:r>
            <a:r>
              <a:rPr dirty="0" sz="3400" spc="-5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5C4828"/>
                </a:solidFill>
                <a:latin typeface="Times New Roman"/>
                <a:cs typeface="Times New Roman"/>
              </a:rPr>
              <a:t>millions</a:t>
            </a:r>
            <a:r>
              <a:rPr dirty="0" sz="3400" spc="-5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5C4828"/>
                </a:solidFill>
                <a:latin typeface="Times New Roman"/>
                <a:cs typeface="Times New Roman"/>
              </a:rPr>
              <a:t>of</a:t>
            </a:r>
            <a:r>
              <a:rPr dirty="0" sz="3400" spc="-5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5C4828"/>
                </a:solidFill>
                <a:latin typeface="Times New Roman"/>
                <a:cs typeface="Times New Roman"/>
              </a:rPr>
              <a:t>songs,</a:t>
            </a:r>
            <a:r>
              <a:rPr dirty="0" sz="3400" spc="-60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5C4828"/>
                </a:solidFill>
                <a:latin typeface="Times New Roman"/>
                <a:cs typeface="Times New Roman"/>
              </a:rPr>
              <a:t>podcasts,</a:t>
            </a:r>
            <a:r>
              <a:rPr dirty="0" sz="3400" spc="-5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5C4828"/>
                </a:solidFill>
                <a:latin typeface="Times New Roman"/>
                <a:cs typeface="Times New Roman"/>
              </a:rPr>
              <a:t>and</a:t>
            </a:r>
            <a:r>
              <a:rPr dirty="0" sz="3400" spc="-5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5C4828"/>
                </a:solidFill>
                <a:latin typeface="Times New Roman"/>
                <a:cs typeface="Times New Roman"/>
              </a:rPr>
              <a:t>audio</a:t>
            </a:r>
            <a:r>
              <a:rPr dirty="0" sz="3400" spc="-5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5C4828"/>
                </a:solidFill>
                <a:latin typeface="Times New Roman"/>
                <a:cs typeface="Times New Roman"/>
              </a:rPr>
              <a:t>tracks.</a:t>
            </a:r>
            <a:r>
              <a:rPr dirty="0" sz="3400" spc="-5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5C4828"/>
                </a:solidFill>
                <a:latin typeface="Times New Roman"/>
                <a:cs typeface="Times New Roman"/>
              </a:rPr>
              <a:t>It</a:t>
            </a:r>
            <a:r>
              <a:rPr dirty="0" sz="3400" spc="-60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5C4828"/>
                </a:solidFill>
                <a:latin typeface="Times New Roman"/>
                <a:cs typeface="Times New Roman"/>
              </a:rPr>
              <a:t>collects</a:t>
            </a:r>
            <a:r>
              <a:rPr dirty="0" sz="3400" spc="-5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5C4828"/>
                </a:solidFill>
                <a:latin typeface="Times New Roman"/>
                <a:cs typeface="Times New Roman"/>
              </a:rPr>
              <a:t>detailed</a:t>
            </a:r>
            <a:r>
              <a:rPr dirty="0" sz="3400" spc="-5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5C4828"/>
                </a:solidFill>
                <a:latin typeface="Times New Roman"/>
                <a:cs typeface="Times New Roman"/>
              </a:rPr>
              <a:t>audio</a:t>
            </a:r>
            <a:r>
              <a:rPr dirty="0" sz="3400" spc="-5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400" spc="-10">
                <a:solidFill>
                  <a:srgbClr val="5C4828"/>
                </a:solidFill>
                <a:latin typeface="Times New Roman"/>
                <a:cs typeface="Times New Roman"/>
              </a:rPr>
              <a:t>features </a:t>
            </a:r>
            <a:r>
              <a:rPr dirty="0" sz="3400">
                <a:solidFill>
                  <a:srgbClr val="5C4828"/>
                </a:solidFill>
                <a:latin typeface="Times New Roman"/>
                <a:cs typeface="Times New Roman"/>
              </a:rPr>
              <a:t>and</a:t>
            </a:r>
            <a:r>
              <a:rPr dirty="0" sz="3400" spc="-100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5C4828"/>
                </a:solidFill>
                <a:latin typeface="Times New Roman"/>
                <a:cs typeface="Times New Roman"/>
              </a:rPr>
              <a:t>user</a:t>
            </a:r>
            <a:r>
              <a:rPr dirty="0" sz="3400" spc="-9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5C4828"/>
                </a:solidFill>
                <a:latin typeface="Times New Roman"/>
                <a:cs typeface="Times New Roman"/>
              </a:rPr>
              <a:t>engagement</a:t>
            </a:r>
            <a:r>
              <a:rPr dirty="0" sz="3400" spc="-100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5C4828"/>
                </a:solidFill>
                <a:latin typeface="Times New Roman"/>
                <a:cs typeface="Times New Roman"/>
              </a:rPr>
              <a:t>metrics</a:t>
            </a:r>
            <a:r>
              <a:rPr dirty="0" sz="3400" spc="-9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5C4828"/>
                </a:solidFill>
                <a:latin typeface="Times New Roman"/>
                <a:cs typeface="Times New Roman"/>
              </a:rPr>
              <a:t>that</a:t>
            </a:r>
            <a:r>
              <a:rPr dirty="0" sz="3400" spc="-100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5C4828"/>
                </a:solidFill>
                <a:latin typeface="Times New Roman"/>
                <a:cs typeface="Times New Roman"/>
              </a:rPr>
              <a:t>help</a:t>
            </a:r>
            <a:r>
              <a:rPr dirty="0" sz="3400" spc="-9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5C4828"/>
                </a:solidFill>
                <a:latin typeface="Times New Roman"/>
                <a:cs typeface="Times New Roman"/>
              </a:rPr>
              <a:t>understand</a:t>
            </a:r>
            <a:r>
              <a:rPr dirty="0" sz="3400" spc="-9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5C4828"/>
                </a:solidFill>
                <a:latin typeface="Times New Roman"/>
                <a:cs typeface="Times New Roman"/>
              </a:rPr>
              <a:t>music</a:t>
            </a:r>
            <a:r>
              <a:rPr dirty="0" sz="3400" spc="-100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5C4828"/>
                </a:solidFill>
                <a:latin typeface="Times New Roman"/>
                <a:cs typeface="Times New Roman"/>
              </a:rPr>
              <a:t>listening</a:t>
            </a:r>
            <a:r>
              <a:rPr dirty="0" sz="3400" spc="-9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400" spc="-10">
                <a:solidFill>
                  <a:srgbClr val="5C4828"/>
                </a:solidFill>
                <a:latin typeface="Times New Roman"/>
                <a:cs typeface="Times New Roman"/>
              </a:rPr>
              <a:t>patterns.</a:t>
            </a:r>
            <a:endParaRPr sz="3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4200" spc="-350">
                <a:solidFill>
                  <a:srgbClr val="5C4828"/>
                </a:solidFill>
                <a:latin typeface="Verdana"/>
                <a:cs typeface="Verdana"/>
              </a:rPr>
              <a:t>Why</a:t>
            </a:r>
            <a:r>
              <a:rPr dirty="0" sz="4200" spc="-665">
                <a:solidFill>
                  <a:srgbClr val="5C4828"/>
                </a:solidFill>
                <a:latin typeface="Verdana"/>
                <a:cs typeface="Verdana"/>
              </a:rPr>
              <a:t> </a:t>
            </a:r>
            <a:r>
              <a:rPr dirty="0" sz="4200" spc="-245">
                <a:solidFill>
                  <a:srgbClr val="5C4828"/>
                </a:solidFill>
                <a:latin typeface="Verdana"/>
                <a:cs typeface="Verdana"/>
              </a:rPr>
              <a:t>is</a:t>
            </a:r>
            <a:r>
              <a:rPr dirty="0" sz="4200" spc="-530">
                <a:solidFill>
                  <a:srgbClr val="5C4828"/>
                </a:solidFill>
                <a:latin typeface="Verdana"/>
                <a:cs typeface="Verdana"/>
              </a:rPr>
              <a:t> </a:t>
            </a:r>
            <a:r>
              <a:rPr dirty="0" sz="4200" spc="-150">
                <a:solidFill>
                  <a:srgbClr val="5C4828"/>
                </a:solidFill>
                <a:latin typeface="Verdana"/>
                <a:cs typeface="Verdana"/>
              </a:rPr>
              <a:t>Music</a:t>
            </a:r>
            <a:r>
              <a:rPr dirty="0" sz="4200" spc="-535">
                <a:solidFill>
                  <a:srgbClr val="5C4828"/>
                </a:solidFill>
                <a:latin typeface="Verdana"/>
                <a:cs typeface="Verdana"/>
              </a:rPr>
              <a:t> </a:t>
            </a:r>
            <a:r>
              <a:rPr dirty="0" sz="4200" spc="-320">
                <a:solidFill>
                  <a:srgbClr val="5C4828"/>
                </a:solidFill>
                <a:latin typeface="Verdana"/>
                <a:cs typeface="Verdana"/>
              </a:rPr>
              <a:t>Data</a:t>
            </a:r>
            <a:r>
              <a:rPr dirty="0" sz="4200" spc="-660">
                <a:solidFill>
                  <a:srgbClr val="5C4828"/>
                </a:solidFill>
                <a:latin typeface="Verdana"/>
                <a:cs typeface="Verdana"/>
              </a:rPr>
              <a:t> </a:t>
            </a:r>
            <a:r>
              <a:rPr dirty="0" sz="4200" spc="-285">
                <a:solidFill>
                  <a:srgbClr val="5C4828"/>
                </a:solidFill>
                <a:latin typeface="Verdana"/>
                <a:cs typeface="Verdana"/>
              </a:rPr>
              <a:t>Analysis</a:t>
            </a:r>
            <a:r>
              <a:rPr dirty="0" sz="4200" spc="-530">
                <a:solidFill>
                  <a:srgbClr val="5C4828"/>
                </a:solidFill>
                <a:latin typeface="Verdana"/>
                <a:cs typeface="Verdana"/>
              </a:rPr>
              <a:t> </a:t>
            </a:r>
            <a:r>
              <a:rPr dirty="0" sz="4200" spc="-275">
                <a:solidFill>
                  <a:srgbClr val="5C4828"/>
                </a:solidFill>
                <a:latin typeface="Verdana"/>
                <a:cs typeface="Verdana"/>
              </a:rPr>
              <a:t>important?</a:t>
            </a:r>
            <a:endParaRPr sz="4200">
              <a:latin typeface="Verdana"/>
              <a:cs typeface="Verdana"/>
            </a:endParaRPr>
          </a:p>
          <a:p>
            <a:pPr marL="1178560" marR="7558405">
              <a:lnSpc>
                <a:spcPct val="115199"/>
              </a:lnSpc>
              <a:spcBef>
                <a:spcPts val="100"/>
              </a:spcBef>
            </a:pPr>
            <a:r>
              <a:rPr dirty="0" sz="3200" spc="-60">
                <a:solidFill>
                  <a:srgbClr val="5C4828"/>
                </a:solidFill>
                <a:latin typeface="Verdana"/>
                <a:cs typeface="Verdana"/>
              </a:rPr>
              <a:t>Helps</a:t>
            </a:r>
            <a:r>
              <a:rPr dirty="0" sz="3200" spc="-30">
                <a:solidFill>
                  <a:srgbClr val="5C4828"/>
                </a:solidFill>
                <a:latin typeface="Verdana"/>
                <a:cs typeface="Verdana"/>
              </a:rPr>
              <a:t> </a:t>
            </a:r>
            <a:r>
              <a:rPr dirty="0" sz="3200" spc="-210">
                <a:solidFill>
                  <a:srgbClr val="5C4828"/>
                </a:solidFill>
                <a:latin typeface="Verdana"/>
                <a:cs typeface="Verdana"/>
              </a:rPr>
              <a:t>understand</a:t>
            </a:r>
            <a:r>
              <a:rPr dirty="0" sz="3200" spc="-425">
                <a:solidFill>
                  <a:srgbClr val="5C4828"/>
                </a:solidFill>
                <a:latin typeface="Verdana"/>
                <a:cs typeface="Verdana"/>
              </a:rPr>
              <a:t> </a:t>
            </a:r>
            <a:r>
              <a:rPr dirty="0" sz="3200" spc="-195">
                <a:solidFill>
                  <a:srgbClr val="5C4828"/>
                </a:solidFill>
                <a:latin typeface="Verdana"/>
                <a:cs typeface="Verdana"/>
              </a:rPr>
              <a:t>listener</a:t>
            </a:r>
            <a:r>
              <a:rPr dirty="0" sz="3200" spc="-520">
                <a:solidFill>
                  <a:srgbClr val="5C4828"/>
                </a:solidFill>
                <a:latin typeface="Verdana"/>
                <a:cs typeface="Verdana"/>
              </a:rPr>
              <a:t> </a:t>
            </a:r>
            <a:r>
              <a:rPr dirty="0" sz="3200" spc="-85">
                <a:solidFill>
                  <a:srgbClr val="5C4828"/>
                </a:solidFill>
                <a:latin typeface="Verdana"/>
                <a:cs typeface="Verdana"/>
              </a:rPr>
              <a:t>preferences. </a:t>
            </a:r>
            <a:r>
              <a:rPr dirty="0" sz="3200" spc="-229">
                <a:solidFill>
                  <a:srgbClr val="5C4828"/>
                </a:solidFill>
                <a:latin typeface="Verdana"/>
                <a:cs typeface="Verdana"/>
              </a:rPr>
              <a:t>Identify</a:t>
            </a:r>
            <a:r>
              <a:rPr dirty="0" sz="3200" spc="-475">
                <a:solidFill>
                  <a:srgbClr val="5C4828"/>
                </a:solidFill>
                <a:latin typeface="Verdana"/>
                <a:cs typeface="Verdana"/>
              </a:rPr>
              <a:t> </a:t>
            </a:r>
            <a:r>
              <a:rPr dirty="0" sz="3200" spc="-155">
                <a:solidFill>
                  <a:srgbClr val="5C4828"/>
                </a:solidFill>
                <a:latin typeface="Verdana"/>
                <a:cs typeface="Verdana"/>
              </a:rPr>
              <a:t>factors</a:t>
            </a:r>
            <a:r>
              <a:rPr dirty="0" sz="3200" spc="-370">
                <a:solidFill>
                  <a:srgbClr val="5C4828"/>
                </a:solidFill>
                <a:latin typeface="Verdana"/>
                <a:cs typeface="Verdana"/>
              </a:rPr>
              <a:t> </a:t>
            </a:r>
            <a:r>
              <a:rPr dirty="0" sz="3200" spc="-145">
                <a:solidFill>
                  <a:srgbClr val="5C4828"/>
                </a:solidFill>
                <a:latin typeface="Verdana"/>
                <a:cs typeface="Verdana"/>
              </a:rPr>
              <a:t>affecting</a:t>
            </a:r>
            <a:r>
              <a:rPr dirty="0" sz="3200" spc="-370">
                <a:solidFill>
                  <a:srgbClr val="5C4828"/>
                </a:solidFill>
                <a:latin typeface="Verdana"/>
                <a:cs typeface="Verdana"/>
              </a:rPr>
              <a:t> </a:t>
            </a:r>
            <a:r>
              <a:rPr dirty="0" sz="3200" spc="-185">
                <a:solidFill>
                  <a:srgbClr val="5C4828"/>
                </a:solidFill>
                <a:latin typeface="Verdana"/>
                <a:cs typeface="Verdana"/>
              </a:rPr>
              <a:t>song</a:t>
            </a:r>
            <a:r>
              <a:rPr dirty="0" sz="3200" spc="-370">
                <a:solidFill>
                  <a:srgbClr val="5C4828"/>
                </a:solidFill>
                <a:latin typeface="Verdana"/>
                <a:cs typeface="Verdana"/>
              </a:rPr>
              <a:t> </a:t>
            </a:r>
            <a:r>
              <a:rPr dirty="0" sz="3200" spc="-200">
                <a:solidFill>
                  <a:srgbClr val="5C4828"/>
                </a:solidFill>
                <a:latin typeface="Verdana"/>
                <a:cs typeface="Verdana"/>
              </a:rPr>
              <a:t>popularity.</a:t>
            </a:r>
            <a:endParaRPr sz="3200">
              <a:latin typeface="Verdana"/>
              <a:cs typeface="Verdana"/>
            </a:endParaRPr>
          </a:p>
          <a:p>
            <a:pPr marL="1178560" marR="4746625">
              <a:lnSpc>
                <a:spcPct val="115199"/>
              </a:lnSpc>
            </a:pPr>
            <a:r>
              <a:rPr dirty="0" sz="3200" spc="-185">
                <a:solidFill>
                  <a:srgbClr val="5C4828"/>
                </a:solidFill>
                <a:latin typeface="Verdana"/>
                <a:cs typeface="Verdana"/>
              </a:rPr>
              <a:t>Assist</a:t>
            </a:r>
            <a:r>
              <a:rPr dirty="0" sz="3200" spc="-380">
                <a:solidFill>
                  <a:srgbClr val="5C4828"/>
                </a:solidFill>
                <a:latin typeface="Verdana"/>
                <a:cs typeface="Verdana"/>
              </a:rPr>
              <a:t> </a:t>
            </a:r>
            <a:r>
              <a:rPr dirty="0" sz="3200" spc="-200">
                <a:solidFill>
                  <a:srgbClr val="5C4828"/>
                </a:solidFill>
                <a:latin typeface="Verdana"/>
                <a:cs typeface="Verdana"/>
              </a:rPr>
              <a:t>artists</a:t>
            </a:r>
            <a:r>
              <a:rPr dirty="0" sz="3200" spc="-380">
                <a:solidFill>
                  <a:srgbClr val="5C4828"/>
                </a:solidFill>
                <a:latin typeface="Verdana"/>
                <a:cs typeface="Verdana"/>
              </a:rPr>
              <a:t> </a:t>
            </a:r>
            <a:r>
              <a:rPr dirty="0" sz="3200" spc="-229">
                <a:solidFill>
                  <a:srgbClr val="5C4828"/>
                </a:solidFill>
                <a:latin typeface="Verdana"/>
                <a:cs typeface="Verdana"/>
              </a:rPr>
              <a:t>and</a:t>
            </a:r>
            <a:r>
              <a:rPr dirty="0" sz="3200" spc="-375">
                <a:solidFill>
                  <a:srgbClr val="5C4828"/>
                </a:solidFill>
                <a:latin typeface="Verdana"/>
                <a:cs typeface="Verdana"/>
              </a:rPr>
              <a:t> </a:t>
            </a:r>
            <a:r>
              <a:rPr dirty="0" sz="3200" spc="-170">
                <a:solidFill>
                  <a:srgbClr val="5C4828"/>
                </a:solidFill>
                <a:latin typeface="Verdana"/>
                <a:cs typeface="Verdana"/>
              </a:rPr>
              <a:t>producers</a:t>
            </a:r>
            <a:r>
              <a:rPr dirty="0" sz="3200" spc="-380">
                <a:solidFill>
                  <a:srgbClr val="5C4828"/>
                </a:solidFill>
                <a:latin typeface="Verdana"/>
                <a:cs typeface="Verdana"/>
              </a:rPr>
              <a:t> </a:t>
            </a:r>
            <a:r>
              <a:rPr dirty="0" sz="3200" spc="-240">
                <a:solidFill>
                  <a:srgbClr val="5C4828"/>
                </a:solidFill>
                <a:latin typeface="Verdana"/>
                <a:cs typeface="Verdana"/>
              </a:rPr>
              <a:t>in</a:t>
            </a:r>
            <a:r>
              <a:rPr dirty="0" sz="3200" spc="-375">
                <a:solidFill>
                  <a:srgbClr val="5C4828"/>
                </a:solidFill>
                <a:latin typeface="Verdana"/>
                <a:cs typeface="Verdana"/>
              </a:rPr>
              <a:t> </a:t>
            </a:r>
            <a:r>
              <a:rPr dirty="0" sz="3200" spc="-185">
                <a:solidFill>
                  <a:srgbClr val="5C4828"/>
                </a:solidFill>
                <a:latin typeface="Verdana"/>
                <a:cs typeface="Verdana"/>
              </a:rPr>
              <a:t>creating</a:t>
            </a:r>
            <a:r>
              <a:rPr dirty="0" sz="3200" spc="-380">
                <a:solidFill>
                  <a:srgbClr val="5C4828"/>
                </a:solidFill>
                <a:latin typeface="Verdana"/>
                <a:cs typeface="Verdana"/>
              </a:rPr>
              <a:t> </a:t>
            </a:r>
            <a:r>
              <a:rPr dirty="0" sz="3200" spc="-140">
                <a:solidFill>
                  <a:srgbClr val="5C4828"/>
                </a:solidFill>
                <a:latin typeface="Verdana"/>
                <a:cs typeface="Verdana"/>
              </a:rPr>
              <a:t>successful</a:t>
            </a:r>
            <a:r>
              <a:rPr dirty="0" sz="3200" spc="-380">
                <a:solidFill>
                  <a:srgbClr val="5C4828"/>
                </a:solidFill>
                <a:latin typeface="Verdana"/>
                <a:cs typeface="Verdana"/>
              </a:rPr>
              <a:t> </a:t>
            </a:r>
            <a:r>
              <a:rPr dirty="0" sz="3200" spc="-140">
                <a:solidFill>
                  <a:srgbClr val="5C4828"/>
                </a:solidFill>
                <a:latin typeface="Verdana"/>
                <a:cs typeface="Verdana"/>
              </a:rPr>
              <a:t>music. </a:t>
            </a:r>
            <a:r>
              <a:rPr dirty="0" sz="3200" spc="-275">
                <a:solidFill>
                  <a:srgbClr val="5C4828"/>
                </a:solidFill>
                <a:latin typeface="Verdana"/>
                <a:cs typeface="Verdana"/>
              </a:rPr>
              <a:t>Improves</a:t>
            </a:r>
            <a:r>
              <a:rPr dirty="0" sz="3200" spc="-370">
                <a:solidFill>
                  <a:srgbClr val="5C4828"/>
                </a:solidFill>
                <a:latin typeface="Verdana"/>
                <a:cs typeface="Verdana"/>
              </a:rPr>
              <a:t> </a:t>
            </a:r>
            <a:r>
              <a:rPr dirty="0" sz="3200" spc="-210">
                <a:solidFill>
                  <a:srgbClr val="5C4828"/>
                </a:solidFill>
                <a:latin typeface="Verdana"/>
                <a:cs typeface="Verdana"/>
              </a:rPr>
              <a:t>Recommendation</a:t>
            </a:r>
            <a:r>
              <a:rPr dirty="0" sz="3200" spc="-365">
                <a:solidFill>
                  <a:srgbClr val="5C4828"/>
                </a:solidFill>
                <a:latin typeface="Verdana"/>
                <a:cs typeface="Verdana"/>
              </a:rPr>
              <a:t> </a:t>
            </a:r>
            <a:r>
              <a:rPr dirty="0" sz="3200" spc="-285">
                <a:solidFill>
                  <a:srgbClr val="5C4828"/>
                </a:solidFill>
                <a:latin typeface="Verdana"/>
                <a:cs typeface="Verdana"/>
              </a:rPr>
              <a:t>Systems.</a:t>
            </a:r>
            <a:endParaRPr sz="3200">
              <a:latin typeface="Verdana"/>
              <a:cs typeface="Verdana"/>
            </a:endParaRPr>
          </a:p>
          <a:p>
            <a:pPr marL="1178560">
              <a:lnSpc>
                <a:spcPct val="100000"/>
              </a:lnSpc>
              <a:spcBef>
                <a:spcPts val="585"/>
              </a:spcBef>
            </a:pPr>
            <a:r>
              <a:rPr dirty="0" sz="3200" spc="-185">
                <a:solidFill>
                  <a:srgbClr val="5C4828"/>
                </a:solidFill>
                <a:latin typeface="Verdana"/>
                <a:cs typeface="Verdana"/>
              </a:rPr>
              <a:t>Using</a:t>
            </a:r>
            <a:r>
              <a:rPr dirty="0" sz="3200" spc="-370">
                <a:solidFill>
                  <a:srgbClr val="5C4828"/>
                </a:solidFill>
                <a:latin typeface="Verdana"/>
                <a:cs typeface="Verdana"/>
              </a:rPr>
              <a:t> </a:t>
            </a:r>
            <a:r>
              <a:rPr dirty="0" sz="3200" spc="-215">
                <a:solidFill>
                  <a:srgbClr val="5C4828"/>
                </a:solidFill>
                <a:latin typeface="Verdana"/>
                <a:cs typeface="Verdana"/>
              </a:rPr>
              <a:t>data-</a:t>
            </a:r>
            <a:r>
              <a:rPr dirty="0" sz="3200" spc="-220">
                <a:solidFill>
                  <a:srgbClr val="5C4828"/>
                </a:solidFill>
                <a:latin typeface="Verdana"/>
                <a:cs typeface="Verdana"/>
              </a:rPr>
              <a:t>driven</a:t>
            </a:r>
            <a:r>
              <a:rPr dirty="0" sz="3200" spc="-370">
                <a:solidFill>
                  <a:srgbClr val="5C4828"/>
                </a:solidFill>
                <a:latin typeface="Verdana"/>
                <a:cs typeface="Verdana"/>
              </a:rPr>
              <a:t> </a:t>
            </a:r>
            <a:r>
              <a:rPr dirty="0" sz="3200" spc="-105">
                <a:solidFill>
                  <a:srgbClr val="5C4828"/>
                </a:solidFill>
                <a:latin typeface="Verdana"/>
                <a:cs typeface="Verdana"/>
              </a:rPr>
              <a:t>insights.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41630">
              <a:lnSpc>
                <a:spcPct val="100000"/>
              </a:lnSpc>
              <a:spcBef>
                <a:spcPts val="100"/>
              </a:spcBef>
            </a:pPr>
            <a:r>
              <a:rPr dirty="0" spc="-220">
                <a:latin typeface="Tahoma"/>
                <a:cs typeface="Tahoma"/>
              </a:rPr>
              <a:t>Introduction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667302"/>
            <a:ext cx="9107805" cy="4610100"/>
          </a:xfrm>
          <a:custGeom>
            <a:avLst/>
            <a:gdLst/>
            <a:ahLst/>
            <a:cxnLst/>
            <a:rect l="l" t="t" r="r" b="b"/>
            <a:pathLst>
              <a:path w="9107805" h="4610100">
                <a:moveTo>
                  <a:pt x="1909695" y="12700"/>
                </a:moveTo>
                <a:lnTo>
                  <a:pt x="1388585" y="12700"/>
                </a:lnTo>
                <a:lnTo>
                  <a:pt x="1439008" y="0"/>
                </a:lnTo>
                <a:lnTo>
                  <a:pt x="1865077" y="0"/>
                </a:lnTo>
                <a:lnTo>
                  <a:pt x="1909695" y="12700"/>
                </a:lnTo>
                <a:close/>
              </a:path>
              <a:path w="9107805" h="4610100">
                <a:moveTo>
                  <a:pt x="9107439" y="4610100"/>
                </a:moveTo>
                <a:lnTo>
                  <a:pt x="0" y="4610100"/>
                </a:lnTo>
                <a:lnTo>
                  <a:pt x="0" y="622300"/>
                </a:lnTo>
                <a:lnTo>
                  <a:pt x="14514" y="609600"/>
                </a:lnTo>
                <a:lnTo>
                  <a:pt x="110465" y="533400"/>
                </a:lnTo>
                <a:lnTo>
                  <a:pt x="142427" y="520700"/>
                </a:lnTo>
                <a:lnTo>
                  <a:pt x="206234" y="469900"/>
                </a:lnTo>
                <a:lnTo>
                  <a:pt x="238051" y="457200"/>
                </a:lnTo>
                <a:lnTo>
                  <a:pt x="301444" y="406400"/>
                </a:lnTo>
                <a:lnTo>
                  <a:pt x="332991" y="393700"/>
                </a:lnTo>
                <a:lnTo>
                  <a:pt x="364420" y="368300"/>
                </a:lnTo>
                <a:lnTo>
                  <a:pt x="395717" y="355600"/>
                </a:lnTo>
                <a:lnTo>
                  <a:pt x="426867" y="330200"/>
                </a:lnTo>
                <a:lnTo>
                  <a:pt x="519303" y="292100"/>
                </a:lnTo>
                <a:lnTo>
                  <a:pt x="549730" y="266700"/>
                </a:lnTo>
                <a:lnTo>
                  <a:pt x="669136" y="215900"/>
                </a:lnTo>
                <a:lnTo>
                  <a:pt x="784190" y="165100"/>
                </a:lnTo>
                <a:lnTo>
                  <a:pt x="843263" y="139700"/>
                </a:lnTo>
                <a:lnTo>
                  <a:pt x="901451" y="127000"/>
                </a:lnTo>
                <a:lnTo>
                  <a:pt x="958774" y="101600"/>
                </a:lnTo>
                <a:lnTo>
                  <a:pt x="1070905" y="76200"/>
                </a:lnTo>
                <a:lnTo>
                  <a:pt x="1337473" y="12700"/>
                </a:lnTo>
                <a:lnTo>
                  <a:pt x="1953841" y="12700"/>
                </a:lnTo>
                <a:lnTo>
                  <a:pt x="1997533" y="25400"/>
                </a:lnTo>
                <a:lnTo>
                  <a:pt x="2040791" y="25400"/>
                </a:lnTo>
                <a:lnTo>
                  <a:pt x="2083636" y="38100"/>
                </a:lnTo>
                <a:lnTo>
                  <a:pt x="2126087" y="38100"/>
                </a:lnTo>
                <a:lnTo>
                  <a:pt x="2292337" y="88900"/>
                </a:lnTo>
                <a:lnTo>
                  <a:pt x="2333109" y="88900"/>
                </a:lnTo>
                <a:lnTo>
                  <a:pt x="2493628" y="139700"/>
                </a:lnTo>
                <a:lnTo>
                  <a:pt x="2533213" y="165100"/>
                </a:lnTo>
                <a:lnTo>
                  <a:pt x="2767654" y="241300"/>
                </a:lnTo>
                <a:lnTo>
                  <a:pt x="2806399" y="266700"/>
                </a:lnTo>
                <a:lnTo>
                  <a:pt x="2922463" y="304800"/>
                </a:lnTo>
                <a:lnTo>
                  <a:pt x="2961159" y="330200"/>
                </a:lnTo>
                <a:lnTo>
                  <a:pt x="3155585" y="393700"/>
                </a:lnTo>
                <a:lnTo>
                  <a:pt x="3194796" y="419100"/>
                </a:lnTo>
                <a:lnTo>
                  <a:pt x="3556994" y="533400"/>
                </a:lnTo>
                <a:lnTo>
                  <a:pt x="3598631" y="533400"/>
                </a:lnTo>
                <a:lnTo>
                  <a:pt x="3725722" y="571500"/>
                </a:lnTo>
                <a:lnTo>
                  <a:pt x="3768878" y="571500"/>
                </a:lnTo>
                <a:lnTo>
                  <a:pt x="3812463" y="584200"/>
                </a:lnTo>
                <a:lnTo>
                  <a:pt x="3862928" y="584200"/>
                </a:lnTo>
                <a:lnTo>
                  <a:pt x="3880728" y="596900"/>
                </a:lnTo>
                <a:lnTo>
                  <a:pt x="3936988" y="596900"/>
                </a:lnTo>
                <a:lnTo>
                  <a:pt x="3956677" y="609600"/>
                </a:lnTo>
                <a:lnTo>
                  <a:pt x="3997425" y="609600"/>
                </a:lnTo>
                <a:lnTo>
                  <a:pt x="4018475" y="622300"/>
                </a:lnTo>
                <a:lnTo>
                  <a:pt x="4039967" y="622300"/>
                </a:lnTo>
                <a:lnTo>
                  <a:pt x="4061897" y="635000"/>
                </a:lnTo>
                <a:lnTo>
                  <a:pt x="4107047" y="635000"/>
                </a:lnTo>
                <a:lnTo>
                  <a:pt x="4130257" y="647700"/>
                </a:lnTo>
                <a:lnTo>
                  <a:pt x="4153884" y="647700"/>
                </a:lnTo>
                <a:lnTo>
                  <a:pt x="4202364" y="673100"/>
                </a:lnTo>
                <a:lnTo>
                  <a:pt x="4227207" y="673100"/>
                </a:lnTo>
                <a:lnTo>
                  <a:pt x="4252445" y="685800"/>
                </a:lnTo>
                <a:lnTo>
                  <a:pt x="4278072" y="685800"/>
                </a:lnTo>
                <a:lnTo>
                  <a:pt x="4304084" y="698500"/>
                </a:lnTo>
                <a:lnTo>
                  <a:pt x="4330475" y="698500"/>
                </a:lnTo>
                <a:lnTo>
                  <a:pt x="4411866" y="736600"/>
                </a:lnTo>
                <a:lnTo>
                  <a:pt x="4439719" y="736600"/>
                </a:lnTo>
                <a:lnTo>
                  <a:pt x="4525368" y="774700"/>
                </a:lnTo>
                <a:lnTo>
                  <a:pt x="4554598" y="774700"/>
                </a:lnTo>
                <a:lnTo>
                  <a:pt x="4674771" y="825500"/>
                </a:lnTo>
                <a:lnTo>
                  <a:pt x="4831912" y="889000"/>
                </a:lnTo>
                <a:lnTo>
                  <a:pt x="5029758" y="965200"/>
                </a:lnTo>
                <a:lnTo>
                  <a:pt x="5097770" y="990600"/>
                </a:lnTo>
                <a:lnTo>
                  <a:pt x="5132139" y="1016000"/>
                </a:lnTo>
                <a:lnTo>
                  <a:pt x="5236635" y="1054100"/>
                </a:lnTo>
                <a:lnTo>
                  <a:pt x="5271912" y="1079500"/>
                </a:lnTo>
                <a:lnTo>
                  <a:pt x="5343100" y="1104900"/>
                </a:lnTo>
                <a:lnTo>
                  <a:pt x="5379002" y="1130300"/>
                </a:lnTo>
                <a:lnTo>
                  <a:pt x="5451392" y="1155700"/>
                </a:lnTo>
                <a:lnTo>
                  <a:pt x="5487870" y="1181100"/>
                </a:lnTo>
                <a:lnTo>
                  <a:pt x="5524530" y="1193800"/>
                </a:lnTo>
                <a:lnTo>
                  <a:pt x="5561365" y="1219200"/>
                </a:lnTo>
                <a:lnTo>
                  <a:pt x="5598372" y="1231900"/>
                </a:lnTo>
                <a:lnTo>
                  <a:pt x="5635544" y="1257300"/>
                </a:lnTo>
                <a:lnTo>
                  <a:pt x="5672877" y="1270000"/>
                </a:lnTo>
                <a:lnTo>
                  <a:pt x="5710364" y="1295400"/>
                </a:lnTo>
                <a:lnTo>
                  <a:pt x="5748001" y="1308100"/>
                </a:lnTo>
                <a:lnTo>
                  <a:pt x="5823702" y="1358900"/>
                </a:lnTo>
                <a:lnTo>
                  <a:pt x="5861756" y="1371600"/>
                </a:lnTo>
                <a:lnTo>
                  <a:pt x="5976665" y="1447800"/>
                </a:lnTo>
                <a:lnTo>
                  <a:pt x="6015200" y="1460500"/>
                </a:lnTo>
                <a:lnTo>
                  <a:pt x="6287636" y="1638300"/>
                </a:lnTo>
                <a:lnTo>
                  <a:pt x="6326876" y="1651000"/>
                </a:lnTo>
                <a:lnTo>
                  <a:pt x="6366181" y="1676400"/>
                </a:lnTo>
                <a:lnTo>
                  <a:pt x="6405544" y="1714500"/>
                </a:lnTo>
                <a:lnTo>
                  <a:pt x="6682290" y="1892300"/>
                </a:lnTo>
                <a:lnTo>
                  <a:pt x="6721933" y="1930400"/>
                </a:lnTo>
                <a:lnTo>
                  <a:pt x="6801246" y="1981200"/>
                </a:lnTo>
                <a:lnTo>
                  <a:pt x="6840905" y="2019300"/>
                </a:lnTo>
                <a:lnTo>
                  <a:pt x="6920204" y="2070100"/>
                </a:lnTo>
                <a:lnTo>
                  <a:pt x="6959832" y="2108200"/>
                </a:lnTo>
                <a:lnTo>
                  <a:pt x="6999439" y="2133600"/>
                </a:lnTo>
                <a:lnTo>
                  <a:pt x="7039020" y="2171700"/>
                </a:lnTo>
                <a:lnTo>
                  <a:pt x="7078569" y="2197100"/>
                </a:lnTo>
                <a:lnTo>
                  <a:pt x="7118080" y="2235200"/>
                </a:lnTo>
                <a:lnTo>
                  <a:pt x="7157550" y="2260600"/>
                </a:lnTo>
                <a:lnTo>
                  <a:pt x="7196972" y="2298700"/>
                </a:lnTo>
                <a:lnTo>
                  <a:pt x="7236340" y="2324100"/>
                </a:lnTo>
                <a:lnTo>
                  <a:pt x="7314897" y="2400300"/>
                </a:lnTo>
                <a:lnTo>
                  <a:pt x="7354074" y="2425700"/>
                </a:lnTo>
                <a:lnTo>
                  <a:pt x="7432200" y="2501900"/>
                </a:lnTo>
                <a:lnTo>
                  <a:pt x="7471138" y="2527300"/>
                </a:lnTo>
                <a:lnTo>
                  <a:pt x="7702681" y="2755900"/>
                </a:lnTo>
                <a:lnTo>
                  <a:pt x="7892317" y="2946400"/>
                </a:lnTo>
                <a:lnTo>
                  <a:pt x="8041374" y="3098800"/>
                </a:lnTo>
                <a:lnTo>
                  <a:pt x="8078225" y="3149600"/>
                </a:lnTo>
                <a:lnTo>
                  <a:pt x="8151396" y="3225800"/>
                </a:lnTo>
                <a:lnTo>
                  <a:pt x="8187704" y="3276600"/>
                </a:lnTo>
                <a:lnTo>
                  <a:pt x="8259740" y="3352800"/>
                </a:lnTo>
                <a:lnTo>
                  <a:pt x="8295457" y="3403600"/>
                </a:lnTo>
                <a:lnTo>
                  <a:pt x="8330966" y="3441700"/>
                </a:lnTo>
                <a:lnTo>
                  <a:pt x="8366263" y="3492500"/>
                </a:lnTo>
                <a:lnTo>
                  <a:pt x="8401341" y="3530600"/>
                </a:lnTo>
                <a:lnTo>
                  <a:pt x="8436195" y="3581400"/>
                </a:lnTo>
                <a:lnTo>
                  <a:pt x="8470820" y="3619500"/>
                </a:lnTo>
                <a:lnTo>
                  <a:pt x="8505211" y="3670300"/>
                </a:lnTo>
                <a:lnTo>
                  <a:pt x="8539362" y="3708400"/>
                </a:lnTo>
                <a:lnTo>
                  <a:pt x="8573268" y="3759200"/>
                </a:lnTo>
                <a:lnTo>
                  <a:pt x="8606923" y="3810000"/>
                </a:lnTo>
                <a:lnTo>
                  <a:pt x="8640323" y="3860800"/>
                </a:lnTo>
                <a:lnTo>
                  <a:pt x="8673462" y="3898900"/>
                </a:lnTo>
                <a:lnTo>
                  <a:pt x="8706334" y="3949700"/>
                </a:lnTo>
                <a:lnTo>
                  <a:pt x="8738935" y="4000500"/>
                </a:lnTo>
                <a:lnTo>
                  <a:pt x="8771258" y="4051300"/>
                </a:lnTo>
                <a:lnTo>
                  <a:pt x="8803299" y="4102100"/>
                </a:lnTo>
                <a:lnTo>
                  <a:pt x="8835053" y="4152900"/>
                </a:lnTo>
                <a:lnTo>
                  <a:pt x="8866513" y="4191000"/>
                </a:lnTo>
                <a:lnTo>
                  <a:pt x="8897675" y="4241800"/>
                </a:lnTo>
                <a:lnTo>
                  <a:pt x="8928533" y="4292600"/>
                </a:lnTo>
                <a:lnTo>
                  <a:pt x="8959082" y="4343400"/>
                </a:lnTo>
                <a:lnTo>
                  <a:pt x="8989317" y="4406900"/>
                </a:lnTo>
                <a:lnTo>
                  <a:pt x="9019232" y="4457700"/>
                </a:lnTo>
                <a:lnTo>
                  <a:pt x="9048822" y="4508500"/>
                </a:lnTo>
                <a:lnTo>
                  <a:pt x="9107439" y="4610100"/>
                </a:lnTo>
                <a:close/>
              </a:path>
            </a:pathLst>
          </a:custGeom>
          <a:solidFill>
            <a:srgbClr val="D9C6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80545" y="1400107"/>
            <a:ext cx="5314315" cy="79692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050"/>
              <a:t>Problem</a:t>
            </a:r>
            <a:r>
              <a:rPr dirty="0" sz="5050" spc="-114"/>
              <a:t> </a:t>
            </a:r>
            <a:r>
              <a:rPr dirty="0" sz="5050" spc="-10"/>
              <a:t>Statement</a:t>
            </a:r>
            <a:endParaRPr sz="505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6093" y="2961156"/>
            <a:ext cx="123825" cy="1238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6093" y="5399555"/>
            <a:ext cx="123825" cy="12382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006825" y="2608262"/>
            <a:ext cx="14919960" cy="4292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5900"/>
              </a:lnSpc>
              <a:spcBef>
                <a:spcPts val="95"/>
              </a:spcBef>
            </a:pPr>
            <a:r>
              <a:rPr dirty="0" sz="3450">
                <a:solidFill>
                  <a:srgbClr val="5C4828"/>
                </a:solidFill>
                <a:latin typeface="Times New Roman"/>
                <a:cs typeface="Times New Roman"/>
              </a:rPr>
              <a:t>The</a:t>
            </a:r>
            <a:r>
              <a:rPr dirty="0" sz="3450" spc="-10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5C4828"/>
                </a:solidFill>
                <a:latin typeface="Times New Roman"/>
                <a:cs typeface="Times New Roman"/>
              </a:rPr>
              <a:t>global</a:t>
            </a:r>
            <a:r>
              <a:rPr dirty="0" sz="3450" spc="-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5C4828"/>
                </a:solidFill>
                <a:latin typeface="Times New Roman"/>
                <a:cs typeface="Times New Roman"/>
              </a:rPr>
              <a:t>music</a:t>
            </a:r>
            <a:r>
              <a:rPr dirty="0" sz="3450" spc="-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5C4828"/>
                </a:solidFill>
                <a:latin typeface="Times New Roman"/>
                <a:cs typeface="Times New Roman"/>
              </a:rPr>
              <a:t>industry</a:t>
            </a:r>
            <a:r>
              <a:rPr dirty="0" sz="3450" spc="-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5C4828"/>
                </a:solidFill>
                <a:latin typeface="Times New Roman"/>
                <a:cs typeface="Times New Roman"/>
              </a:rPr>
              <a:t>releases</a:t>
            </a:r>
            <a:r>
              <a:rPr dirty="0" sz="3450" spc="-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5C4828"/>
                </a:solidFill>
                <a:latin typeface="Times New Roman"/>
                <a:cs typeface="Times New Roman"/>
              </a:rPr>
              <a:t>thousands</a:t>
            </a:r>
            <a:r>
              <a:rPr dirty="0" sz="3450" spc="-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5C4828"/>
                </a:solidFill>
                <a:latin typeface="Times New Roman"/>
                <a:cs typeface="Times New Roman"/>
              </a:rPr>
              <a:t>of</a:t>
            </a:r>
            <a:r>
              <a:rPr dirty="0" sz="3450" spc="-10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5C4828"/>
                </a:solidFill>
                <a:latin typeface="Times New Roman"/>
                <a:cs typeface="Times New Roman"/>
              </a:rPr>
              <a:t>songs</a:t>
            </a:r>
            <a:r>
              <a:rPr dirty="0" sz="3450" spc="-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5C4828"/>
                </a:solidFill>
                <a:latin typeface="Times New Roman"/>
                <a:cs typeface="Times New Roman"/>
              </a:rPr>
              <a:t>every</a:t>
            </a:r>
            <a:r>
              <a:rPr dirty="0" sz="3450" spc="-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5C4828"/>
                </a:solidFill>
                <a:latin typeface="Times New Roman"/>
                <a:cs typeface="Times New Roman"/>
              </a:rPr>
              <a:t>week.</a:t>
            </a:r>
            <a:r>
              <a:rPr dirty="0" sz="3450" spc="-70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5C4828"/>
                </a:solidFill>
                <a:latin typeface="Times New Roman"/>
                <a:cs typeface="Times New Roman"/>
              </a:rPr>
              <a:t>While</a:t>
            </a:r>
            <a:r>
              <a:rPr dirty="0" sz="3450" spc="-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450" spc="-10">
                <a:solidFill>
                  <a:srgbClr val="5C4828"/>
                </a:solidFill>
                <a:latin typeface="Times New Roman"/>
                <a:cs typeface="Times New Roman"/>
              </a:rPr>
              <a:t>streaming </a:t>
            </a:r>
            <a:r>
              <a:rPr dirty="0" sz="3450">
                <a:solidFill>
                  <a:srgbClr val="5C4828"/>
                </a:solidFill>
                <a:latin typeface="Times New Roman"/>
                <a:cs typeface="Times New Roman"/>
              </a:rPr>
              <a:t>platforms</a:t>
            </a:r>
            <a:r>
              <a:rPr dirty="0" sz="3450" spc="-20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5C4828"/>
                </a:solidFill>
                <a:latin typeface="Times New Roman"/>
                <a:cs typeface="Times New Roman"/>
              </a:rPr>
              <a:t>provide</a:t>
            </a:r>
            <a:r>
              <a:rPr dirty="0" sz="3450" spc="-1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5C4828"/>
                </a:solidFill>
                <a:latin typeface="Times New Roman"/>
                <a:cs typeface="Times New Roman"/>
              </a:rPr>
              <a:t>numerous</a:t>
            </a:r>
            <a:r>
              <a:rPr dirty="0" sz="3450" spc="-20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5C4828"/>
                </a:solidFill>
                <a:latin typeface="Times New Roman"/>
                <a:cs typeface="Times New Roman"/>
              </a:rPr>
              <a:t>audio</a:t>
            </a:r>
            <a:r>
              <a:rPr dirty="0" sz="3450" spc="-1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5C4828"/>
                </a:solidFill>
                <a:latin typeface="Times New Roman"/>
                <a:cs typeface="Times New Roman"/>
              </a:rPr>
              <a:t>features</a:t>
            </a:r>
            <a:r>
              <a:rPr dirty="0" sz="3450" spc="-20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5C4828"/>
                </a:solidFill>
                <a:latin typeface="Times New Roman"/>
                <a:cs typeface="Times New Roman"/>
              </a:rPr>
              <a:t>for</a:t>
            </a:r>
            <a:r>
              <a:rPr dirty="0" sz="3450" spc="-1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5C4828"/>
                </a:solidFill>
                <a:latin typeface="Times New Roman"/>
                <a:cs typeface="Times New Roman"/>
              </a:rPr>
              <a:t>each</a:t>
            </a:r>
            <a:r>
              <a:rPr dirty="0" sz="3450" spc="-20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5C4828"/>
                </a:solidFill>
                <a:latin typeface="Times New Roman"/>
                <a:cs typeface="Times New Roman"/>
              </a:rPr>
              <a:t>song,</a:t>
            </a:r>
            <a:r>
              <a:rPr dirty="0" sz="3450" spc="-1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5C4828"/>
                </a:solidFill>
                <a:latin typeface="Times New Roman"/>
                <a:cs typeface="Times New Roman"/>
              </a:rPr>
              <a:t>identifying</a:t>
            </a:r>
            <a:r>
              <a:rPr dirty="0" sz="3450" spc="-20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450" spc="-25">
                <a:solidFill>
                  <a:srgbClr val="5C4828"/>
                </a:solidFill>
                <a:latin typeface="Times New Roman"/>
                <a:cs typeface="Times New Roman"/>
              </a:rPr>
              <a:t>the </a:t>
            </a:r>
            <a:r>
              <a:rPr dirty="0" sz="3450">
                <a:solidFill>
                  <a:srgbClr val="5C4828"/>
                </a:solidFill>
                <a:latin typeface="Times New Roman"/>
                <a:cs typeface="Times New Roman"/>
              </a:rPr>
              <a:t>characteristics</a:t>
            </a:r>
            <a:r>
              <a:rPr dirty="0" sz="3450" spc="-20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5C4828"/>
                </a:solidFill>
                <a:latin typeface="Times New Roman"/>
                <a:cs typeface="Times New Roman"/>
              </a:rPr>
              <a:t>that</a:t>
            </a:r>
            <a:r>
              <a:rPr dirty="0" sz="3450" spc="-1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5C4828"/>
                </a:solidFill>
                <a:latin typeface="Times New Roman"/>
                <a:cs typeface="Times New Roman"/>
              </a:rPr>
              <a:t>contribute</a:t>
            </a:r>
            <a:r>
              <a:rPr dirty="0" sz="3450" spc="-1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5C4828"/>
                </a:solidFill>
                <a:latin typeface="Times New Roman"/>
                <a:cs typeface="Times New Roman"/>
              </a:rPr>
              <a:t>to</a:t>
            </a:r>
            <a:r>
              <a:rPr dirty="0" sz="3450" spc="-20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5C4828"/>
                </a:solidFill>
                <a:latin typeface="Times New Roman"/>
                <a:cs typeface="Times New Roman"/>
              </a:rPr>
              <a:t>song</a:t>
            </a:r>
            <a:r>
              <a:rPr dirty="0" sz="3450" spc="-1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5C4828"/>
                </a:solidFill>
                <a:latin typeface="Times New Roman"/>
                <a:cs typeface="Times New Roman"/>
              </a:rPr>
              <a:t>popularity</a:t>
            </a:r>
            <a:r>
              <a:rPr dirty="0" sz="3450" spc="-1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5C4828"/>
                </a:solidFill>
                <a:latin typeface="Times New Roman"/>
                <a:cs typeface="Times New Roman"/>
              </a:rPr>
              <a:t>remains</a:t>
            </a:r>
            <a:r>
              <a:rPr dirty="0" sz="3450" spc="-20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5C4828"/>
                </a:solidFill>
                <a:latin typeface="Times New Roman"/>
                <a:cs typeface="Times New Roman"/>
              </a:rPr>
              <a:t>a</a:t>
            </a:r>
            <a:r>
              <a:rPr dirty="0" sz="3450" spc="-1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450" spc="-10">
                <a:solidFill>
                  <a:srgbClr val="5C4828"/>
                </a:solidFill>
                <a:latin typeface="Times New Roman"/>
                <a:cs typeface="Times New Roman"/>
              </a:rPr>
              <a:t>challenge.</a:t>
            </a:r>
            <a:endParaRPr sz="3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35"/>
              </a:spcBef>
            </a:pPr>
            <a:endParaRPr sz="3450">
              <a:latin typeface="Times New Roman"/>
              <a:cs typeface="Times New Roman"/>
            </a:endParaRPr>
          </a:p>
          <a:p>
            <a:pPr marL="12700" marR="10160">
              <a:lnSpc>
                <a:spcPct val="115900"/>
              </a:lnSpc>
            </a:pPr>
            <a:r>
              <a:rPr dirty="0" sz="3450">
                <a:solidFill>
                  <a:srgbClr val="5C4828"/>
                </a:solidFill>
                <a:latin typeface="Times New Roman"/>
                <a:cs typeface="Times New Roman"/>
              </a:rPr>
              <a:t>This</a:t>
            </a:r>
            <a:r>
              <a:rPr dirty="0" sz="3450" spc="-10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5C4828"/>
                </a:solidFill>
                <a:latin typeface="Times New Roman"/>
                <a:cs typeface="Times New Roman"/>
              </a:rPr>
              <a:t>project</a:t>
            </a:r>
            <a:r>
              <a:rPr dirty="0" sz="3450" spc="-10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5C4828"/>
                </a:solidFill>
                <a:latin typeface="Times New Roman"/>
                <a:cs typeface="Times New Roman"/>
              </a:rPr>
              <a:t>applies</a:t>
            </a:r>
            <a:r>
              <a:rPr dirty="0" sz="3450" spc="-10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5C4828"/>
                </a:solidFill>
                <a:latin typeface="Times New Roman"/>
                <a:cs typeface="Times New Roman"/>
              </a:rPr>
              <a:t>Data</a:t>
            </a:r>
            <a:r>
              <a:rPr dirty="0" sz="3450" spc="-10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5C4828"/>
                </a:solidFill>
                <a:latin typeface="Times New Roman"/>
                <a:cs typeface="Times New Roman"/>
              </a:rPr>
              <a:t>Science</a:t>
            </a:r>
            <a:r>
              <a:rPr dirty="0" sz="3450" spc="-10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5C4828"/>
                </a:solidFill>
                <a:latin typeface="Times New Roman"/>
                <a:cs typeface="Times New Roman"/>
              </a:rPr>
              <a:t>techniques</a:t>
            </a:r>
            <a:r>
              <a:rPr dirty="0" sz="3450" spc="-10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5C4828"/>
                </a:solidFill>
                <a:latin typeface="Times New Roman"/>
                <a:cs typeface="Times New Roman"/>
              </a:rPr>
              <a:t>to</a:t>
            </a:r>
            <a:r>
              <a:rPr dirty="0" sz="3450" spc="-10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5C4828"/>
                </a:solidFill>
                <a:latin typeface="Times New Roman"/>
                <a:cs typeface="Times New Roman"/>
              </a:rPr>
              <a:t>analyze</a:t>
            </a:r>
            <a:r>
              <a:rPr dirty="0" sz="3450" spc="-10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5C4828"/>
                </a:solidFill>
                <a:latin typeface="Times New Roman"/>
                <a:cs typeface="Times New Roman"/>
              </a:rPr>
              <a:t>Spotify</a:t>
            </a:r>
            <a:r>
              <a:rPr dirty="0" sz="3450" spc="-10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5C4828"/>
                </a:solidFill>
                <a:latin typeface="Times New Roman"/>
                <a:cs typeface="Times New Roman"/>
              </a:rPr>
              <a:t>tracks,</a:t>
            </a:r>
            <a:r>
              <a:rPr dirty="0" sz="3450" spc="-10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5C4828"/>
                </a:solidFill>
                <a:latin typeface="Times New Roman"/>
                <a:cs typeface="Times New Roman"/>
              </a:rPr>
              <a:t>clean</a:t>
            </a:r>
            <a:r>
              <a:rPr dirty="0" sz="3450" spc="-10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450" spc="-25">
                <a:solidFill>
                  <a:srgbClr val="5C4828"/>
                </a:solidFill>
                <a:latin typeface="Times New Roman"/>
                <a:cs typeface="Times New Roman"/>
              </a:rPr>
              <a:t>the </a:t>
            </a:r>
            <a:r>
              <a:rPr dirty="0" sz="3450">
                <a:solidFill>
                  <a:srgbClr val="5C4828"/>
                </a:solidFill>
                <a:latin typeface="Times New Roman"/>
                <a:cs typeface="Times New Roman"/>
              </a:rPr>
              <a:t>dataset,</a:t>
            </a:r>
            <a:r>
              <a:rPr dirty="0" sz="3450" spc="-20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5C4828"/>
                </a:solidFill>
                <a:latin typeface="Times New Roman"/>
                <a:cs typeface="Times New Roman"/>
              </a:rPr>
              <a:t>explore</a:t>
            </a:r>
            <a:r>
              <a:rPr dirty="0" sz="3450" spc="-20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5C4828"/>
                </a:solidFill>
                <a:latin typeface="Times New Roman"/>
                <a:cs typeface="Times New Roman"/>
              </a:rPr>
              <a:t>hidden</a:t>
            </a:r>
            <a:r>
              <a:rPr dirty="0" sz="3450" spc="-1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5C4828"/>
                </a:solidFill>
                <a:latin typeface="Times New Roman"/>
                <a:cs typeface="Times New Roman"/>
              </a:rPr>
              <a:t>patterns,</a:t>
            </a:r>
            <a:r>
              <a:rPr dirty="0" sz="3450" spc="-20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5C4828"/>
                </a:solidFill>
                <a:latin typeface="Times New Roman"/>
                <a:cs typeface="Times New Roman"/>
              </a:rPr>
              <a:t>and</a:t>
            </a:r>
            <a:r>
              <a:rPr dirty="0" sz="3450" spc="-1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5C4828"/>
                </a:solidFill>
                <a:latin typeface="Times New Roman"/>
                <a:cs typeface="Times New Roman"/>
              </a:rPr>
              <a:t>identify</a:t>
            </a:r>
            <a:r>
              <a:rPr dirty="0" sz="3450" spc="-20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5C4828"/>
                </a:solidFill>
                <a:latin typeface="Times New Roman"/>
                <a:cs typeface="Times New Roman"/>
              </a:rPr>
              <a:t>relationships</a:t>
            </a:r>
            <a:r>
              <a:rPr dirty="0" sz="3450" spc="-1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5C4828"/>
                </a:solidFill>
                <a:latin typeface="Times New Roman"/>
                <a:cs typeface="Times New Roman"/>
              </a:rPr>
              <a:t>between</a:t>
            </a:r>
            <a:r>
              <a:rPr dirty="0" sz="3450" spc="-20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450">
                <a:solidFill>
                  <a:srgbClr val="5C4828"/>
                </a:solidFill>
                <a:latin typeface="Times New Roman"/>
                <a:cs typeface="Times New Roman"/>
              </a:rPr>
              <a:t>musical</a:t>
            </a:r>
            <a:r>
              <a:rPr dirty="0" sz="3450" spc="-1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450" spc="-10">
                <a:solidFill>
                  <a:srgbClr val="5C4828"/>
                </a:solidFill>
                <a:latin typeface="Times New Roman"/>
                <a:cs typeface="Times New Roman"/>
              </a:rPr>
              <a:t>features </a:t>
            </a:r>
            <a:r>
              <a:rPr dirty="0" sz="3450">
                <a:solidFill>
                  <a:srgbClr val="5C4828"/>
                </a:solidFill>
                <a:latin typeface="Times New Roman"/>
                <a:cs typeface="Times New Roman"/>
              </a:rPr>
              <a:t>and</a:t>
            </a:r>
            <a:r>
              <a:rPr dirty="0" sz="3450" spc="-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450" spc="-10">
                <a:solidFill>
                  <a:srgbClr val="5C4828"/>
                </a:solidFill>
                <a:latin typeface="Times New Roman"/>
                <a:cs typeface="Times New Roman"/>
              </a:rPr>
              <a:t>popularity.</a:t>
            </a:r>
            <a:endParaRPr sz="34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8445188" cy="102869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16000" y="4467625"/>
            <a:ext cx="4587875" cy="1305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400" spc="-10">
                <a:solidFill>
                  <a:srgbClr val="5C4828"/>
                </a:solidFill>
                <a:latin typeface="Times New Roman"/>
                <a:cs typeface="Times New Roman"/>
              </a:rPr>
              <a:t>Objectives</a:t>
            </a:r>
            <a:endParaRPr sz="8400">
              <a:latin typeface="Times New Roman"/>
              <a:cs typeface="Times New Roman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4690" rIns="0" bIns="0" rtlCol="0" vert="horz">
            <a:spAutoFit/>
          </a:bodyPr>
          <a:lstStyle/>
          <a:p>
            <a:pPr marL="6862445">
              <a:lnSpc>
                <a:spcPct val="100000"/>
              </a:lnSpc>
              <a:spcBef>
                <a:spcPts val="95"/>
              </a:spcBef>
            </a:pPr>
            <a:r>
              <a:rPr dirty="0" sz="3700" b="0">
                <a:latin typeface="Times New Roman"/>
                <a:cs typeface="Times New Roman"/>
              </a:rPr>
              <a:t>Analyze</a:t>
            </a:r>
            <a:r>
              <a:rPr dirty="0" sz="3700" spc="-85" b="0">
                <a:latin typeface="Times New Roman"/>
                <a:cs typeface="Times New Roman"/>
              </a:rPr>
              <a:t> </a:t>
            </a:r>
            <a:r>
              <a:rPr dirty="0" sz="3700" b="0">
                <a:latin typeface="Times New Roman"/>
                <a:cs typeface="Times New Roman"/>
              </a:rPr>
              <a:t>a</a:t>
            </a:r>
            <a:r>
              <a:rPr dirty="0" sz="3700" spc="-80" b="0">
                <a:latin typeface="Times New Roman"/>
                <a:cs typeface="Times New Roman"/>
              </a:rPr>
              <a:t> </a:t>
            </a:r>
            <a:r>
              <a:rPr dirty="0" sz="3700" spc="-10" b="0">
                <a:latin typeface="Times New Roman"/>
                <a:cs typeface="Times New Roman"/>
              </a:rPr>
              <a:t>real-</a:t>
            </a:r>
            <a:r>
              <a:rPr dirty="0" sz="3700" b="0">
                <a:latin typeface="Times New Roman"/>
                <a:cs typeface="Times New Roman"/>
              </a:rPr>
              <a:t>world</a:t>
            </a:r>
            <a:r>
              <a:rPr dirty="0" sz="3700" spc="-85" b="0">
                <a:latin typeface="Times New Roman"/>
                <a:cs typeface="Times New Roman"/>
              </a:rPr>
              <a:t> </a:t>
            </a:r>
            <a:r>
              <a:rPr dirty="0" sz="3700" b="0">
                <a:latin typeface="Times New Roman"/>
                <a:cs typeface="Times New Roman"/>
              </a:rPr>
              <a:t>Spotify</a:t>
            </a:r>
            <a:r>
              <a:rPr dirty="0" sz="3700" spc="-80" b="0">
                <a:latin typeface="Times New Roman"/>
                <a:cs typeface="Times New Roman"/>
              </a:rPr>
              <a:t> </a:t>
            </a:r>
            <a:r>
              <a:rPr dirty="0" sz="3700" spc="-10" b="0">
                <a:latin typeface="Times New Roman"/>
                <a:cs typeface="Times New Roman"/>
              </a:rPr>
              <a:t>dataset</a:t>
            </a:r>
            <a:endParaRPr sz="37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82345" y="2250857"/>
            <a:ext cx="8734425" cy="18497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600">
                <a:solidFill>
                  <a:srgbClr val="5C4828"/>
                </a:solidFill>
                <a:latin typeface="Times New Roman"/>
                <a:cs typeface="Times New Roman"/>
              </a:rPr>
              <a:t>Assess</a:t>
            </a:r>
            <a:r>
              <a:rPr dirty="0" sz="3600" spc="-114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600">
                <a:solidFill>
                  <a:srgbClr val="5C4828"/>
                </a:solidFill>
                <a:latin typeface="Times New Roman"/>
                <a:cs typeface="Times New Roman"/>
              </a:rPr>
              <a:t>data</a:t>
            </a:r>
            <a:r>
              <a:rPr dirty="0" sz="3600" spc="-110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600">
                <a:solidFill>
                  <a:srgbClr val="5C4828"/>
                </a:solidFill>
                <a:latin typeface="Times New Roman"/>
                <a:cs typeface="Times New Roman"/>
              </a:rPr>
              <a:t>quality</a:t>
            </a:r>
            <a:r>
              <a:rPr dirty="0" sz="3600" spc="-114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600">
                <a:solidFill>
                  <a:srgbClr val="5C4828"/>
                </a:solidFill>
                <a:latin typeface="Times New Roman"/>
                <a:cs typeface="Times New Roman"/>
              </a:rPr>
              <a:t>and</a:t>
            </a:r>
            <a:r>
              <a:rPr dirty="0" sz="3600" spc="-110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600">
                <a:solidFill>
                  <a:srgbClr val="5C4828"/>
                </a:solidFill>
                <a:latin typeface="Times New Roman"/>
                <a:cs typeface="Times New Roman"/>
              </a:rPr>
              <a:t>perform</a:t>
            </a:r>
            <a:r>
              <a:rPr dirty="0" sz="3600" spc="-114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600" spc="-10">
                <a:solidFill>
                  <a:srgbClr val="5C4828"/>
                </a:solidFill>
                <a:latin typeface="Times New Roman"/>
                <a:cs typeface="Times New Roman"/>
              </a:rPr>
              <a:t>preprocessing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90"/>
              </a:spcBef>
            </a:pPr>
            <a:endParaRPr sz="3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3600">
                <a:solidFill>
                  <a:srgbClr val="5C4828"/>
                </a:solidFill>
                <a:latin typeface="Times New Roman"/>
                <a:cs typeface="Times New Roman"/>
              </a:rPr>
              <a:t>Identify</a:t>
            </a:r>
            <a:r>
              <a:rPr dirty="0" sz="3600" spc="-14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600">
                <a:solidFill>
                  <a:srgbClr val="5C4828"/>
                </a:solidFill>
                <a:latin typeface="Times New Roman"/>
                <a:cs typeface="Times New Roman"/>
              </a:rPr>
              <a:t>missing</a:t>
            </a:r>
            <a:r>
              <a:rPr dirty="0" sz="3600" spc="-14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600">
                <a:solidFill>
                  <a:srgbClr val="5C4828"/>
                </a:solidFill>
                <a:latin typeface="Times New Roman"/>
                <a:cs typeface="Times New Roman"/>
              </a:rPr>
              <a:t>values,</a:t>
            </a:r>
            <a:r>
              <a:rPr dirty="0" sz="3600" spc="-140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600">
                <a:solidFill>
                  <a:srgbClr val="5C4828"/>
                </a:solidFill>
                <a:latin typeface="Times New Roman"/>
                <a:cs typeface="Times New Roman"/>
              </a:rPr>
              <a:t>duplicates,</a:t>
            </a:r>
            <a:r>
              <a:rPr dirty="0" sz="3600" spc="-14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600">
                <a:solidFill>
                  <a:srgbClr val="5C4828"/>
                </a:solidFill>
                <a:latin typeface="Times New Roman"/>
                <a:cs typeface="Times New Roman"/>
              </a:rPr>
              <a:t>and</a:t>
            </a:r>
            <a:r>
              <a:rPr dirty="0" sz="3600" spc="-140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600" spc="-10">
                <a:solidFill>
                  <a:srgbClr val="5C4828"/>
                </a:solidFill>
                <a:latin typeface="Times New Roman"/>
                <a:cs typeface="Times New Roman"/>
              </a:rPr>
              <a:t>outliers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39185" y="4800413"/>
            <a:ext cx="7422515" cy="5429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400">
                <a:solidFill>
                  <a:srgbClr val="5C4828"/>
                </a:solidFill>
                <a:latin typeface="Times New Roman"/>
                <a:cs typeface="Times New Roman"/>
              </a:rPr>
              <a:t>Perform</a:t>
            </a:r>
            <a:r>
              <a:rPr dirty="0" sz="3400" spc="-110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400" spc="-10">
                <a:solidFill>
                  <a:srgbClr val="5C4828"/>
                </a:solidFill>
                <a:latin typeface="Times New Roman"/>
                <a:cs typeface="Times New Roman"/>
              </a:rPr>
              <a:t>Exploratory</a:t>
            </a:r>
            <a:r>
              <a:rPr dirty="0" sz="3400" spc="-10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5C4828"/>
                </a:solidFill>
                <a:latin typeface="Times New Roman"/>
                <a:cs typeface="Times New Roman"/>
              </a:rPr>
              <a:t>Data</a:t>
            </a:r>
            <a:r>
              <a:rPr dirty="0" sz="3400" spc="-110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5C4828"/>
                </a:solidFill>
                <a:latin typeface="Times New Roman"/>
                <a:cs typeface="Times New Roman"/>
              </a:rPr>
              <a:t>Analysis</a:t>
            </a:r>
            <a:r>
              <a:rPr dirty="0" sz="3400" spc="-10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400" spc="-10">
                <a:solidFill>
                  <a:srgbClr val="5C4828"/>
                </a:solidFill>
                <a:latin typeface="Times New Roman"/>
                <a:cs typeface="Times New Roman"/>
              </a:rPr>
              <a:t>(EDA)</a:t>
            </a:r>
            <a:endParaRPr sz="3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82345" y="6041806"/>
            <a:ext cx="8441690" cy="31261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600">
                <a:solidFill>
                  <a:srgbClr val="5C4828"/>
                </a:solidFill>
                <a:latin typeface="Times New Roman"/>
                <a:cs typeface="Times New Roman"/>
              </a:rPr>
              <a:t>Discover</a:t>
            </a:r>
            <a:r>
              <a:rPr dirty="0" sz="3600" spc="-140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600" spc="-10">
                <a:solidFill>
                  <a:srgbClr val="5C4828"/>
                </a:solidFill>
                <a:latin typeface="Times New Roman"/>
                <a:cs typeface="Times New Roman"/>
              </a:rPr>
              <a:t>relationships</a:t>
            </a:r>
            <a:r>
              <a:rPr dirty="0" sz="3600" spc="-13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600">
                <a:solidFill>
                  <a:srgbClr val="5C4828"/>
                </a:solidFill>
                <a:latin typeface="Times New Roman"/>
                <a:cs typeface="Times New Roman"/>
              </a:rPr>
              <a:t>between</a:t>
            </a:r>
            <a:r>
              <a:rPr dirty="0" sz="3600" spc="-140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600">
                <a:solidFill>
                  <a:srgbClr val="5C4828"/>
                </a:solidFill>
                <a:latin typeface="Times New Roman"/>
                <a:cs typeface="Times New Roman"/>
              </a:rPr>
              <a:t>audio</a:t>
            </a:r>
            <a:r>
              <a:rPr dirty="0" sz="3600" spc="-13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600" spc="-10">
                <a:solidFill>
                  <a:srgbClr val="5C4828"/>
                </a:solidFill>
                <a:latin typeface="Times New Roman"/>
                <a:cs typeface="Times New Roman"/>
              </a:rPr>
              <a:t>features</a:t>
            </a:r>
            <a:endParaRPr sz="3600">
              <a:latin typeface="Times New Roman"/>
              <a:cs typeface="Times New Roman"/>
            </a:endParaRPr>
          </a:p>
          <a:p>
            <a:pPr marL="12700" marR="1057910">
              <a:lnSpc>
                <a:spcPct val="232600"/>
              </a:lnSpc>
            </a:pPr>
            <a:r>
              <a:rPr dirty="0" sz="3600">
                <a:solidFill>
                  <a:srgbClr val="5C4828"/>
                </a:solidFill>
                <a:latin typeface="Times New Roman"/>
                <a:cs typeface="Times New Roman"/>
              </a:rPr>
              <a:t>Prepare</a:t>
            </a:r>
            <a:r>
              <a:rPr dirty="0" sz="3600" spc="-114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600">
                <a:solidFill>
                  <a:srgbClr val="5C4828"/>
                </a:solidFill>
                <a:latin typeface="Times New Roman"/>
                <a:cs typeface="Times New Roman"/>
              </a:rPr>
              <a:t>the</a:t>
            </a:r>
            <a:r>
              <a:rPr dirty="0" sz="3600" spc="-110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600">
                <a:solidFill>
                  <a:srgbClr val="5C4828"/>
                </a:solidFill>
                <a:latin typeface="Times New Roman"/>
                <a:cs typeface="Times New Roman"/>
              </a:rPr>
              <a:t>dataset</a:t>
            </a:r>
            <a:r>
              <a:rPr dirty="0" sz="3600" spc="-110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600">
                <a:solidFill>
                  <a:srgbClr val="5C4828"/>
                </a:solidFill>
                <a:latin typeface="Times New Roman"/>
                <a:cs typeface="Times New Roman"/>
              </a:rPr>
              <a:t>for</a:t>
            </a:r>
            <a:r>
              <a:rPr dirty="0" sz="3600" spc="-110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600">
                <a:solidFill>
                  <a:srgbClr val="5C4828"/>
                </a:solidFill>
                <a:latin typeface="Times New Roman"/>
                <a:cs typeface="Times New Roman"/>
              </a:rPr>
              <a:t>machine</a:t>
            </a:r>
            <a:r>
              <a:rPr dirty="0" sz="3600" spc="-110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600" spc="-10">
                <a:solidFill>
                  <a:srgbClr val="5C4828"/>
                </a:solidFill>
                <a:latin typeface="Times New Roman"/>
                <a:cs typeface="Times New Roman"/>
              </a:rPr>
              <a:t>learning </a:t>
            </a:r>
            <a:r>
              <a:rPr dirty="0" sz="3600">
                <a:solidFill>
                  <a:srgbClr val="5C4828"/>
                </a:solidFill>
                <a:latin typeface="Times New Roman"/>
                <a:cs typeface="Times New Roman"/>
              </a:rPr>
              <a:t>Generate</a:t>
            </a:r>
            <a:r>
              <a:rPr dirty="0" sz="3600" spc="-18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600">
                <a:solidFill>
                  <a:srgbClr val="5C4828"/>
                </a:solidFill>
                <a:latin typeface="Times New Roman"/>
                <a:cs typeface="Times New Roman"/>
              </a:rPr>
              <a:t>meaningful</a:t>
            </a:r>
            <a:r>
              <a:rPr dirty="0" sz="3600" spc="-180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600">
                <a:solidFill>
                  <a:srgbClr val="5C4828"/>
                </a:solidFill>
                <a:latin typeface="Times New Roman"/>
                <a:cs typeface="Times New Roman"/>
              </a:rPr>
              <a:t>business</a:t>
            </a:r>
            <a:r>
              <a:rPr dirty="0" sz="3600" spc="-18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600" spc="-10">
                <a:solidFill>
                  <a:srgbClr val="5C4828"/>
                </a:solidFill>
                <a:latin typeface="Times New Roman"/>
                <a:cs typeface="Times New Roman"/>
              </a:rPr>
              <a:t>insights</a:t>
            </a:r>
            <a:endParaRPr sz="3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727466" y="5960101"/>
            <a:ext cx="7560945" cy="4327525"/>
          </a:xfrm>
          <a:custGeom>
            <a:avLst/>
            <a:gdLst/>
            <a:ahLst/>
            <a:cxnLst/>
            <a:rect l="l" t="t" r="r" b="b"/>
            <a:pathLst>
              <a:path w="7560944" h="4327525">
                <a:moveTo>
                  <a:pt x="7560533" y="4326897"/>
                </a:moveTo>
                <a:lnTo>
                  <a:pt x="7560533" y="223987"/>
                </a:lnTo>
                <a:lnTo>
                  <a:pt x="7516440" y="205323"/>
                </a:lnTo>
                <a:lnTo>
                  <a:pt x="7450971" y="179144"/>
                </a:lnTo>
                <a:lnTo>
                  <a:pt x="7386522" y="155115"/>
                </a:lnTo>
                <a:lnTo>
                  <a:pt x="7323209" y="133249"/>
                </a:lnTo>
                <a:lnTo>
                  <a:pt x="7261145" y="113559"/>
                </a:lnTo>
                <a:lnTo>
                  <a:pt x="7200445" y="96056"/>
                </a:lnTo>
                <a:lnTo>
                  <a:pt x="7141222" y="80753"/>
                </a:lnTo>
                <a:lnTo>
                  <a:pt x="7079966" y="66497"/>
                </a:lnTo>
                <a:lnTo>
                  <a:pt x="7019783" y="53722"/>
                </a:lnTo>
                <a:lnTo>
                  <a:pt x="6960647" y="42396"/>
                </a:lnTo>
                <a:lnTo>
                  <a:pt x="6902536" y="32485"/>
                </a:lnTo>
                <a:lnTo>
                  <a:pt x="6845426" y="23957"/>
                </a:lnTo>
                <a:lnTo>
                  <a:pt x="6789293" y="16779"/>
                </a:lnTo>
                <a:lnTo>
                  <a:pt x="6734113" y="10919"/>
                </a:lnTo>
                <a:lnTo>
                  <a:pt x="6679862" y="6344"/>
                </a:lnTo>
                <a:lnTo>
                  <a:pt x="6626517" y="3021"/>
                </a:lnTo>
                <a:lnTo>
                  <a:pt x="6574055" y="917"/>
                </a:lnTo>
                <a:lnTo>
                  <a:pt x="6522450" y="0"/>
                </a:lnTo>
                <a:lnTo>
                  <a:pt x="6471680" y="236"/>
                </a:lnTo>
                <a:lnTo>
                  <a:pt x="6421721" y="1594"/>
                </a:lnTo>
                <a:lnTo>
                  <a:pt x="6372549" y="4041"/>
                </a:lnTo>
                <a:lnTo>
                  <a:pt x="6324141" y="7544"/>
                </a:lnTo>
                <a:lnTo>
                  <a:pt x="6276471" y="12069"/>
                </a:lnTo>
                <a:lnTo>
                  <a:pt x="6229518" y="17585"/>
                </a:lnTo>
                <a:lnTo>
                  <a:pt x="6183257" y="24059"/>
                </a:lnTo>
                <a:lnTo>
                  <a:pt x="6137664" y="31458"/>
                </a:lnTo>
                <a:lnTo>
                  <a:pt x="6092716" y="39749"/>
                </a:lnTo>
                <a:lnTo>
                  <a:pt x="6048388" y="48900"/>
                </a:lnTo>
                <a:lnTo>
                  <a:pt x="6004658" y="58878"/>
                </a:lnTo>
                <a:lnTo>
                  <a:pt x="5961501" y="69650"/>
                </a:lnTo>
                <a:lnTo>
                  <a:pt x="5918894" y="81183"/>
                </a:lnTo>
                <a:lnTo>
                  <a:pt x="5876812" y="93445"/>
                </a:lnTo>
                <a:lnTo>
                  <a:pt x="5835233" y="106404"/>
                </a:lnTo>
                <a:lnTo>
                  <a:pt x="5794132" y="120025"/>
                </a:lnTo>
                <a:lnTo>
                  <a:pt x="5753486" y="134278"/>
                </a:lnTo>
                <a:lnTo>
                  <a:pt x="5713271" y="149128"/>
                </a:lnTo>
                <a:lnTo>
                  <a:pt x="5673463" y="164543"/>
                </a:lnTo>
                <a:lnTo>
                  <a:pt x="5634038" y="180491"/>
                </a:lnTo>
                <a:lnTo>
                  <a:pt x="5594973" y="196939"/>
                </a:lnTo>
                <a:lnTo>
                  <a:pt x="5556244" y="213854"/>
                </a:lnTo>
                <a:lnTo>
                  <a:pt x="5517827" y="231203"/>
                </a:lnTo>
                <a:lnTo>
                  <a:pt x="5479698" y="248954"/>
                </a:lnTo>
                <a:lnTo>
                  <a:pt x="5441835" y="267074"/>
                </a:lnTo>
                <a:lnTo>
                  <a:pt x="5366806" y="304291"/>
                </a:lnTo>
                <a:lnTo>
                  <a:pt x="5292552" y="342590"/>
                </a:lnTo>
                <a:lnTo>
                  <a:pt x="4852640" y="580488"/>
                </a:lnTo>
                <a:lnTo>
                  <a:pt x="4778485" y="619045"/>
                </a:lnTo>
                <a:lnTo>
                  <a:pt x="4703584" y="656593"/>
                </a:lnTo>
                <a:lnTo>
                  <a:pt x="4665794" y="674906"/>
                </a:lnTo>
                <a:lnTo>
                  <a:pt x="4627747" y="692869"/>
                </a:lnTo>
                <a:lnTo>
                  <a:pt x="4589419" y="710448"/>
                </a:lnTo>
                <a:lnTo>
                  <a:pt x="4550785" y="727612"/>
                </a:lnTo>
                <a:lnTo>
                  <a:pt x="4511822" y="744327"/>
                </a:lnTo>
                <a:lnTo>
                  <a:pt x="4472507" y="760560"/>
                </a:lnTo>
                <a:lnTo>
                  <a:pt x="4432816" y="776279"/>
                </a:lnTo>
                <a:lnTo>
                  <a:pt x="4392724" y="791451"/>
                </a:lnTo>
                <a:lnTo>
                  <a:pt x="4352209" y="806044"/>
                </a:lnTo>
                <a:lnTo>
                  <a:pt x="4311246" y="820025"/>
                </a:lnTo>
                <a:lnTo>
                  <a:pt x="4269811" y="833360"/>
                </a:lnTo>
                <a:lnTo>
                  <a:pt x="4227882" y="846018"/>
                </a:lnTo>
                <a:lnTo>
                  <a:pt x="4153147" y="867050"/>
                </a:lnTo>
                <a:lnTo>
                  <a:pt x="4119024" y="877303"/>
                </a:lnTo>
                <a:lnTo>
                  <a:pt x="4045448" y="901330"/>
                </a:lnTo>
                <a:lnTo>
                  <a:pt x="4006081" y="915113"/>
                </a:lnTo>
                <a:lnTo>
                  <a:pt x="3943930" y="938010"/>
                </a:lnTo>
                <a:lnTo>
                  <a:pt x="3878188" y="963588"/>
                </a:lnTo>
                <a:lnTo>
                  <a:pt x="3809001" y="991860"/>
                </a:lnTo>
                <a:lnTo>
                  <a:pt x="3736517" y="1022841"/>
                </a:lnTo>
                <a:lnTo>
                  <a:pt x="3660883" y="1056544"/>
                </a:lnTo>
                <a:lnTo>
                  <a:pt x="3582245" y="1092983"/>
                </a:lnTo>
                <a:lnTo>
                  <a:pt x="3500749" y="1132173"/>
                </a:lnTo>
                <a:lnTo>
                  <a:pt x="3416543" y="1174127"/>
                </a:lnTo>
                <a:lnTo>
                  <a:pt x="3329774" y="1218859"/>
                </a:lnTo>
                <a:lnTo>
                  <a:pt x="3240588" y="1266383"/>
                </a:lnTo>
                <a:lnTo>
                  <a:pt x="3149132" y="1316714"/>
                </a:lnTo>
                <a:lnTo>
                  <a:pt x="3055552" y="1369866"/>
                </a:lnTo>
                <a:lnTo>
                  <a:pt x="2959996" y="1425851"/>
                </a:lnTo>
                <a:lnTo>
                  <a:pt x="2862611" y="1484686"/>
                </a:lnTo>
                <a:lnTo>
                  <a:pt x="2763542" y="1546382"/>
                </a:lnTo>
                <a:lnTo>
                  <a:pt x="2662937" y="1610955"/>
                </a:lnTo>
                <a:lnTo>
                  <a:pt x="2560943" y="1678418"/>
                </a:lnTo>
                <a:lnTo>
                  <a:pt x="2457706" y="1748785"/>
                </a:lnTo>
                <a:lnTo>
                  <a:pt x="2353373" y="1822071"/>
                </a:lnTo>
                <a:lnTo>
                  <a:pt x="2248092" y="1898289"/>
                </a:lnTo>
                <a:lnTo>
                  <a:pt x="2142007" y="1977453"/>
                </a:lnTo>
                <a:lnTo>
                  <a:pt x="2070911" y="2031873"/>
                </a:lnTo>
                <a:lnTo>
                  <a:pt x="1999567" y="2087613"/>
                </a:lnTo>
                <a:lnTo>
                  <a:pt x="1928019" y="2144677"/>
                </a:lnTo>
                <a:lnTo>
                  <a:pt x="1856310" y="2203069"/>
                </a:lnTo>
                <a:lnTo>
                  <a:pt x="1784483" y="2262794"/>
                </a:lnTo>
                <a:lnTo>
                  <a:pt x="1712583" y="2323854"/>
                </a:lnTo>
                <a:lnTo>
                  <a:pt x="1640652" y="2386256"/>
                </a:lnTo>
                <a:lnTo>
                  <a:pt x="1568734" y="2450002"/>
                </a:lnTo>
                <a:lnTo>
                  <a:pt x="1496872" y="2515097"/>
                </a:lnTo>
                <a:lnTo>
                  <a:pt x="1425111" y="2581545"/>
                </a:lnTo>
                <a:lnTo>
                  <a:pt x="1353493" y="2649350"/>
                </a:lnTo>
                <a:lnTo>
                  <a:pt x="1282062" y="2718517"/>
                </a:lnTo>
                <a:lnTo>
                  <a:pt x="1210861" y="2789049"/>
                </a:lnTo>
                <a:lnTo>
                  <a:pt x="1139935" y="2860951"/>
                </a:lnTo>
                <a:lnTo>
                  <a:pt x="1069326" y="2934226"/>
                </a:lnTo>
                <a:lnTo>
                  <a:pt x="1034154" y="2971381"/>
                </a:lnTo>
                <a:lnTo>
                  <a:pt x="999078" y="3008880"/>
                </a:lnTo>
                <a:lnTo>
                  <a:pt x="964102" y="3046724"/>
                </a:lnTo>
                <a:lnTo>
                  <a:pt x="929234" y="3084915"/>
                </a:lnTo>
                <a:lnTo>
                  <a:pt x="894477" y="3123453"/>
                </a:lnTo>
                <a:lnTo>
                  <a:pt x="859838" y="3162337"/>
                </a:lnTo>
                <a:lnTo>
                  <a:pt x="825322" y="3201569"/>
                </a:lnTo>
                <a:lnTo>
                  <a:pt x="790934" y="3241149"/>
                </a:lnTo>
                <a:lnTo>
                  <a:pt x="756679" y="3281078"/>
                </a:lnTo>
                <a:lnTo>
                  <a:pt x="722564" y="3321356"/>
                </a:lnTo>
                <a:lnTo>
                  <a:pt x="688594" y="3361983"/>
                </a:lnTo>
                <a:lnTo>
                  <a:pt x="654773" y="3402961"/>
                </a:lnTo>
                <a:lnTo>
                  <a:pt x="621108" y="3444289"/>
                </a:lnTo>
                <a:lnTo>
                  <a:pt x="587604" y="3485969"/>
                </a:lnTo>
                <a:lnTo>
                  <a:pt x="554266" y="3528000"/>
                </a:lnTo>
                <a:lnTo>
                  <a:pt x="521100" y="3570384"/>
                </a:lnTo>
                <a:lnTo>
                  <a:pt x="488111" y="3613121"/>
                </a:lnTo>
                <a:lnTo>
                  <a:pt x="455305" y="3656210"/>
                </a:lnTo>
                <a:lnTo>
                  <a:pt x="422686" y="3699654"/>
                </a:lnTo>
                <a:lnTo>
                  <a:pt x="390262" y="3743452"/>
                </a:lnTo>
                <a:lnTo>
                  <a:pt x="358036" y="3787605"/>
                </a:lnTo>
                <a:lnTo>
                  <a:pt x="326015" y="3832113"/>
                </a:lnTo>
                <a:lnTo>
                  <a:pt x="294203" y="3876977"/>
                </a:lnTo>
                <a:lnTo>
                  <a:pt x="262607" y="3922197"/>
                </a:lnTo>
                <a:lnTo>
                  <a:pt x="231232" y="3967774"/>
                </a:lnTo>
                <a:lnTo>
                  <a:pt x="200082" y="4013709"/>
                </a:lnTo>
                <a:lnTo>
                  <a:pt x="169164" y="4060002"/>
                </a:lnTo>
                <a:lnTo>
                  <a:pt x="138483" y="4106653"/>
                </a:lnTo>
                <a:lnTo>
                  <a:pt x="108045" y="4153663"/>
                </a:lnTo>
                <a:lnTo>
                  <a:pt x="77855" y="4201033"/>
                </a:lnTo>
                <a:lnTo>
                  <a:pt x="47917" y="4248763"/>
                </a:lnTo>
                <a:lnTo>
                  <a:pt x="18239" y="4296853"/>
                </a:lnTo>
                <a:lnTo>
                  <a:pt x="0" y="4326897"/>
                </a:lnTo>
                <a:lnTo>
                  <a:pt x="7560533" y="4326897"/>
                </a:lnTo>
                <a:close/>
              </a:path>
            </a:pathLst>
          </a:custGeom>
          <a:solidFill>
            <a:srgbClr val="59755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5913755" cy="3752215"/>
          </a:xfrm>
          <a:custGeom>
            <a:avLst/>
            <a:gdLst/>
            <a:ahLst/>
            <a:cxnLst/>
            <a:rect l="l" t="t" r="r" b="b"/>
            <a:pathLst>
              <a:path w="5913755" h="3752215">
                <a:moveTo>
                  <a:pt x="1003631" y="3751623"/>
                </a:moveTo>
                <a:lnTo>
                  <a:pt x="1053412" y="3751623"/>
                </a:lnTo>
                <a:lnTo>
                  <a:pt x="1147053" y="3750553"/>
                </a:lnTo>
                <a:lnTo>
                  <a:pt x="1240707" y="3748051"/>
                </a:lnTo>
                <a:lnTo>
                  <a:pt x="1334328" y="3744047"/>
                </a:lnTo>
                <a:lnTo>
                  <a:pt x="1427870" y="3738469"/>
                </a:lnTo>
                <a:lnTo>
                  <a:pt x="1521289" y="3731247"/>
                </a:lnTo>
                <a:lnTo>
                  <a:pt x="1614539" y="3722311"/>
                </a:lnTo>
                <a:lnTo>
                  <a:pt x="1707575" y="3711590"/>
                </a:lnTo>
                <a:lnTo>
                  <a:pt x="1753998" y="3705539"/>
                </a:lnTo>
                <a:lnTo>
                  <a:pt x="1800350" y="3699014"/>
                </a:lnTo>
                <a:lnTo>
                  <a:pt x="1846627" y="3692009"/>
                </a:lnTo>
                <a:lnTo>
                  <a:pt x="1892821" y="3684513"/>
                </a:lnTo>
                <a:lnTo>
                  <a:pt x="1938928" y="3676518"/>
                </a:lnTo>
                <a:lnTo>
                  <a:pt x="1984941" y="3668015"/>
                </a:lnTo>
                <a:lnTo>
                  <a:pt x="2030855" y="3658995"/>
                </a:lnTo>
                <a:lnTo>
                  <a:pt x="2076665" y="3649450"/>
                </a:lnTo>
                <a:lnTo>
                  <a:pt x="2122365" y="3639370"/>
                </a:lnTo>
                <a:lnTo>
                  <a:pt x="2167948" y="3628747"/>
                </a:lnTo>
                <a:lnTo>
                  <a:pt x="2213410" y="3617573"/>
                </a:lnTo>
                <a:lnTo>
                  <a:pt x="2258744" y="3605837"/>
                </a:lnTo>
                <a:lnTo>
                  <a:pt x="2303945" y="3593532"/>
                </a:lnTo>
                <a:lnTo>
                  <a:pt x="2349008" y="3580649"/>
                </a:lnTo>
                <a:lnTo>
                  <a:pt x="2393926" y="3567178"/>
                </a:lnTo>
                <a:lnTo>
                  <a:pt x="2438695" y="3553112"/>
                </a:lnTo>
                <a:lnTo>
                  <a:pt x="2483307" y="3538440"/>
                </a:lnTo>
                <a:lnTo>
                  <a:pt x="2527758" y="3523155"/>
                </a:lnTo>
                <a:lnTo>
                  <a:pt x="2572042" y="3507247"/>
                </a:lnTo>
                <a:lnTo>
                  <a:pt x="2616153" y="3490708"/>
                </a:lnTo>
                <a:lnTo>
                  <a:pt x="2660086" y="3473529"/>
                </a:lnTo>
                <a:lnTo>
                  <a:pt x="2703835" y="3455701"/>
                </a:lnTo>
                <a:lnTo>
                  <a:pt x="2747394" y="3437215"/>
                </a:lnTo>
                <a:lnTo>
                  <a:pt x="2790758" y="3418063"/>
                </a:lnTo>
                <a:lnTo>
                  <a:pt x="2833920" y="3398235"/>
                </a:lnTo>
                <a:lnTo>
                  <a:pt x="2876876" y="3377723"/>
                </a:lnTo>
                <a:lnTo>
                  <a:pt x="2919619" y="3356518"/>
                </a:lnTo>
                <a:lnTo>
                  <a:pt x="2962144" y="3334612"/>
                </a:lnTo>
                <a:lnTo>
                  <a:pt x="3004446" y="3311994"/>
                </a:lnTo>
                <a:lnTo>
                  <a:pt x="3046517" y="3288658"/>
                </a:lnTo>
                <a:lnTo>
                  <a:pt x="3088354" y="3264593"/>
                </a:lnTo>
                <a:lnTo>
                  <a:pt x="3129950" y="3239791"/>
                </a:lnTo>
                <a:lnTo>
                  <a:pt x="3171299" y="3214243"/>
                </a:lnTo>
                <a:lnTo>
                  <a:pt x="3212396" y="3187940"/>
                </a:lnTo>
                <a:lnTo>
                  <a:pt x="3253236" y="3160874"/>
                </a:lnTo>
                <a:lnTo>
                  <a:pt x="3293811" y="3133035"/>
                </a:lnTo>
                <a:lnTo>
                  <a:pt x="3334118" y="3104416"/>
                </a:lnTo>
                <a:lnTo>
                  <a:pt x="3374150" y="3075006"/>
                </a:lnTo>
                <a:lnTo>
                  <a:pt x="3413901" y="3044798"/>
                </a:lnTo>
                <a:lnTo>
                  <a:pt x="3453366" y="3013782"/>
                </a:lnTo>
                <a:lnTo>
                  <a:pt x="3492539" y="2981950"/>
                </a:lnTo>
                <a:lnTo>
                  <a:pt x="3531415" y="2949292"/>
                </a:lnTo>
                <a:lnTo>
                  <a:pt x="3569987" y="2915800"/>
                </a:lnTo>
                <a:lnTo>
                  <a:pt x="3608250" y="2881466"/>
                </a:lnTo>
                <a:lnTo>
                  <a:pt x="3646199" y="2846280"/>
                </a:lnTo>
                <a:lnTo>
                  <a:pt x="3683828" y="2810233"/>
                </a:lnTo>
                <a:lnTo>
                  <a:pt x="3721130" y="2773318"/>
                </a:lnTo>
                <a:lnTo>
                  <a:pt x="3758101" y="2735524"/>
                </a:lnTo>
                <a:lnTo>
                  <a:pt x="3794735" y="2696843"/>
                </a:lnTo>
                <a:lnTo>
                  <a:pt x="3831026" y="2657266"/>
                </a:lnTo>
                <a:lnTo>
                  <a:pt x="3866968" y="2616785"/>
                </a:lnTo>
                <a:lnTo>
                  <a:pt x="3902556" y="2575391"/>
                </a:lnTo>
                <a:lnTo>
                  <a:pt x="3937784" y="2533074"/>
                </a:lnTo>
                <a:lnTo>
                  <a:pt x="3998426" y="2459373"/>
                </a:lnTo>
                <a:lnTo>
                  <a:pt x="4057958" y="2387655"/>
                </a:lnTo>
                <a:lnTo>
                  <a:pt x="4116387" y="2317881"/>
                </a:lnTo>
                <a:lnTo>
                  <a:pt x="4173721" y="2250008"/>
                </a:lnTo>
                <a:lnTo>
                  <a:pt x="4229968" y="2183996"/>
                </a:lnTo>
                <a:lnTo>
                  <a:pt x="4339230" y="2057394"/>
                </a:lnTo>
                <a:lnTo>
                  <a:pt x="4444233" y="1937747"/>
                </a:lnTo>
                <a:lnTo>
                  <a:pt x="4545038" y="1824731"/>
                </a:lnTo>
                <a:lnTo>
                  <a:pt x="4641707" y="1718018"/>
                </a:lnTo>
                <a:lnTo>
                  <a:pt x="4734299" y="1617284"/>
                </a:lnTo>
                <a:lnTo>
                  <a:pt x="4822875" y="1522201"/>
                </a:lnTo>
                <a:lnTo>
                  <a:pt x="4948344" y="1389461"/>
                </a:lnTo>
                <a:lnTo>
                  <a:pt x="5365337" y="956323"/>
                </a:lnTo>
                <a:lnTo>
                  <a:pt x="5422235" y="896118"/>
                </a:lnTo>
                <a:lnTo>
                  <a:pt x="5449391" y="866993"/>
                </a:lnTo>
                <a:lnTo>
                  <a:pt x="5475694" y="838466"/>
                </a:lnTo>
                <a:lnTo>
                  <a:pt x="5525776" y="783043"/>
                </a:lnTo>
                <a:lnTo>
                  <a:pt x="5572541" y="729523"/>
                </a:lnTo>
                <a:lnTo>
                  <a:pt x="5616050" y="677579"/>
                </a:lnTo>
                <a:lnTo>
                  <a:pt x="5656364" y="626885"/>
                </a:lnTo>
                <a:lnTo>
                  <a:pt x="5693543" y="577116"/>
                </a:lnTo>
                <a:lnTo>
                  <a:pt x="5727648" y="527945"/>
                </a:lnTo>
                <a:lnTo>
                  <a:pt x="5758741" y="479046"/>
                </a:lnTo>
                <a:lnTo>
                  <a:pt x="5786881" y="430094"/>
                </a:lnTo>
                <a:lnTo>
                  <a:pt x="5812129" y="380761"/>
                </a:lnTo>
                <a:lnTo>
                  <a:pt x="5834547" y="330723"/>
                </a:lnTo>
                <a:lnTo>
                  <a:pt x="5854195" y="279653"/>
                </a:lnTo>
                <a:lnTo>
                  <a:pt x="5871134" y="227225"/>
                </a:lnTo>
                <a:lnTo>
                  <a:pt x="5885424" y="173113"/>
                </a:lnTo>
                <a:lnTo>
                  <a:pt x="5897126" y="116991"/>
                </a:lnTo>
                <a:lnTo>
                  <a:pt x="5906302" y="58533"/>
                </a:lnTo>
                <a:lnTo>
                  <a:pt x="5912510" y="5567"/>
                </a:lnTo>
                <a:lnTo>
                  <a:pt x="5913154" y="0"/>
                </a:lnTo>
                <a:lnTo>
                  <a:pt x="0" y="0"/>
                </a:lnTo>
                <a:lnTo>
                  <a:pt x="0" y="3684710"/>
                </a:lnTo>
                <a:lnTo>
                  <a:pt x="218698" y="3708437"/>
                </a:lnTo>
                <a:lnTo>
                  <a:pt x="402089" y="3724933"/>
                </a:lnTo>
                <a:lnTo>
                  <a:pt x="540639" y="3735058"/>
                </a:lnTo>
                <a:lnTo>
                  <a:pt x="679881" y="3742991"/>
                </a:lnTo>
                <a:lnTo>
                  <a:pt x="819662" y="3748494"/>
                </a:lnTo>
                <a:lnTo>
                  <a:pt x="913073" y="3750697"/>
                </a:lnTo>
                <a:lnTo>
                  <a:pt x="954790" y="3751263"/>
                </a:lnTo>
                <a:lnTo>
                  <a:pt x="949566" y="3751263"/>
                </a:lnTo>
                <a:lnTo>
                  <a:pt x="1003631" y="3751623"/>
                </a:lnTo>
                <a:close/>
              </a:path>
            </a:pathLst>
          </a:custGeom>
          <a:solidFill>
            <a:srgbClr val="ECE2D5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Dataset</a:t>
            </a:r>
            <a:r>
              <a:rPr dirty="0" spc="-105"/>
              <a:t> </a:t>
            </a:r>
            <a:r>
              <a:rPr dirty="0" spc="-10"/>
              <a:t>Description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12191" y="5554609"/>
            <a:ext cx="133350" cy="1333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12191" y="6097534"/>
            <a:ext cx="133350" cy="1333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12191" y="6640459"/>
            <a:ext cx="133350" cy="1333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12191" y="7183384"/>
            <a:ext cx="133350" cy="13334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12191" y="7726309"/>
            <a:ext cx="133350" cy="13334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12191" y="8269234"/>
            <a:ext cx="133350" cy="13334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3228997" y="5284734"/>
            <a:ext cx="2501900" cy="3288665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12700" marR="5080">
              <a:lnSpc>
                <a:spcPts val="4280"/>
              </a:lnSpc>
              <a:spcBef>
                <a:spcPts val="215"/>
              </a:spcBef>
            </a:pPr>
            <a:r>
              <a:rPr dirty="0" sz="3600">
                <a:solidFill>
                  <a:srgbClr val="5C4828"/>
                </a:solidFill>
                <a:latin typeface="Times New Roman"/>
                <a:cs typeface="Times New Roman"/>
              </a:rPr>
              <a:t>Track</a:t>
            </a:r>
            <a:r>
              <a:rPr dirty="0" sz="3600" spc="-21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600" spc="-25">
                <a:solidFill>
                  <a:srgbClr val="5C4828"/>
                </a:solidFill>
                <a:latin typeface="Times New Roman"/>
                <a:cs typeface="Times New Roman"/>
              </a:rPr>
              <a:t>ID </a:t>
            </a:r>
            <a:r>
              <a:rPr dirty="0" sz="3600">
                <a:solidFill>
                  <a:srgbClr val="5C4828"/>
                </a:solidFill>
                <a:latin typeface="Times New Roman"/>
                <a:cs typeface="Times New Roman"/>
              </a:rPr>
              <a:t>Artist </a:t>
            </a:r>
            <a:r>
              <a:rPr dirty="0" sz="3600" spc="-20">
                <a:solidFill>
                  <a:srgbClr val="5C4828"/>
                </a:solidFill>
                <a:latin typeface="Times New Roman"/>
                <a:cs typeface="Times New Roman"/>
              </a:rPr>
              <a:t>Name </a:t>
            </a:r>
            <a:r>
              <a:rPr dirty="0" sz="3600">
                <a:solidFill>
                  <a:srgbClr val="5C4828"/>
                </a:solidFill>
                <a:latin typeface="Times New Roman"/>
                <a:cs typeface="Times New Roman"/>
              </a:rPr>
              <a:t>Track</a:t>
            </a:r>
            <a:r>
              <a:rPr dirty="0" sz="3600" spc="-21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600" spc="-20">
                <a:solidFill>
                  <a:srgbClr val="5C4828"/>
                </a:solidFill>
                <a:latin typeface="Times New Roman"/>
                <a:cs typeface="Times New Roman"/>
              </a:rPr>
              <a:t>Name </a:t>
            </a:r>
            <a:r>
              <a:rPr dirty="0" sz="3600">
                <a:solidFill>
                  <a:srgbClr val="5C4828"/>
                </a:solidFill>
                <a:latin typeface="Times New Roman"/>
                <a:cs typeface="Times New Roman"/>
              </a:rPr>
              <a:t>Album </a:t>
            </a:r>
            <a:r>
              <a:rPr dirty="0" sz="3600" spc="-20">
                <a:solidFill>
                  <a:srgbClr val="5C4828"/>
                </a:solidFill>
                <a:latin typeface="Times New Roman"/>
                <a:cs typeface="Times New Roman"/>
              </a:rPr>
              <a:t>Name </a:t>
            </a:r>
            <a:r>
              <a:rPr dirty="0" sz="3600" spc="-10">
                <a:solidFill>
                  <a:srgbClr val="5C4828"/>
                </a:solidFill>
                <a:latin typeface="Times New Roman"/>
                <a:cs typeface="Times New Roman"/>
              </a:rPr>
              <a:t>Popularity Danceability</a:t>
            </a:r>
            <a:endParaRPr sz="3600">
              <a:latin typeface="Times New Roman"/>
              <a:cs typeface="Times New Roman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65455" y="5554609"/>
            <a:ext cx="133350" cy="13334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65455" y="6097534"/>
            <a:ext cx="133350" cy="13334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165455" y="6640459"/>
            <a:ext cx="133350" cy="13334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165455" y="7183384"/>
            <a:ext cx="133350" cy="13334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165455" y="7726309"/>
            <a:ext cx="133350" cy="13334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165455" y="8269234"/>
            <a:ext cx="133350" cy="133349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6482260" y="5284734"/>
            <a:ext cx="2438400" cy="3288665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12700" marR="5080">
              <a:lnSpc>
                <a:spcPts val="4280"/>
              </a:lnSpc>
              <a:spcBef>
                <a:spcPts val="215"/>
              </a:spcBef>
            </a:pPr>
            <a:r>
              <a:rPr dirty="0" sz="3600" spc="-10">
                <a:solidFill>
                  <a:srgbClr val="5C4828"/>
                </a:solidFill>
                <a:latin typeface="Times New Roman"/>
                <a:cs typeface="Times New Roman"/>
              </a:rPr>
              <a:t>Tempo Duration Language Energy Loudness Acousticness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77413" y="8656584"/>
            <a:ext cx="7084695" cy="665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200" spc="-50" b="1">
                <a:solidFill>
                  <a:srgbClr val="5C4828"/>
                </a:solidFill>
                <a:latin typeface="Times New Roman"/>
                <a:cs typeface="Times New Roman"/>
              </a:rPr>
              <a:t>Target</a:t>
            </a:r>
            <a:r>
              <a:rPr dirty="0" sz="4200" spc="-45" b="1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4200" spc="-55" b="1">
                <a:solidFill>
                  <a:srgbClr val="5C4828"/>
                </a:solidFill>
                <a:latin typeface="Times New Roman"/>
                <a:cs typeface="Times New Roman"/>
              </a:rPr>
              <a:t>Variable:</a:t>
            </a:r>
            <a:r>
              <a:rPr dirty="0" sz="4200" spc="-610" b="1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600" spc="-20">
                <a:solidFill>
                  <a:srgbClr val="5C4828"/>
                </a:solidFill>
                <a:latin typeface="Times New Roman"/>
                <a:cs typeface="Times New Roman"/>
              </a:rPr>
              <a:t>Popularity(0-100)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48069" y="2017659"/>
            <a:ext cx="11808460" cy="3397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dirty="0" baseline="2645" sz="6300" b="1">
                <a:solidFill>
                  <a:srgbClr val="5C4828"/>
                </a:solidFill>
                <a:latin typeface="Times New Roman"/>
                <a:cs typeface="Times New Roman"/>
              </a:rPr>
              <a:t>Dataset</a:t>
            </a:r>
            <a:r>
              <a:rPr dirty="0" baseline="2645" sz="6300" spc="-120" b="1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baseline="2645" sz="6300" b="1">
                <a:solidFill>
                  <a:srgbClr val="5C4828"/>
                </a:solidFill>
                <a:latin typeface="Times New Roman"/>
                <a:cs typeface="Times New Roman"/>
              </a:rPr>
              <a:t>Name:</a:t>
            </a:r>
            <a:r>
              <a:rPr dirty="0" sz="3600">
                <a:solidFill>
                  <a:srgbClr val="5C4828"/>
                </a:solidFill>
                <a:latin typeface="Times New Roman"/>
                <a:cs typeface="Times New Roman"/>
              </a:rPr>
              <a:t>Spotify</a:t>
            </a:r>
            <a:r>
              <a:rPr dirty="0" sz="3600" spc="-12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600" spc="-10">
                <a:solidFill>
                  <a:srgbClr val="5C4828"/>
                </a:solidFill>
                <a:latin typeface="Times New Roman"/>
                <a:cs typeface="Times New Roman"/>
              </a:rPr>
              <a:t>Tracks</a:t>
            </a:r>
            <a:r>
              <a:rPr dirty="0" sz="3600" spc="-6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600" spc="-10">
                <a:solidFill>
                  <a:srgbClr val="5C4828"/>
                </a:solidFill>
                <a:latin typeface="Times New Roman"/>
                <a:cs typeface="Times New Roman"/>
              </a:rPr>
              <a:t>Dataset(Updated</a:t>
            </a:r>
            <a:r>
              <a:rPr dirty="0" sz="3600" spc="-6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600">
                <a:solidFill>
                  <a:srgbClr val="5C4828"/>
                </a:solidFill>
                <a:latin typeface="Times New Roman"/>
                <a:cs typeface="Times New Roman"/>
              </a:rPr>
              <a:t>Every</a:t>
            </a:r>
            <a:r>
              <a:rPr dirty="0" sz="3600" spc="-130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600" spc="-10">
                <a:solidFill>
                  <a:srgbClr val="5C4828"/>
                </a:solidFill>
                <a:latin typeface="Times New Roman"/>
                <a:cs typeface="Times New Roman"/>
              </a:rPr>
              <a:t>Week)</a:t>
            </a:r>
            <a:endParaRPr sz="3600">
              <a:latin typeface="Times New Roman"/>
              <a:cs typeface="Times New Roman"/>
            </a:endParaRPr>
          </a:p>
          <a:p>
            <a:pPr marL="1649095">
              <a:lnSpc>
                <a:spcPct val="100000"/>
              </a:lnSpc>
              <a:spcBef>
                <a:spcPts val="60"/>
              </a:spcBef>
            </a:pPr>
            <a:r>
              <a:rPr dirty="0" sz="4200" spc="-30" b="1">
                <a:solidFill>
                  <a:srgbClr val="5C4828"/>
                </a:solidFill>
                <a:latin typeface="Times New Roman"/>
                <a:cs typeface="Times New Roman"/>
              </a:rPr>
              <a:t>Source:</a:t>
            </a:r>
            <a:r>
              <a:rPr dirty="0" sz="4200" spc="-290" b="1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baseline="-2314" sz="5400" spc="-15">
                <a:solidFill>
                  <a:srgbClr val="5C4828"/>
                </a:solidFill>
                <a:latin typeface="Times New Roman"/>
                <a:cs typeface="Times New Roman"/>
              </a:rPr>
              <a:t>Kaggle</a:t>
            </a:r>
            <a:endParaRPr baseline="-2314" sz="5400">
              <a:latin typeface="Times New Roman"/>
              <a:cs typeface="Times New Roman"/>
            </a:endParaRPr>
          </a:p>
          <a:p>
            <a:pPr marL="251460">
              <a:lnSpc>
                <a:spcPct val="100000"/>
              </a:lnSpc>
              <a:spcBef>
                <a:spcPts val="509"/>
              </a:spcBef>
            </a:pPr>
            <a:r>
              <a:rPr dirty="0" sz="4200" b="1">
                <a:solidFill>
                  <a:srgbClr val="5C4828"/>
                </a:solidFill>
                <a:latin typeface="Times New Roman"/>
                <a:cs typeface="Times New Roman"/>
              </a:rPr>
              <a:t>Dataset</a:t>
            </a:r>
            <a:r>
              <a:rPr dirty="0" sz="4200" spc="-165" b="1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4200" spc="-80" b="1">
                <a:solidFill>
                  <a:srgbClr val="5C4828"/>
                </a:solidFill>
                <a:latin typeface="Times New Roman"/>
                <a:cs typeface="Times New Roman"/>
              </a:rPr>
              <a:t>Type:</a:t>
            </a:r>
            <a:r>
              <a:rPr dirty="0" sz="4200" spc="-330" b="1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600">
                <a:solidFill>
                  <a:srgbClr val="5C4828"/>
                </a:solidFill>
                <a:latin typeface="Times New Roman"/>
                <a:cs typeface="Times New Roman"/>
              </a:rPr>
              <a:t>Music</a:t>
            </a:r>
            <a:r>
              <a:rPr dirty="0" sz="3600" spc="-22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600" spc="-10">
                <a:solidFill>
                  <a:srgbClr val="5C4828"/>
                </a:solidFill>
                <a:latin typeface="Times New Roman"/>
                <a:cs typeface="Times New Roman"/>
              </a:rPr>
              <a:t>Analytics</a:t>
            </a:r>
            <a:endParaRPr sz="3600">
              <a:latin typeface="Times New Roman"/>
              <a:cs typeface="Times New Roman"/>
            </a:endParaRPr>
          </a:p>
          <a:p>
            <a:pPr marL="499745">
              <a:lnSpc>
                <a:spcPct val="100000"/>
              </a:lnSpc>
              <a:spcBef>
                <a:spcPts val="275"/>
              </a:spcBef>
            </a:pPr>
            <a:r>
              <a:rPr dirty="0" sz="4200" b="1">
                <a:solidFill>
                  <a:srgbClr val="5C4828"/>
                </a:solidFill>
                <a:latin typeface="Times New Roman"/>
                <a:cs typeface="Times New Roman"/>
              </a:rPr>
              <a:t>File Format:</a:t>
            </a:r>
            <a:r>
              <a:rPr dirty="0" sz="4200" spc="-330" b="1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baseline="-6944" sz="5400">
                <a:solidFill>
                  <a:srgbClr val="5C4828"/>
                </a:solidFill>
                <a:latin typeface="Times New Roman"/>
                <a:cs typeface="Times New Roman"/>
              </a:rPr>
              <a:t>CSV</a:t>
            </a:r>
            <a:r>
              <a:rPr dirty="0" baseline="-6944" sz="5400" spc="-97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baseline="-6944" sz="5400" spc="-30">
                <a:solidFill>
                  <a:srgbClr val="5C4828"/>
                </a:solidFill>
                <a:latin typeface="Times New Roman"/>
                <a:cs typeface="Times New Roman"/>
              </a:rPr>
              <a:t>FIle</a:t>
            </a:r>
            <a:endParaRPr baseline="-6944" sz="54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500"/>
              </a:spcBef>
            </a:pPr>
            <a:r>
              <a:rPr dirty="0" sz="4200" b="1">
                <a:solidFill>
                  <a:srgbClr val="5C4828"/>
                </a:solidFill>
                <a:latin typeface="Times New Roman"/>
                <a:cs typeface="Times New Roman"/>
              </a:rPr>
              <a:t>Important</a:t>
            </a:r>
            <a:r>
              <a:rPr dirty="0" sz="4200" spc="-190" b="1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4200" spc="-10" b="1">
                <a:solidFill>
                  <a:srgbClr val="5C4828"/>
                </a:solidFill>
                <a:latin typeface="Times New Roman"/>
                <a:cs typeface="Times New Roman"/>
              </a:rPr>
              <a:t>Features:</a:t>
            </a:r>
            <a:endParaRPr sz="4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969770" y="2266392"/>
            <a:ext cx="7318375" cy="8020684"/>
            <a:chOff x="10969770" y="2266392"/>
            <a:chExt cx="7318375" cy="8020684"/>
          </a:xfrm>
        </p:grpSpPr>
        <p:sp>
          <p:nvSpPr>
            <p:cNvPr id="3" name="object 3"/>
            <p:cNvSpPr/>
            <p:nvPr/>
          </p:nvSpPr>
          <p:spPr>
            <a:xfrm>
              <a:off x="13600318" y="2266392"/>
              <a:ext cx="4688205" cy="8020684"/>
            </a:xfrm>
            <a:custGeom>
              <a:avLst/>
              <a:gdLst/>
              <a:ahLst/>
              <a:cxnLst/>
              <a:rect l="l" t="t" r="r" b="b"/>
              <a:pathLst>
                <a:path w="4688205" h="8020684">
                  <a:moveTo>
                    <a:pt x="4687680" y="3640534"/>
                  </a:moveTo>
                  <a:lnTo>
                    <a:pt x="2528535" y="4099090"/>
                  </a:lnTo>
                  <a:lnTo>
                    <a:pt x="2573122" y="4088866"/>
                  </a:lnTo>
                  <a:lnTo>
                    <a:pt x="2617459" y="4077571"/>
                  </a:lnTo>
                  <a:lnTo>
                    <a:pt x="2661492" y="4065004"/>
                  </a:lnTo>
                  <a:lnTo>
                    <a:pt x="2705167" y="4050960"/>
                  </a:lnTo>
                  <a:lnTo>
                    <a:pt x="2748429" y="4035235"/>
                  </a:lnTo>
                  <a:lnTo>
                    <a:pt x="2791224" y="4017626"/>
                  </a:lnTo>
                  <a:lnTo>
                    <a:pt x="2833498" y="3997929"/>
                  </a:lnTo>
                  <a:lnTo>
                    <a:pt x="2875196" y="3975941"/>
                  </a:lnTo>
                  <a:lnTo>
                    <a:pt x="2916263" y="3951459"/>
                  </a:lnTo>
                  <a:lnTo>
                    <a:pt x="2955917" y="3924501"/>
                  </a:lnTo>
                  <a:lnTo>
                    <a:pt x="2993450" y="3895236"/>
                  </a:lnTo>
                  <a:lnTo>
                    <a:pt x="3028897" y="3863803"/>
                  </a:lnTo>
                  <a:lnTo>
                    <a:pt x="3062291" y="3830341"/>
                  </a:lnTo>
                  <a:lnTo>
                    <a:pt x="3093664" y="3794990"/>
                  </a:lnTo>
                  <a:lnTo>
                    <a:pt x="3123050" y="3757887"/>
                  </a:lnTo>
                  <a:lnTo>
                    <a:pt x="3150482" y="3719173"/>
                  </a:lnTo>
                  <a:lnTo>
                    <a:pt x="3175992" y="3678987"/>
                  </a:lnTo>
                  <a:lnTo>
                    <a:pt x="3199615" y="3637467"/>
                  </a:lnTo>
                  <a:lnTo>
                    <a:pt x="3221382" y="3594752"/>
                  </a:lnTo>
                  <a:lnTo>
                    <a:pt x="3241328" y="3550982"/>
                  </a:lnTo>
                  <a:lnTo>
                    <a:pt x="3259485" y="3506296"/>
                  </a:lnTo>
                  <a:lnTo>
                    <a:pt x="3275886" y="3460833"/>
                  </a:lnTo>
                  <a:lnTo>
                    <a:pt x="3290564" y="3414732"/>
                  </a:lnTo>
                  <a:lnTo>
                    <a:pt x="3303553" y="3368132"/>
                  </a:lnTo>
                  <a:lnTo>
                    <a:pt x="3314885" y="3321172"/>
                  </a:lnTo>
                  <a:lnTo>
                    <a:pt x="3324594" y="3273991"/>
                  </a:lnTo>
                  <a:lnTo>
                    <a:pt x="3332712" y="3226728"/>
                  </a:lnTo>
                  <a:lnTo>
                    <a:pt x="3339273" y="3179523"/>
                  </a:lnTo>
                  <a:lnTo>
                    <a:pt x="3344310" y="3132515"/>
                  </a:lnTo>
                  <a:lnTo>
                    <a:pt x="3347856" y="3085841"/>
                  </a:lnTo>
                  <a:lnTo>
                    <a:pt x="3349943" y="3039643"/>
                  </a:lnTo>
                  <a:lnTo>
                    <a:pt x="3350899" y="2992169"/>
                  </a:lnTo>
                  <a:lnTo>
                    <a:pt x="3351181" y="2944642"/>
                  </a:lnTo>
                  <a:lnTo>
                    <a:pt x="3350840" y="2897067"/>
                  </a:lnTo>
                  <a:lnTo>
                    <a:pt x="3349926" y="2849453"/>
                  </a:lnTo>
                  <a:lnTo>
                    <a:pt x="3348488" y="2801807"/>
                  </a:lnTo>
                  <a:lnTo>
                    <a:pt x="3346576" y="2754135"/>
                  </a:lnTo>
                  <a:lnTo>
                    <a:pt x="3344240" y="2706447"/>
                  </a:lnTo>
                  <a:lnTo>
                    <a:pt x="3341531" y="2658748"/>
                  </a:lnTo>
                  <a:lnTo>
                    <a:pt x="3338496" y="2611046"/>
                  </a:lnTo>
                  <a:lnTo>
                    <a:pt x="3335188" y="2563348"/>
                  </a:lnTo>
                  <a:lnTo>
                    <a:pt x="3331655" y="2515663"/>
                  </a:lnTo>
                  <a:lnTo>
                    <a:pt x="3327947" y="2467997"/>
                  </a:lnTo>
                  <a:lnTo>
                    <a:pt x="3324114" y="2420357"/>
                  </a:lnTo>
                  <a:lnTo>
                    <a:pt x="3312365" y="2277670"/>
                  </a:lnTo>
                  <a:lnTo>
                    <a:pt x="3308531" y="2230210"/>
                  </a:lnTo>
                  <a:lnTo>
                    <a:pt x="3304822" y="2182813"/>
                  </a:lnTo>
                  <a:lnTo>
                    <a:pt x="3301287" y="2135487"/>
                  </a:lnTo>
                  <a:lnTo>
                    <a:pt x="3297975" y="2088238"/>
                  </a:lnTo>
                  <a:lnTo>
                    <a:pt x="3294938" y="2041075"/>
                  </a:lnTo>
                  <a:lnTo>
                    <a:pt x="3292224" y="1994004"/>
                  </a:lnTo>
                  <a:lnTo>
                    <a:pt x="3289884" y="1947033"/>
                  </a:lnTo>
                  <a:lnTo>
                    <a:pt x="3287968" y="1900170"/>
                  </a:lnTo>
                  <a:lnTo>
                    <a:pt x="3286524" y="1853421"/>
                  </a:lnTo>
                  <a:lnTo>
                    <a:pt x="3285604" y="1806794"/>
                  </a:lnTo>
                  <a:lnTo>
                    <a:pt x="3285256" y="1760297"/>
                  </a:lnTo>
                  <a:lnTo>
                    <a:pt x="3285532" y="1713936"/>
                  </a:lnTo>
                  <a:lnTo>
                    <a:pt x="3286480" y="1667719"/>
                  </a:lnTo>
                  <a:lnTo>
                    <a:pt x="3288150" y="1621653"/>
                  </a:lnTo>
                  <a:lnTo>
                    <a:pt x="3290593" y="1575746"/>
                  </a:lnTo>
                  <a:lnTo>
                    <a:pt x="3293858" y="1530005"/>
                  </a:lnTo>
                  <a:lnTo>
                    <a:pt x="3297995" y="1484438"/>
                  </a:lnTo>
                  <a:lnTo>
                    <a:pt x="3303054" y="1439051"/>
                  </a:lnTo>
                  <a:lnTo>
                    <a:pt x="3309085" y="1393852"/>
                  </a:lnTo>
                  <a:lnTo>
                    <a:pt x="3316137" y="1348849"/>
                  </a:lnTo>
                  <a:lnTo>
                    <a:pt x="3324261" y="1304048"/>
                  </a:lnTo>
                  <a:lnTo>
                    <a:pt x="3333505" y="1259458"/>
                  </a:lnTo>
                  <a:lnTo>
                    <a:pt x="3343921" y="1215084"/>
                  </a:lnTo>
                  <a:lnTo>
                    <a:pt x="3355558" y="1170936"/>
                  </a:lnTo>
                  <a:lnTo>
                    <a:pt x="3368466" y="1127020"/>
                  </a:lnTo>
                  <a:lnTo>
                    <a:pt x="3382694" y="1083343"/>
                  </a:lnTo>
                  <a:lnTo>
                    <a:pt x="3398293" y="1039912"/>
                  </a:lnTo>
                  <a:lnTo>
                    <a:pt x="3415312" y="996736"/>
                  </a:lnTo>
                  <a:lnTo>
                    <a:pt x="3433801" y="953822"/>
                  </a:lnTo>
                  <a:lnTo>
                    <a:pt x="3453810" y="911176"/>
                  </a:lnTo>
                  <a:lnTo>
                    <a:pt x="3475389" y="868806"/>
                  </a:lnTo>
                  <a:lnTo>
                    <a:pt x="3498587" y="826720"/>
                  </a:lnTo>
                  <a:lnTo>
                    <a:pt x="3523456" y="784925"/>
                  </a:lnTo>
                  <a:lnTo>
                    <a:pt x="3550043" y="743428"/>
                  </a:lnTo>
                  <a:lnTo>
                    <a:pt x="3578400" y="702236"/>
                  </a:lnTo>
                  <a:lnTo>
                    <a:pt x="3608576" y="661358"/>
                  </a:lnTo>
                  <a:lnTo>
                    <a:pt x="3640620" y="620799"/>
                  </a:lnTo>
                  <a:lnTo>
                    <a:pt x="3674584" y="580568"/>
                  </a:lnTo>
                  <a:lnTo>
                    <a:pt x="3708135" y="543047"/>
                  </a:lnTo>
                  <a:lnTo>
                    <a:pt x="3742577" y="506509"/>
                  </a:lnTo>
                  <a:lnTo>
                    <a:pt x="3777890" y="470977"/>
                  </a:lnTo>
                  <a:lnTo>
                    <a:pt x="3814051" y="436477"/>
                  </a:lnTo>
                  <a:lnTo>
                    <a:pt x="3851039" y="403032"/>
                  </a:lnTo>
                  <a:lnTo>
                    <a:pt x="3888830" y="370668"/>
                  </a:lnTo>
                  <a:lnTo>
                    <a:pt x="3927404" y="339409"/>
                  </a:lnTo>
                  <a:lnTo>
                    <a:pt x="3966737" y="309280"/>
                  </a:lnTo>
                  <a:lnTo>
                    <a:pt x="4006810" y="280305"/>
                  </a:lnTo>
                  <a:lnTo>
                    <a:pt x="4047598" y="252509"/>
                  </a:lnTo>
                  <a:lnTo>
                    <a:pt x="4089081" y="225916"/>
                  </a:lnTo>
                  <a:lnTo>
                    <a:pt x="4131236" y="200551"/>
                  </a:lnTo>
                  <a:lnTo>
                    <a:pt x="4174042" y="176439"/>
                  </a:lnTo>
                  <a:lnTo>
                    <a:pt x="4217476" y="153603"/>
                  </a:lnTo>
                  <a:lnTo>
                    <a:pt x="4261517" y="132070"/>
                  </a:lnTo>
                  <a:lnTo>
                    <a:pt x="4306142" y="111862"/>
                  </a:lnTo>
                  <a:lnTo>
                    <a:pt x="4351330" y="93006"/>
                  </a:lnTo>
                  <a:lnTo>
                    <a:pt x="4397058" y="75525"/>
                  </a:lnTo>
                  <a:lnTo>
                    <a:pt x="4443305" y="59444"/>
                  </a:lnTo>
                  <a:lnTo>
                    <a:pt x="4490049" y="44787"/>
                  </a:lnTo>
                  <a:lnTo>
                    <a:pt x="4537847" y="31417"/>
                  </a:lnTo>
                  <a:lnTo>
                    <a:pt x="4538424" y="31295"/>
                  </a:lnTo>
                  <a:lnTo>
                    <a:pt x="4585520" y="19702"/>
                  </a:lnTo>
                  <a:lnTo>
                    <a:pt x="4633040" y="9610"/>
                  </a:lnTo>
                  <a:lnTo>
                    <a:pt x="4681551" y="898"/>
                  </a:lnTo>
                  <a:lnTo>
                    <a:pt x="4687680" y="0"/>
                  </a:lnTo>
                  <a:lnTo>
                    <a:pt x="4687680" y="3639537"/>
                  </a:lnTo>
                  <a:lnTo>
                    <a:pt x="4687680" y="3639778"/>
                  </a:lnTo>
                  <a:lnTo>
                    <a:pt x="4687680" y="3640341"/>
                  </a:lnTo>
                  <a:lnTo>
                    <a:pt x="4687680" y="3640534"/>
                  </a:lnTo>
                  <a:close/>
                </a:path>
                <a:path w="4688205" h="8020684">
                  <a:moveTo>
                    <a:pt x="4687680" y="8020606"/>
                  </a:moveTo>
                  <a:lnTo>
                    <a:pt x="0" y="8020606"/>
                  </a:lnTo>
                  <a:lnTo>
                    <a:pt x="1557" y="8006943"/>
                  </a:lnTo>
                  <a:lnTo>
                    <a:pt x="9767" y="7956936"/>
                  </a:lnTo>
                  <a:lnTo>
                    <a:pt x="20396" y="7907417"/>
                  </a:lnTo>
                  <a:lnTo>
                    <a:pt x="33391" y="7858541"/>
                  </a:lnTo>
                  <a:lnTo>
                    <a:pt x="48700" y="7810463"/>
                  </a:lnTo>
                  <a:lnTo>
                    <a:pt x="66271" y="7763339"/>
                  </a:lnTo>
                  <a:lnTo>
                    <a:pt x="86049" y="7717323"/>
                  </a:lnTo>
                  <a:lnTo>
                    <a:pt x="107983" y="7672571"/>
                  </a:lnTo>
                  <a:lnTo>
                    <a:pt x="132019" y="7629237"/>
                  </a:lnTo>
                  <a:lnTo>
                    <a:pt x="159971" y="7584298"/>
                  </a:lnTo>
                  <a:lnTo>
                    <a:pt x="189527" y="7542133"/>
                  </a:lnTo>
                  <a:lnTo>
                    <a:pt x="220631" y="7502602"/>
                  </a:lnTo>
                  <a:lnTo>
                    <a:pt x="253225" y="7465567"/>
                  </a:lnTo>
                  <a:lnTo>
                    <a:pt x="287252" y="7430887"/>
                  </a:lnTo>
                  <a:lnTo>
                    <a:pt x="322655" y="7398422"/>
                  </a:lnTo>
                  <a:lnTo>
                    <a:pt x="359377" y="7368033"/>
                  </a:lnTo>
                  <a:lnTo>
                    <a:pt x="397361" y="7339581"/>
                  </a:lnTo>
                  <a:lnTo>
                    <a:pt x="436550" y="7312925"/>
                  </a:lnTo>
                  <a:lnTo>
                    <a:pt x="476886" y="7287926"/>
                  </a:lnTo>
                  <a:lnTo>
                    <a:pt x="518312" y="7264444"/>
                  </a:lnTo>
                  <a:lnTo>
                    <a:pt x="560772" y="7242340"/>
                  </a:lnTo>
                  <a:lnTo>
                    <a:pt x="604208" y="7221473"/>
                  </a:lnTo>
                  <a:lnTo>
                    <a:pt x="648564" y="7201704"/>
                  </a:lnTo>
                  <a:lnTo>
                    <a:pt x="693781" y="7182894"/>
                  </a:lnTo>
                  <a:lnTo>
                    <a:pt x="739804" y="7164903"/>
                  </a:lnTo>
                  <a:lnTo>
                    <a:pt x="786574" y="7147590"/>
                  </a:lnTo>
                  <a:lnTo>
                    <a:pt x="834035" y="7130817"/>
                  </a:lnTo>
                  <a:lnTo>
                    <a:pt x="882130" y="7114443"/>
                  </a:lnTo>
                  <a:lnTo>
                    <a:pt x="927296" y="7097568"/>
                  </a:lnTo>
                  <a:lnTo>
                    <a:pt x="971238" y="7078434"/>
                  </a:lnTo>
                  <a:lnTo>
                    <a:pt x="1013891" y="7057121"/>
                  </a:lnTo>
                  <a:lnTo>
                    <a:pt x="1055194" y="7033707"/>
                  </a:lnTo>
                  <a:lnTo>
                    <a:pt x="1095082" y="7008273"/>
                  </a:lnTo>
                  <a:lnTo>
                    <a:pt x="1133491" y="6980898"/>
                  </a:lnTo>
                  <a:lnTo>
                    <a:pt x="1170357" y="6951660"/>
                  </a:lnTo>
                  <a:lnTo>
                    <a:pt x="1205619" y="6920641"/>
                  </a:lnTo>
                  <a:lnTo>
                    <a:pt x="1239211" y="6887919"/>
                  </a:lnTo>
                  <a:lnTo>
                    <a:pt x="1271070" y="6853573"/>
                  </a:lnTo>
                  <a:lnTo>
                    <a:pt x="1301133" y="6817684"/>
                  </a:lnTo>
                  <a:lnTo>
                    <a:pt x="1329337" y="6780330"/>
                  </a:lnTo>
                  <a:lnTo>
                    <a:pt x="1355616" y="6741592"/>
                  </a:lnTo>
                  <a:lnTo>
                    <a:pt x="1379909" y="6701548"/>
                  </a:lnTo>
                  <a:lnTo>
                    <a:pt x="1402152" y="6660279"/>
                  </a:lnTo>
                  <a:lnTo>
                    <a:pt x="1422280" y="6617863"/>
                  </a:lnTo>
                  <a:lnTo>
                    <a:pt x="1440231" y="6574381"/>
                  </a:lnTo>
                  <a:lnTo>
                    <a:pt x="1455940" y="6529911"/>
                  </a:lnTo>
                  <a:lnTo>
                    <a:pt x="1469345" y="6484534"/>
                  </a:lnTo>
                  <a:lnTo>
                    <a:pt x="1480382" y="6438328"/>
                  </a:lnTo>
                  <a:lnTo>
                    <a:pt x="1488987" y="6391373"/>
                  </a:lnTo>
                  <a:lnTo>
                    <a:pt x="1495096" y="6343749"/>
                  </a:lnTo>
                  <a:lnTo>
                    <a:pt x="1498647" y="6295535"/>
                  </a:lnTo>
                  <a:lnTo>
                    <a:pt x="1499999" y="6243284"/>
                  </a:lnTo>
                  <a:lnTo>
                    <a:pt x="1499209" y="6191103"/>
                  </a:lnTo>
                  <a:lnTo>
                    <a:pt x="1496475" y="6139001"/>
                  </a:lnTo>
                  <a:lnTo>
                    <a:pt x="1491996" y="6086986"/>
                  </a:lnTo>
                  <a:lnTo>
                    <a:pt x="1485968" y="6035068"/>
                  </a:lnTo>
                  <a:lnTo>
                    <a:pt x="1478591" y="5983255"/>
                  </a:lnTo>
                  <a:lnTo>
                    <a:pt x="1470062" y="5931555"/>
                  </a:lnTo>
                  <a:lnTo>
                    <a:pt x="1460578" y="5879979"/>
                  </a:lnTo>
                  <a:lnTo>
                    <a:pt x="1450339" y="5828534"/>
                  </a:lnTo>
                  <a:lnTo>
                    <a:pt x="1439541" y="5777230"/>
                  </a:lnTo>
                  <a:lnTo>
                    <a:pt x="1428382" y="5726074"/>
                  </a:lnTo>
                  <a:lnTo>
                    <a:pt x="1417061" y="5675077"/>
                  </a:lnTo>
                  <a:lnTo>
                    <a:pt x="1406973" y="5627474"/>
                  </a:lnTo>
                  <a:lnTo>
                    <a:pt x="1397414" y="5579783"/>
                  </a:lnTo>
                  <a:lnTo>
                    <a:pt x="1388472" y="5532039"/>
                  </a:lnTo>
                  <a:lnTo>
                    <a:pt x="1380241" y="5484279"/>
                  </a:lnTo>
                  <a:lnTo>
                    <a:pt x="1372808" y="5436538"/>
                  </a:lnTo>
                  <a:lnTo>
                    <a:pt x="1366267" y="5388854"/>
                  </a:lnTo>
                  <a:lnTo>
                    <a:pt x="1360706" y="5341262"/>
                  </a:lnTo>
                  <a:lnTo>
                    <a:pt x="1356217" y="5293799"/>
                  </a:lnTo>
                  <a:lnTo>
                    <a:pt x="1352890" y="5246500"/>
                  </a:lnTo>
                  <a:lnTo>
                    <a:pt x="1350815" y="5199403"/>
                  </a:lnTo>
                  <a:lnTo>
                    <a:pt x="1350084" y="5152542"/>
                  </a:lnTo>
                  <a:lnTo>
                    <a:pt x="1350786" y="5105955"/>
                  </a:lnTo>
                  <a:lnTo>
                    <a:pt x="1353013" y="5059677"/>
                  </a:lnTo>
                  <a:lnTo>
                    <a:pt x="1356855" y="5013745"/>
                  </a:lnTo>
                  <a:lnTo>
                    <a:pt x="1362402" y="4968195"/>
                  </a:lnTo>
                  <a:lnTo>
                    <a:pt x="1369745" y="4923063"/>
                  </a:lnTo>
                  <a:lnTo>
                    <a:pt x="1378974" y="4878385"/>
                  </a:lnTo>
                  <a:lnTo>
                    <a:pt x="1390181" y="4834198"/>
                  </a:lnTo>
                  <a:lnTo>
                    <a:pt x="1403456" y="4790538"/>
                  </a:lnTo>
                  <a:lnTo>
                    <a:pt x="1418889" y="4747441"/>
                  </a:lnTo>
                  <a:lnTo>
                    <a:pt x="1436570" y="4704943"/>
                  </a:lnTo>
                  <a:lnTo>
                    <a:pt x="1456591" y="4663080"/>
                  </a:lnTo>
                  <a:lnTo>
                    <a:pt x="1479043" y="4621889"/>
                  </a:lnTo>
                  <a:lnTo>
                    <a:pt x="1504014" y="4581406"/>
                  </a:lnTo>
                  <a:lnTo>
                    <a:pt x="1531597" y="4541667"/>
                  </a:lnTo>
                  <a:lnTo>
                    <a:pt x="1561881" y="4502708"/>
                  </a:lnTo>
                  <a:lnTo>
                    <a:pt x="1594958" y="4464565"/>
                  </a:lnTo>
                  <a:lnTo>
                    <a:pt x="1630917" y="4427275"/>
                  </a:lnTo>
                  <a:lnTo>
                    <a:pt x="1668178" y="4392483"/>
                  </a:lnTo>
                  <a:lnTo>
                    <a:pt x="1706332" y="4360897"/>
                  </a:lnTo>
                  <a:lnTo>
                    <a:pt x="1745324" y="4332313"/>
                  </a:lnTo>
                  <a:lnTo>
                    <a:pt x="1785100" y="4306528"/>
                  </a:lnTo>
                  <a:lnTo>
                    <a:pt x="1825606" y="4283338"/>
                  </a:lnTo>
                  <a:lnTo>
                    <a:pt x="1866787" y="4262539"/>
                  </a:lnTo>
                  <a:lnTo>
                    <a:pt x="1908588" y="4243929"/>
                  </a:lnTo>
                  <a:lnTo>
                    <a:pt x="1950956" y="4227302"/>
                  </a:lnTo>
                  <a:lnTo>
                    <a:pt x="1993837" y="4212456"/>
                  </a:lnTo>
                  <a:lnTo>
                    <a:pt x="2037174" y="4199188"/>
                  </a:lnTo>
                  <a:lnTo>
                    <a:pt x="2080915" y="4187292"/>
                  </a:lnTo>
                  <a:lnTo>
                    <a:pt x="2125005" y="4176567"/>
                  </a:lnTo>
                  <a:lnTo>
                    <a:pt x="2169389" y="4166808"/>
                  </a:lnTo>
                  <a:lnTo>
                    <a:pt x="2214013" y="4157812"/>
                  </a:lnTo>
                  <a:lnTo>
                    <a:pt x="2438832" y="4117144"/>
                  </a:lnTo>
                  <a:lnTo>
                    <a:pt x="2481623" y="4108861"/>
                  </a:lnTo>
                  <a:lnTo>
                    <a:pt x="2471978" y="4110909"/>
                  </a:lnTo>
                  <a:lnTo>
                    <a:pt x="4687680" y="3640534"/>
                  </a:lnTo>
                  <a:lnTo>
                    <a:pt x="4687680" y="8020606"/>
                  </a:lnTo>
                  <a:close/>
                </a:path>
              </a:pathLst>
            </a:custGeom>
            <a:solidFill>
              <a:srgbClr val="D9C6A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69770" y="2776682"/>
              <a:ext cx="5714999" cy="4733924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1371669" y="965263"/>
            <a:ext cx="4993640" cy="787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0" spc="-35"/>
              <a:t>Technologies</a:t>
            </a:r>
            <a:r>
              <a:rPr dirty="0" sz="5000" spc="-215"/>
              <a:t> </a:t>
            </a:r>
            <a:r>
              <a:rPr dirty="0" sz="5000" spc="-20"/>
              <a:t>Used</a:t>
            </a:r>
            <a:endParaRPr sz="5000"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30618" y="3258662"/>
            <a:ext cx="137903" cy="13790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30618" y="3918629"/>
            <a:ext cx="137903" cy="13790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30618" y="4578596"/>
            <a:ext cx="137903" cy="13790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30618" y="5238562"/>
            <a:ext cx="137903" cy="13790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30618" y="5898529"/>
            <a:ext cx="137903" cy="137903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30618" y="7878429"/>
            <a:ext cx="137903" cy="137902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30618" y="8538396"/>
            <a:ext cx="137903" cy="137902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30618" y="9198363"/>
            <a:ext cx="137903" cy="137903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954956" y="1665982"/>
            <a:ext cx="6465570" cy="78466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8300"/>
              </a:lnSpc>
              <a:spcBef>
                <a:spcPts val="95"/>
              </a:spcBef>
            </a:pPr>
            <a:r>
              <a:rPr dirty="0" sz="3700" b="1">
                <a:solidFill>
                  <a:srgbClr val="5C4828"/>
                </a:solidFill>
                <a:latin typeface="Times New Roman"/>
                <a:cs typeface="Times New Roman"/>
              </a:rPr>
              <a:t>Programming</a:t>
            </a:r>
            <a:r>
              <a:rPr dirty="0" sz="3700" spc="-65" b="1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700" spc="-10" b="1">
                <a:solidFill>
                  <a:srgbClr val="5C4828"/>
                </a:solidFill>
                <a:latin typeface="Times New Roman"/>
                <a:cs typeface="Times New Roman"/>
              </a:rPr>
              <a:t>Language:</a:t>
            </a:r>
            <a:r>
              <a:rPr dirty="0" sz="3700" spc="-10">
                <a:solidFill>
                  <a:srgbClr val="5C4828"/>
                </a:solidFill>
                <a:latin typeface="Times New Roman"/>
                <a:cs typeface="Times New Roman"/>
              </a:rPr>
              <a:t>Python </a:t>
            </a:r>
            <a:r>
              <a:rPr dirty="0" sz="3700" spc="-10" b="1">
                <a:solidFill>
                  <a:srgbClr val="5C4828"/>
                </a:solidFill>
                <a:latin typeface="Times New Roman"/>
                <a:cs typeface="Times New Roman"/>
              </a:rPr>
              <a:t>Libraries:</a:t>
            </a:r>
            <a:endParaRPr sz="3700">
              <a:latin typeface="Times New Roman"/>
              <a:cs typeface="Times New Roman"/>
            </a:endParaRPr>
          </a:p>
          <a:p>
            <a:pPr marL="815975" marR="3644900">
              <a:lnSpc>
                <a:spcPct val="117000"/>
              </a:lnSpc>
            </a:pPr>
            <a:r>
              <a:rPr dirty="0" sz="3700" spc="-10">
                <a:solidFill>
                  <a:srgbClr val="5C4828"/>
                </a:solidFill>
                <a:latin typeface="Times New Roman"/>
                <a:cs typeface="Times New Roman"/>
              </a:rPr>
              <a:t>Pandas NumPy Matplotlib Seaborn</a:t>
            </a:r>
            <a:endParaRPr sz="3700">
              <a:latin typeface="Times New Roman"/>
              <a:cs typeface="Times New Roman"/>
            </a:endParaRPr>
          </a:p>
          <a:p>
            <a:pPr marL="815975">
              <a:lnSpc>
                <a:spcPct val="100000"/>
              </a:lnSpc>
              <a:spcBef>
                <a:spcPts val="760"/>
              </a:spcBef>
            </a:pPr>
            <a:r>
              <a:rPr dirty="0" sz="3700">
                <a:solidFill>
                  <a:srgbClr val="5C4828"/>
                </a:solidFill>
                <a:latin typeface="Times New Roman"/>
                <a:cs typeface="Times New Roman"/>
              </a:rPr>
              <a:t>Scikit-learn</a:t>
            </a:r>
            <a:r>
              <a:rPr dirty="0" sz="3700" spc="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700">
                <a:solidFill>
                  <a:srgbClr val="5C4828"/>
                </a:solidFill>
                <a:latin typeface="Times New Roman"/>
                <a:cs typeface="Times New Roman"/>
              </a:rPr>
              <a:t>(Phase</a:t>
            </a:r>
            <a:r>
              <a:rPr dirty="0" sz="3700" spc="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700" spc="-25">
                <a:solidFill>
                  <a:srgbClr val="5C4828"/>
                </a:solidFill>
                <a:latin typeface="Times New Roman"/>
                <a:cs typeface="Times New Roman"/>
              </a:rPr>
              <a:t>2)</a:t>
            </a:r>
            <a:endParaRPr sz="3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40"/>
              </a:spcBef>
            </a:pPr>
            <a:endParaRPr sz="3700">
              <a:latin typeface="Times New Roman"/>
              <a:cs typeface="Times New Roman"/>
            </a:endParaRPr>
          </a:p>
          <a:p>
            <a:pPr marL="815975" marR="837565" indent="-803910">
              <a:lnSpc>
                <a:spcPct val="117000"/>
              </a:lnSpc>
            </a:pPr>
            <a:r>
              <a:rPr dirty="0" sz="3700" b="1">
                <a:solidFill>
                  <a:srgbClr val="5C4828"/>
                </a:solidFill>
                <a:latin typeface="Times New Roman"/>
                <a:cs typeface="Times New Roman"/>
              </a:rPr>
              <a:t>Development</a:t>
            </a:r>
            <a:r>
              <a:rPr dirty="0" sz="3700" spc="5" b="1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700" spc="-10" b="1">
                <a:solidFill>
                  <a:srgbClr val="5C4828"/>
                </a:solidFill>
                <a:latin typeface="Times New Roman"/>
                <a:cs typeface="Times New Roman"/>
              </a:rPr>
              <a:t>Environment: </a:t>
            </a:r>
            <a:r>
              <a:rPr dirty="0" sz="3700">
                <a:solidFill>
                  <a:srgbClr val="5C4828"/>
                </a:solidFill>
                <a:latin typeface="Times New Roman"/>
                <a:cs typeface="Times New Roman"/>
              </a:rPr>
              <a:t>Jupyter</a:t>
            </a:r>
            <a:r>
              <a:rPr dirty="0" sz="3700" spc="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700" spc="-10">
                <a:solidFill>
                  <a:srgbClr val="5C4828"/>
                </a:solidFill>
                <a:latin typeface="Times New Roman"/>
                <a:cs typeface="Times New Roman"/>
              </a:rPr>
              <a:t>Notebook Anaconda</a:t>
            </a:r>
            <a:endParaRPr sz="3700">
              <a:latin typeface="Times New Roman"/>
              <a:cs typeface="Times New Roman"/>
            </a:endParaRPr>
          </a:p>
          <a:p>
            <a:pPr marL="815975">
              <a:lnSpc>
                <a:spcPct val="100000"/>
              </a:lnSpc>
              <a:spcBef>
                <a:spcPts val="760"/>
              </a:spcBef>
            </a:pPr>
            <a:r>
              <a:rPr dirty="0" sz="3700" spc="-10">
                <a:solidFill>
                  <a:srgbClr val="5C4828"/>
                </a:solidFill>
                <a:latin typeface="Times New Roman"/>
                <a:cs typeface="Times New Roman"/>
              </a:rPr>
              <a:t>GitHub</a:t>
            </a:r>
            <a:endParaRPr sz="3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485592"/>
            <a:ext cx="5371090" cy="580140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913367" y="0"/>
            <a:ext cx="5374631" cy="516077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260760" y="917302"/>
            <a:ext cx="6330950" cy="8883650"/>
          </a:xfrm>
          <a:prstGeom prst="rect">
            <a:avLst/>
          </a:prstGeom>
        </p:spPr>
        <p:txBody>
          <a:bodyPr wrap="square" lIns="0" tIns="99060" rIns="0" bIns="0" rtlCol="0" vert="horz">
            <a:spAutoFit/>
          </a:bodyPr>
          <a:lstStyle/>
          <a:p>
            <a:pPr marL="1423670">
              <a:lnSpc>
                <a:spcPct val="100000"/>
              </a:lnSpc>
              <a:spcBef>
                <a:spcPts val="780"/>
              </a:spcBef>
            </a:pPr>
            <a:r>
              <a:rPr dirty="0" sz="3300">
                <a:solidFill>
                  <a:srgbClr val="5C4828"/>
                </a:solidFill>
                <a:latin typeface="Microsoft Sans Serif"/>
                <a:cs typeface="Microsoft Sans Serif"/>
              </a:rPr>
              <a:t>Dataset</a:t>
            </a:r>
            <a:r>
              <a:rPr dirty="0" sz="3300" spc="45">
                <a:solidFill>
                  <a:srgbClr val="5C4828"/>
                </a:solidFill>
                <a:latin typeface="Microsoft Sans Serif"/>
                <a:cs typeface="Microsoft Sans Serif"/>
              </a:rPr>
              <a:t> </a:t>
            </a:r>
            <a:r>
              <a:rPr dirty="0" sz="3300" spc="-10">
                <a:solidFill>
                  <a:srgbClr val="5C4828"/>
                </a:solidFill>
                <a:latin typeface="Microsoft Sans Serif"/>
                <a:cs typeface="Microsoft Sans Serif"/>
              </a:rPr>
              <a:t>Collection</a:t>
            </a:r>
            <a:endParaRPr sz="3300">
              <a:latin typeface="Microsoft Sans Serif"/>
              <a:cs typeface="Microsoft Sans Serif"/>
            </a:endParaRPr>
          </a:p>
          <a:p>
            <a:pPr marL="2834640">
              <a:lnSpc>
                <a:spcPct val="100000"/>
              </a:lnSpc>
              <a:spcBef>
                <a:spcPts val="690"/>
              </a:spcBef>
            </a:pPr>
            <a:r>
              <a:rPr dirty="0" sz="3300" spc="-50">
                <a:solidFill>
                  <a:srgbClr val="5C4828"/>
                </a:solidFill>
                <a:latin typeface="Microsoft Sans Serif"/>
                <a:cs typeface="Microsoft Sans Serif"/>
              </a:rPr>
              <a:t>↓</a:t>
            </a:r>
            <a:endParaRPr sz="3300">
              <a:latin typeface="Microsoft Sans Serif"/>
              <a:cs typeface="Microsoft Sans Serif"/>
            </a:endParaRPr>
          </a:p>
          <a:p>
            <a:pPr marL="1306195">
              <a:lnSpc>
                <a:spcPct val="100000"/>
              </a:lnSpc>
              <a:spcBef>
                <a:spcPts val="690"/>
              </a:spcBef>
            </a:pPr>
            <a:r>
              <a:rPr dirty="0" sz="3300">
                <a:solidFill>
                  <a:srgbClr val="5C4828"/>
                </a:solidFill>
                <a:latin typeface="Microsoft Sans Serif"/>
                <a:cs typeface="Microsoft Sans Serif"/>
              </a:rPr>
              <a:t>Data</a:t>
            </a:r>
            <a:r>
              <a:rPr dirty="0" sz="3300" spc="35">
                <a:solidFill>
                  <a:srgbClr val="5C4828"/>
                </a:solidFill>
                <a:latin typeface="Microsoft Sans Serif"/>
                <a:cs typeface="Microsoft Sans Serif"/>
              </a:rPr>
              <a:t> </a:t>
            </a:r>
            <a:r>
              <a:rPr dirty="0" sz="3300" spc="-10">
                <a:solidFill>
                  <a:srgbClr val="5C4828"/>
                </a:solidFill>
                <a:latin typeface="Microsoft Sans Serif"/>
                <a:cs typeface="Microsoft Sans Serif"/>
              </a:rPr>
              <a:t>Understanding</a:t>
            </a:r>
            <a:endParaRPr sz="3300">
              <a:latin typeface="Microsoft Sans Serif"/>
              <a:cs typeface="Microsoft Sans Serif"/>
            </a:endParaRPr>
          </a:p>
          <a:p>
            <a:pPr marL="2834640">
              <a:lnSpc>
                <a:spcPct val="100000"/>
              </a:lnSpc>
              <a:spcBef>
                <a:spcPts val="690"/>
              </a:spcBef>
            </a:pPr>
            <a:r>
              <a:rPr dirty="0" sz="3300" spc="-50">
                <a:solidFill>
                  <a:srgbClr val="5C4828"/>
                </a:solidFill>
                <a:latin typeface="Microsoft Sans Serif"/>
                <a:cs typeface="Microsoft Sans Serif"/>
              </a:rPr>
              <a:t>↓</a:t>
            </a:r>
            <a:endParaRPr sz="3300">
              <a:latin typeface="Microsoft Sans Serif"/>
              <a:cs typeface="Microsoft Sans Serif"/>
            </a:endParaRPr>
          </a:p>
          <a:p>
            <a:pPr marL="1776730">
              <a:lnSpc>
                <a:spcPct val="100000"/>
              </a:lnSpc>
              <a:spcBef>
                <a:spcPts val="690"/>
              </a:spcBef>
            </a:pPr>
            <a:r>
              <a:rPr dirty="0" sz="3300">
                <a:solidFill>
                  <a:srgbClr val="5C4828"/>
                </a:solidFill>
                <a:latin typeface="Microsoft Sans Serif"/>
                <a:cs typeface="Microsoft Sans Serif"/>
              </a:rPr>
              <a:t>Data</a:t>
            </a:r>
            <a:r>
              <a:rPr dirty="0" sz="3300" spc="35">
                <a:solidFill>
                  <a:srgbClr val="5C4828"/>
                </a:solidFill>
                <a:latin typeface="Microsoft Sans Serif"/>
                <a:cs typeface="Microsoft Sans Serif"/>
              </a:rPr>
              <a:t> </a:t>
            </a:r>
            <a:r>
              <a:rPr dirty="0" sz="3300" spc="-10">
                <a:solidFill>
                  <a:srgbClr val="5C4828"/>
                </a:solidFill>
                <a:latin typeface="Microsoft Sans Serif"/>
                <a:cs typeface="Microsoft Sans Serif"/>
              </a:rPr>
              <a:t>Cleaning</a:t>
            </a:r>
            <a:endParaRPr sz="3300">
              <a:latin typeface="Microsoft Sans Serif"/>
              <a:cs typeface="Microsoft Sans Serif"/>
            </a:endParaRPr>
          </a:p>
          <a:p>
            <a:pPr marL="2834640">
              <a:lnSpc>
                <a:spcPct val="100000"/>
              </a:lnSpc>
              <a:spcBef>
                <a:spcPts val="690"/>
              </a:spcBef>
            </a:pPr>
            <a:r>
              <a:rPr dirty="0" sz="3300" spc="-50">
                <a:solidFill>
                  <a:srgbClr val="5C4828"/>
                </a:solidFill>
                <a:latin typeface="Microsoft Sans Serif"/>
                <a:cs typeface="Microsoft Sans Serif"/>
              </a:rPr>
              <a:t>↓</a:t>
            </a:r>
            <a:endParaRPr sz="3300">
              <a:latin typeface="Microsoft Sans Serif"/>
              <a:cs typeface="Microsoft Sans Serif"/>
            </a:endParaRPr>
          </a:p>
          <a:p>
            <a:pPr marL="1306195">
              <a:lnSpc>
                <a:spcPct val="100000"/>
              </a:lnSpc>
              <a:spcBef>
                <a:spcPts val="690"/>
              </a:spcBef>
            </a:pPr>
            <a:r>
              <a:rPr dirty="0" sz="3300">
                <a:solidFill>
                  <a:srgbClr val="5C4828"/>
                </a:solidFill>
                <a:latin typeface="Microsoft Sans Serif"/>
                <a:cs typeface="Microsoft Sans Serif"/>
              </a:rPr>
              <a:t>Data</a:t>
            </a:r>
            <a:r>
              <a:rPr dirty="0" sz="3300" spc="35">
                <a:solidFill>
                  <a:srgbClr val="5C4828"/>
                </a:solidFill>
                <a:latin typeface="Microsoft Sans Serif"/>
                <a:cs typeface="Microsoft Sans Serif"/>
              </a:rPr>
              <a:t> </a:t>
            </a:r>
            <a:r>
              <a:rPr dirty="0" sz="3300" spc="-10">
                <a:solidFill>
                  <a:srgbClr val="5C4828"/>
                </a:solidFill>
                <a:latin typeface="Microsoft Sans Serif"/>
                <a:cs typeface="Microsoft Sans Serif"/>
              </a:rPr>
              <a:t>Preprocessing</a:t>
            </a:r>
            <a:endParaRPr sz="3300">
              <a:latin typeface="Microsoft Sans Serif"/>
              <a:cs typeface="Microsoft Sans Serif"/>
            </a:endParaRPr>
          </a:p>
          <a:p>
            <a:pPr marL="2834640">
              <a:lnSpc>
                <a:spcPct val="100000"/>
              </a:lnSpc>
              <a:spcBef>
                <a:spcPts val="690"/>
              </a:spcBef>
            </a:pPr>
            <a:r>
              <a:rPr dirty="0" sz="3300" spc="-50">
                <a:solidFill>
                  <a:srgbClr val="5C4828"/>
                </a:solidFill>
                <a:latin typeface="Microsoft Sans Serif"/>
                <a:cs typeface="Microsoft Sans Serif"/>
              </a:rPr>
              <a:t>↓</a:t>
            </a:r>
            <a:endParaRPr sz="3300">
              <a:latin typeface="Microsoft Sans Serif"/>
              <a:cs typeface="Microsoft Sans Serif"/>
            </a:endParaRPr>
          </a:p>
          <a:p>
            <a:pPr marL="835660">
              <a:lnSpc>
                <a:spcPct val="100000"/>
              </a:lnSpc>
              <a:spcBef>
                <a:spcPts val="690"/>
              </a:spcBef>
            </a:pPr>
            <a:r>
              <a:rPr dirty="0" sz="3300">
                <a:solidFill>
                  <a:srgbClr val="5C4828"/>
                </a:solidFill>
                <a:latin typeface="Microsoft Sans Serif"/>
                <a:cs typeface="Microsoft Sans Serif"/>
              </a:rPr>
              <a:t>Exploratory</a:t>
            </a:r>
            <a:r>
              <a:rPr dirty="0" sz="3300" spc="40">
                <a:solidFill>
                  <a:srgbClr val="5C4828"/>
                </a:solidFill>
                <a:latin typeface="Microsoft Sans Serif"/>
                <a:cs typeface="Microsoft Sans Serif"/>
              </a:rPr>
              <a:t> </a:t>
            </a:r>
            <a:r>
              <a:rPr dirty="0" sz="3300">
                <a:solidFill>
                  <a:srgbClr val="5C4828"/>
                </a:solidFill>
                <a:latin typeface="Microsoft Sans Serif"/>
                <a:cs typeface="Microsoft Sans Serif"/>
              </a:rPr>
              <a:t>Data</a:t>
            </a:r>
            <a:r>
              <a:rPr dirty="0" sz="3300" spc="45">
                <a:solidFill>
                  <a:srgbClr val="5C4828"/>
                </a:solidFill>
                <a:latin typeface="Microsoft Sans Serif"/>
                <a:cs typeface="Microsoft Sans Serif"/>
              </a:rPr>
              <a:t> </a:t>
            </a:r>
            <a:r>
              <a:rPr dirty="0" sz="3300" spc="-10">
                <a:solidFill>
                  <a:srgbClr val="5C4828"/>
                </a:solidFill>
                <a:latin typeface="Microsoft Sans Serif"/>
                <a:cs typeface="Microsoft Sans Serif"/>
              </a:rPr>
              <a:t>Analysis</a:t>
            </a:r>
            <a:endParaRPr sz="3300">
              <a:latin typeface="Microsoft Sans Serif"/>
              <a:cs typeface="Microsoft Sans Serif"/>
            </a:endParaRPr>
          </a:p>
          <a:p>
            <a:pPr marL="1894205" marR="2052320" indent="940435">
              <a:lnSpc>
                <a:spcPct val="117400"/>
              </a:lnSpc>
              <a:spcBef>
                <a:spcPts val="5"/>
              </a:spcBef>
            </a:pPr>
            <a:r>
              <a:rPr dirty="0" sz="3300" spc="-50">
                <a:solidFill>
                  <a:srgbClr val="5C4828"/>
                </a:solidFill>
                <a:latin typeface="Microsoft Sans Serif"/>
                <a:cs typeface="Microsoft Sans Serif"/>
              </a:rPr>
              <a:t>↓ </a:t>
            </a:r>
            <a:r>
              <a:rPr dirty="0" sz="3300" spc="-10">
                <a:solidFill>
                  <a:srgbClr val="5C4828"/>
                </a:solidFill>
                <a:latin typeface="Microsoft Sans Serif"/>
                <a:cs typeface="Microsoft Sans Serif"/>
              </a:rPr>
              <a:t>Visualization</a:t>
            </a:r>
            <a:endParaRPr sz="3300">
              <a:latin typeface="Microsoft Sans Serif"/>
              <a:cs typeface="Microsoft Sans Serif"/>
            </a:endParaRPr>
          </a:p>
          <a:p>
            <a:pPr marL="2364740" marR="2499360" indent="469900">
              <a:lnSpc>
                <a:spcPct val="117400"/>
              </a:lnSpc>
            </a:pPr>
            <a:r>
              <a:rPr dirty="0" sz="3300" spc="-50">
                <a:solidFill>
                  <a:srgbClr val="5C4828"/>
                </a:solidFill>
                <a:latin typeface="Microsoft Sans Serif"/>
                <a:cs typeface="Microsoft Sans Serif"/>
              </a:rPr>
              <a:t>↓ </a:t>
            </a:r>
            <a:r>
              <a:rPr dirty="0" sz="3300" spc="-10">
                <a:solidFill>
                  <a:srgbClr val="5C4828"/>
                </a:solidFill>
                <a:latin typeface="Microsoft Sans Serif"/>
                <a:cs typeface="Microsoft Sans Serif"/>
              </a:rPr>
              <a:t>Insights</a:t>
            </a:r>
            <a:endParaRPr sz="3300">
              <a:latin typeface="Microsoft Sans Serif"/>
              <a:cs typeface="Microsoft Sans Serif"/>
            </a:endParaRPr>
          </a:p>
          <a:p>
            <a:pPr marL="2834640">
              <a:lnSpc>
                <a:spcPct val="100000"/>
              </a:lnSpc>
              <a:spcBef>
                <a:spcPts val="690"/>
              </a:spcBef>
            </a:pPr>
            <a:r>
              <a:rPr dirty="0" sz="3300" spc="-50">
                <a:solidFill>
                  <a:srgbClr val="5C4828"/>
                </a:solidFill>
                <a:latin typeface="Microsoft Sans Serif"/>
                <a:cs typeface="Microsoft Sans Serif"/>
              </a:rPr>
              <a:t>↓</a:t>
            </a:r>
            <a:endParaRPr sz="3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dirty="0" sz="3300">
                <a:solidFill>
                  <a:srgbClr val="5C4828"/>
                </a:solidFill>
                <a:latin typeface="Microsoft Sans Serif"/>
                <a:cs typeface="Microsoft Sans Serif"/>
              </a:rPr>
              <a:t>Machine</a:t>
            </a:r>
            <a:r>
              <a:rPr dirty="0" sz="3300" spc="20">
                <a:solidFill>
                  <a:srgbClr val="5C4828"/>
                </a:solidFill>
                <a:latin typeface="Microsoft Sans Serif"/>
                <a:cs typeface="Microsoft Sans Serif"/>
              </a:rPr>
              <a:t> </a:t>
            </a:r>
            <a:r>
              <a:rPr dirty="0" sz="3300">
                <a:solidFill>
                  <a:srgbClr val="5C4828"/>
                </a:solidFill>
                <a:latin typeface="Microsoft Sans Serif"/>
                <a:cs typeface="Microsoft Sans Serif"/>
              </a:rPr>
              <a:t>Learning</a:t>
            </a:r>
            <a:r>
              <a:rPr dirty="0" sz="3300" spc="20">
                <a:solidFill>
                  <a:srgbClr val="5C4828"/>
                </a:solidFill>
                <a:latin typeface="Microsoft Sans Serif"/>
                <a:cs typeface="Microsoft Sans Serif"/>
              </a:rPr>
              <a:t> </a:t>
            </a:r>
            <a:r>
              <a:rPr dirty="0" sz="3300">
                <a:solidFill>
                  <a:srgbClr val="5C4828"/>
                </a:solidFill>
                <a:latin typeface="Microsoft Sans Serif"/>
                <a:cs typeface="Microsoft Sans Serif"/>
              </a:rPr>
              <a:t>(Future</a:t>
            </a:r>
            <a:r>
              <a:rPr dirty="0" sz="3300" spc="25">
                <a:solidFill>
                  <a:srgbClr val="5C4828"/>
                </a:solidFill>
                <a:latin typeface="Microsoft Sans Serif"/>
                <a:cs typeface="Microsoft Sans Serif"/>
              </a:rPr>
              <a:t> </a:t>
            </a:r>
            <a:r>
              <a:rPr dirty="0" sz="3300" spc="-10">
                <a:solidFill>
                  <a:srgbClr val="5C4828"/>
                </a:solidFill>
                <a:latin typeface="Microsoft Sans Serif"/>
                <a:cs typeface="Microsoft Sans Serif"/>
              </a:rPr>
              <a:t>Phase)</a:t>
            </a:r>
            <a:endParaRPr sz="3300">
              <a:latin typeface="Microsoft Sans Serif"/>
              <a:cs typeface="Microsoft Sans Serif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1016148" y="962088"/>
            <a:ext cx="4015740" cy="8788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Methodology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16028" y="7639600"/>
            <a:ext cx="2571971" cy="26473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51346" y="0"/>
            <a:ext cx="2603179" cy="1949185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236102" y="974090"/>
            <a:ext cx="12607925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/>
              <a:t>Data</a:t>
            </a:r>
            <a:r>
              <a:rPr dirty="0" sz="4800" spc="-65"/>
              <a:t> </a:t>
            </a:r>
            <a:r>
              <a:rPr dirty="0" sz="4800" spc="-10"/>
              <a:t>Understanding</a:t>
            </a:r>
            <a:r>
              <a:rPr dirty="0" sz="4800" spc="-40"/>
              <a:t> </a:t>
            </a:r>
            <a:r>
              <a:rPr dirty="0" sz="4800"/>
              <a:t>&amp;</a:t>
            </a:r>
            <a:r>
              <a:rPr dirty="0" sz="4800" spc="-45"/>
              <a:t> </a:t>
            </a:r>
            <a:r>
              <a:rPr dirty="0" sz="4800"/>
              <a:t>Data</a:t>
            </a:r>
            <a:r>
              <a:rPr dirty="0" sz="4800" spc="-40"/>
              <a:t> </a:t>
            </a:r>
            <a:r>
              <a:rPr dirty="0" sz="4800" spc="-25"/>
              <a:t>Quality</a:t>
            </a:r>
            <a:r>
              <a:rPr dirty="0" sz="4800" spc="-275"/>
              <a:t> </a:t>
            </a:r>
            <a:r>
              <a:rPr dirty="0" sz="4800" spc="-10"/>
              <a:t>Assessment</a:t>
            </a:r>
            <a:endParaRPr sz="4800"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33197" y="2549912"/>
            <a:ext cx="133350" cy="1333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33197" y="3140462"/>
            <a:ext cx="133350" cy="1333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333197" y="3731012"/>
            <a:ext cx="133350" cy="1333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333197" y="4321562"/>
            <a:ext cx="133350" cy="13334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333197" y="5502662"/>
            <a:ext cx="133350" cy="13334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333197" y="6093212"/>
            <a:ext cx="133350" cy="13334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333197" y="6683761"/>
            <a:ext cx="133350" cy="13334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333197" y="7274311"/>
            <a:ext cx="133350" cy="133349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920447" y="1632185"/>
            <a:ext cx="11070590" cy="6521450"/>
          </a:xfrm>
          <a:prstGeom prst="rect">
            <a:avLst/>
          </a:prstGeom>
        </p:spPr>
        <p:txBody>
          <a:bodyPr wrap="square" lIns="0" tIns="920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dirty="0" sz="3350" b="1">
                <a:solidFill>
                  <a:srgbClr val="5C4828"/>
                </a:solidFill>
                <a:latin typeface="Times New Roman"/>
                <a:cs typeface="Times New Roman"/>
              </a:rPr>
              <a:t>Data</a:t>
            </a:r>
            <a:r>
              <a:rPr dirty="0" sz="3350" spc="-25" b="1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350" spc="-10" b="1">
                <a:solidFill>
                  <a:srgbClr val="5C4828"/>
                </a:solidFill>
                <a:latin typeface="Times New Roman"/>
                <a:cs typeface="Times New Roman"/>
              </a:rPr>
              <a:t>Understanding:</a:t>
            </a:r>
            <a:endParaRPr sz="3350">
              <a:latin typeface="Times New Roman"/>
              <a:cs typeface="Times New Roman"/>
            </a:endParaRPr>
          </a:p>
          <a:p>
            <a:pPr marL="739775">
              <a:lnSpc>
                <a:spcPct val="100000"/>
              </a:lnSpc>
              <a:spcBef>
                <a:spcPts val="630"/>
              </a:spcBef>
            </a:pPr>
            <a:r>
              <a:rPr dirty="0" sz="3350">
                <a:solidFill>
                  <a:srgbClr val="5C4828"/>
                </a:solidFill>
                <a:latin typeface="Microsoft Sans Serif"/>
                <a:cs typeface="Microsoft Sans Serif"/>
              </a:rPr>
              <a:t>Loaded</a:t>
            </a:r>
            <a:r>
              <a:rPr dirty="0" sz="3350" spc="15">
                <a:solidFill>
                  <a:srgbClr val="5C4828"/>
                </a:solidFill>
                <a:latin typeface="Microsoft Sans Serif"/>
                <a:cs typeface="Microsoft Sans Serif"/>
              </a:rPr>
              <a:t> </a:t>
            </a:r>
            <a:r>
              <a:rPr dirty="0" sz="3350">
                <a:solidFill>
                  <a:srgbClr val="5C4828"/>
                </a:solidFill>
                <a:latin typeface="Microsoft Sans Serif"/>
                <a:cs typeface="Microsoft Sans Serif"/>
              </a:rPr>
              <a:t>the</a:t>
            </a:r>
            <a:r>
              <a:rPr dirty="0" sz="3350" spc="30">
                <a:solidFill>
                  <a:srgbClr val="5C4828"/>
                </a:solidFill>
                <a:latin typeface="Microsoft Sans Serif"/>
                <a:cs typeface="Microsoft Sans Serif"/>
              </a:rPr>
              <a:t> </a:t>
            </a:r>
            <a:r>
              <a:rPr dirty="0" sz="3350">
                <a:solidFill>
                  <a:srgbClr val="5C4828"/>
                </a:solidFill>
                <a:latin typeface="Microsoft Sans Serif"/>
                <a:cs typeface="Microsoft Sans Serif"/>
              </a:rPr>
              <a:t>dataset</a:t>
            </a:r>
            <a:r>
              <a:rPr dirty="0" sz="3350" spc="25">
                <a:solidFill>
                  <a:srgbClr val="5C4828"/>
                </a:solidFill>
                <a:latin typeface="Microsoft Sans Serif"/>
                <a:cs typeface="Microsoft Sans Serif"/>
              </a:rPr>
              <a:t> </a:t>
            </a:r>
            <a:r>
              <a:rPr dirty="0" sz="3350">
                <a:solidFill>
                  <a:srgbClr val="5C4828"/>
                </a:solidFill>
                <a:latin typeface="Microsoft Sans Serif"/>
                <a:cs typeface="Microsoft Sans Serif"/>
              </a:rPr>
              <a:t>using</a:t>
            </a:r>
            <a:r>
              <a:rPr dirty="0" sz="3350" spc="30">
                <a:solidFill>
                  <a:srgbClr val="5C4828"/>
                </a:solidFill>
                <a:latin typeface="Microsoft Sans Serif"/>
                <a:cs typeface="Microsoft Sans Serif"/>
              </a:rPr>
              <a:t> </a:t>
            </a:r>
            <a:r>
              <a:rPr dirty="0" sz="3350" spc="-10">
                <a:solidFill>
                  <a:srgbClr val="5C4828"/>
                </a:solidFill>
                <a:latin typeface="Microsoft Sans Serif"/>
                <a:cs typeface="Microsoft Sans Serif"/>
              </a:rPr>
              <a:t>Pandas.</a:t>
            </a:r>
            <a:endParaRPr sz="3350">
              <a:latin typeface="Microsoft Sans Serif"/>
              <a:cs typeface="Microsoft Sans Serif"/>
            </a:endParaRPr>
          </a:p>
          <a:p>
            <a:pPr marL="739775" marR="646430">
              <a:lnSpc>
                <a:spcPts val="4650"/>
              </a:lnSpc>
              <a:spcBef>
                <a:spcPts val="260"/>
              </a:spcBef>
            </a:pPr>
            <a:r>
              <a:rPr dirty="0" sz="3350">
                <a:solidFill>
                  <a:srgbClr val="5C4828"/>
                </a:solidFill>
                <a:latin typeface="Microsoft Sans Serif"/>
                <a:cs typeface="Microsoft Sans Serif"/>
              </a:rPr>
              <a:t>Examined dataset</a:t>
            </a:r>
            <a:r>
              <a:rPr dirty="0" sz="3350" spc="15">
                <a:solidFill>
                  <a:srgbClr val="5C4828"/>
                </a:solidFill>
                <a:latin typeface="Microsoft Sans Serif"/>
                <a:cs typeface="Microsoft Sans Serif"/>
              </a:rPr>
              <a:t> </a:t>
            </a:r>
            <a:r>
              <a:rPr dirty="0" sz="3350">
                <a:solidFill>
                  <a:srgbClr val="5C4828"/>
                </a:solidFill>
                <a:latin typeface="Microsoft Sans Serif"/>
                <a:cs typeface="Microsoft Sans Serif"/>
              </a:rPr>
              <a:t>dimensions</a:t>
            </a:r>
            <a:r>
              <a:rPr dirty="0" sz="3350" spc="10">
                <a:solidFill>
                  <a:srgbClr val="5C4828"/>
                </a:solidFill>
                <a:latin typeface="Microsoft Sans Serif"/>
                <a:cs typeface="Microsoft Sans Serif"/>
              </a:rPr>
              <a:t> </a:t>
            </a:r>
            <a:r>
              <a:rPr dirty="0" sz="3350">
                <a:solidFill>
                  <a:srgbClr val="5C4828"/>
                </a:solidFill>
                <a:latin typeface="Microsoft Sans Serif"/>
                <a:cs typeface="Microsoft Sans Serif"/>
              </a:rPr>
              <a:t>(rows</a:t>
            </a:r>
            <a:r>
              <a:rPr dirty="0" sz="3350" spc="10">
                <a:solidFill>
                  <a:srgbClr val="5C4828"/>
                </a:solidFill>
                <a:latin typeface="Microsoft Sans Serif"/>
                <a:cs typeface="Microsoft Sans Serif"/>
              </a:rPr>
              <a:t> </a:t>
            </a:r>
            <a:r>
              <a:rPr dirty="0" sz="3350">
                <a:solidFill>
                  <a:srgbClr val="5C4828"/>
                </a:solidFill>
                <a:latin typeface="Microsoft Sans Serif"/>
                <a:cs typeface="Microsoft Sans Serif"/>
              </a:rPr>
              <a:t>and</a:t>
            </a:r>
            <a:r>
              <a:rPr dirty="0" sz="3350" spc="15">
                <a:solidFill>
                  <a:srgbClr val="5C4828"/>
                </a:solidFill>
                <a:latin typeface="Microsoft Sans Serif"/>
                <a:cs typeface="Microsoft Sans Serif"/>
              </a:rPr>
              <a:t> </a:t>
            </a:r>
            <a:r>
              <a:rPr dirty="0" sz="3350" spc="-10">
                <a:solidFill>
                  <a:srgbClr val="5C4828"/>
                </a:solidFill>
                <a:latin typeface="Microsoft Sans Serif"/>
                <a:cs typeface="Microsoft Sans Serif"/>
              </a:rPr>
              <a:t>columns). </a:t>
            </a:r>
            <a:r>
              <a:rPr dirty="0" sz="3350">
                <a:solidFill>
                  <a:srgbClr val="5C4828"/>
                </a:solidFill>
                <a:latin typeface="Microsoft Sans Serif"/>
                <a:cs typeface="Microsoft Sans Serif"/>
              </a:rPr>
              <a:t>Reviewed</a:t>
            </a:r>
            <a:r>
              <a:rPr dirty="0" sz="3350" spc="10">
                <a:solidFill>
                  <a:srgbClr val="5C4828"/>
                </a:solidFill>
                <a:latin typeface="Microsoft Sans Serif"/>
                <a:cs typeface="Microsoft Sans Serif"/>
              </a:rPr>
              <a:t> </a:t>
            </a:r>
            <a:r>
              <a:rPr dirty="0" sz="3350">
                <a:solidFill>
                  <a:srgbClr val="5C4828"/>
                </a:solidFill>
                <a:latin typeface="Microsoft Sans Serif"/>
                <a:cs typeface="Microsoft Sans Serif"/>
              </a:rPr>
              <a:t>column</a:t>
            </a:r>
            <a:r>
              <a:rPr dirty="0" sz="3350" spc="20">
                <a:solidFill>
                  <a:srgbClr val="5C4828"/>
                </a:solidFill>
                <a:latin typeface="Microsoft Sans Serif"/>
                <a:cs typeface="Microsoft Sans Serif"/>
              </a:rPr>
              <a:t> </a:t>
            </a:r>
            <a:r>
              <a:rPr dirty="0" sz="3350">
                <a:solidFill>
                  <a:srgbClr val="5C4828"/>
                </a:solidFill>
                <a:latin typeface="Microsoft Sans Serif"/>
                <a:cs typeface="Microsoft Sans Serif"/>
              </a:rPr>
              <a:t>names</a:t>
            </a:r>
            <a:r>
              <a:rPr dirty="0" sz="3350" spc="20">
                <a:solidFill>
                  <a:srgbClr val="5C4828"/>
                </a:solidFill>
                <a:latin typeface="Microsoft Sans Serif"/>
                <a:cs typeface="Microsoft Sans Serif"/>
              </a:rPr>
              <a:t> </a:t>
            </a:r>
            <a:r>
              <a:rPr dirty="0" sz="3350">
                <a:solidFill>
                  <a:srgbClr val="5C4828"/>
                </a:solidFill>
                <a:latin typeface="Microsoft Sans Serif"/>
                <a:cs typeface="Microsoft Sans Serif"/>
              </a:rPr>
              <a:t>and</a:t>
            </a:r>
            <a:r>
              <a:rPr dirty="0" sz="3350" spc="20">
                <a:solidFill>
                  <a:srgbClr val="5C4828"/>
                </a:solidFill>
                <a:latin typeface="Microsoft Sans Serif"/>
                <a:cs typeface="Microsoft Sans Serif"/>
              </a:rPr>
              <a:t> </a:t>
            </a:r>
            <a:r>
              <a:rPr dirty="0" sz="3350">
                <a:solidFill>
                  <a:srgbClr val="5C4828"/>
                </a:solidFill>
                <a:latin typeface="Microsoft Sans Serif"/>
                <a:cs typeface="Microsoft Sans Serif"/>
              </a:rPr>
              <a:t>data</a:t>
            </a:r>
            <a:r>
              <a:rPr dirty="0" sz="3350" spc="20">
                <a:solidFill>
                  <a:srgbClr val="5C4828"/>
                </a:solidFill>
                <a:latin typeface="Microsoft Sans Serif"/>
                <a:cs typeface="Microsoft Sans Serif"/>
              </a:rPr>
              <a:t> </a:t>
            </a:r>
            <a:r>
              <a:rPr dirty="0" sz="3350" spc="-10">
                <a:solidFill>
                  <a:srgbClr val="5C4828"/>
                </a:solidFill>
                <a:latin typeface="Microsoft Sans Serif"/>
                <a:cs typeface="Microsoft Sans Serif"/>
              </a:rPr>
              <a:t>types.</a:t>
            </a:r>
            <a:endParaRPr sz="3350">
              <a:latin typeface="Microsoft Sans Serif"/>
              <a:cs typeface="Microsoft Sans Serif"/>
            </a:endParaRPr>
          </a:p>
          <a:p>
            <a:pPr marL="739775">
              <a:lnSpc>
                <a:spcPct val="100000"/>
              </a:lnSpc>
              <a:spcBef>
                <a:spcPts val="370"/>
              </a:spcBef>
            </a:pPr>
            <a:r>
              <a:rPr dirty="0" sz="3350">
                <a:solidFill>
                  <a:srgbClr val="5C4828"/>
                </a:solidFill>
                <a:latin typeface="Microsoft Sans Serif"/>
                <a:cs typeface="Microsoft Sans Serif"/>
              </a:rPr>
              <a:t>Generated descriptive statistics for</a:t>
            </a:r>
            <a:r>
              <a:rPr dirty="0" sz="3350" spc="5">
                <a:solidFill>
                  <a:srgbClr val="5C4828"/>
                </a:solidFill>
                <a:latin typeface="Microsoft Sans Serif"/>
                <a:cs typeface="Microsoft Sans Serif"/>
              </a:rPr>
              <a:t> </a:t>
            </a:r>
            <a:r>
              <a:rPr dirty="0" sz="3350">
                <a:solidFill>
                  <a:srgbClr val="5C4828"/>
                </a:solidFill>
                <a:latin typeface="Microsoft Sans Serif"/>
                <a:cs typeface="Microsoft Sans Serif"/>
              </a:rPr>
              <a:t>numerical</a:t>
            </a:r>
            <a:r>
              <a:rPr dirty="0" sz="3350" spc="-5">
                <a:solidFill>
                  <a:srgbClr val="5C4828"/>
                </a:solidFill>
                <a:latin typeface="Microsoft Sans Serif"/>
                <a:cs typeface="Microsoft Sans Serif"/>
              </a:rPr>
              <a:t> </a:t>
            </a:r>
            <a:r>
              <a:rPr dirty="0" sz="3350" spc="-10">
                <a:solidFill>
                  <a:srgbClr val="5C4828"/>
                </a:solidFill>
                <a:latin typeface="Microsoft Sans Serif"/>
                <a:cs typeface="Microsoft Sans Serif"/>
              </a:rPr>
              <a:t>features.</a:t>
            </a:r>
            <a:endParaRPr sz="3350">
              <a:latin typeface="Microsoft Sans Serif"/>
              <a:cs typeface="Microsoft Sans Serif"/>
            </a:endParaRPr>
          </a:p>
          <a:p>
            <a:pPr marL="739775" marR="4973320" indent="-727710">
              <a:lnSpc>
                <a:spcPts val="4650"/>
              </a:lnSpc>
              <a:spcBef>
                <a:spcPts val="260"/>
              </a:spcBef>
            </a:pPr>
            <a:r>
              <a:rPr dirty="0" sz="3350" b="1">
                <a:solidFill>
                  <a:srgbClr val="5C4828"/>
                </a:solidFill>
                <a:latin typeface="Arial"/>
                <a:cs typeface="Arial"/>
              </a:rPr>
              <a:t>Data</a:t>
            </a:r>
            <a:r>
              <a:rPr dirty="0" sz="3350" spc="-15" b="1">
                <a:solidFill>
                  <a:srgbClr val="5C4828"/>
                </a:solidFill>
                <a:latin typeface="Arial"/>
                <a:cs typeface="Arial"/>
              </a:rPr>
              <a:t> </a:t>
            </a:r>
            <a:r>
              <a:rPr dirty="0" sz="3350" b="1">
                <a:solidFill>
                  <a:srgbClr val="5C4828"/>
                </a:solidFill>
                <a:latin typeface="Arial"/>
                <a:cs typeface="Arial"/>
              </a:rPr>
              <a:t>Quality</a:t>
            </a:r>
            <a:r>
              <a:rPr dirty="0" sz="3350" spc="-15" b="1">
                <a:solidFill>
                  <a:srgbClr val="5C4828"/>
                </a:solidFill>
                <a:latin typeface="Arial"/>
                <a:cs typeface="Arial"/>
              </a:rPr>
              <a:t> </a:t>
            </a:r>
            <a:r>
              <a:rPr dirty="0" sz="3350" spc="-10" b="1">
                <a:solidFill>
                  <a:srgbClr val="5C4828"/>
                </a:solidFill>
                <a:latin typeface="Arial"/>
                <a:cs typeface="Arial"/>
              </a:rPr>
              <a:t>Assessment: </a:t>
            </a:r>
            <a:r>
              <a:rPr dirty="0" sz="3350">
                <a:solidFill>
                  <a:srgbClr val="5C4828"/>
                </a:solidFill>
                <a:latin typeface="Microsoft Sans Serif"/>
                <a:cs typeface="Microsoft Sans Serif"/>
              </a:rPr>
              <a:t>Checked</a:t>
            </a:r>
            <a:r>
              <a:rPr dirty="0" sz="3350" spc="5">
                <a:solidFill>
                  <a:srgbClr val="5C4828"/>
                </a:solidFill>
                <a:latin typeface="Microsoft Sans Serif"/>
                <a:cs typeface="Microsoft Sans Serif"/>
              </a:rPr>
              <a:t> </a:t>
            </a:r>
            <a:r>
              <a:rPr dirty="0" sz="3350">
                <a:solidFill>
                  <a:srgbClr val="5C4828"/>
                </a:solidFill>
                <a:latin typeface="Microsoft Sans Serif"/>
                <a:cs typeface="Microsoft Sans Serif"/>
              </a:rPr>
              <a:t>for</a:t>
            </a:r>
            <a:r>
              <a:rPr dirty="0" sz="3350" spc="15">
                <a:solidFill>
                  <a:srgbClr val="5C4828"/>
                </a:solidFill>
                <a:latin typeface="Microsoft Sans Serif"/>
                <a:cs typeface="Microsoft Sans Serif"/>
              </a:rPr>
              <a:t> </a:t>
            </a:r>
            <a:r>
              <a:rPr dirty="0" sz="3350">
                <a:solidFill>
                  <a:srgbClr val="5C4828"/>
                </a:solidFill>
                <a:latin typeface="Microsoft Sans Serif"/>
                <a:cs typeface="Microsoft Sans Serif"/>
              </a:rPr>
              <a:t>missing</a:t>
            </a:r>
            <a:r>
              <a:rPr dirty="0" sz="3350" spc="15">
                <a:solidFill>
                  <a:srgbClr val="5C4828"/>
                </a:solidFill>
                <a:latin typeface="Microsoft Sans Serif"/>
                <a:cs typeface="Microsoft Sans Serif"/>
              </a:rPr>
              <a:t> </a:t>
            </a:r>
            <a:r>
              <a:rPr dirty="0" sz="3350" spc="-10">
                <a:solidFill>
                  <a:srgbClr val="5C4828"/>
                </a:solidFill>
                <a:latin typeface="Microsoft Sans Serif"/>
                <a:cs typeface="Microsoft Sans Serif"/>
              </a:rPr>
              <a:t>values. </a:t>
            </a:r>
            <a:r>
              <a:rPr dirty="0" sz="3350">
                <a:solidFill>
                  <a:srgbClr val="5C4828"/>
                </a:solidFill>
                <a:latin typeface="Microsoft Sans Serif"/>
                <a:cs typeface="Microsoft Sans Serif"/>
              </a:rPr>
              <a:t>Identified</a:t>
            </a:r>
            <a:r>
              <a:rPr dirty="0" sz="3350" spc="-10">
                <a:solidFill>
                  <a:srgbClr val="5C4828"/>
                </a:solidFill>
                <a:latin typeface="Microsoft Sans Serif"/>
                <a:cs typeface="Microsoft Sans Serif"/>
              </a:rPr>
              <a:t> </a:t>
            </a:r>
            <a:r>
              <a:rPr dirty="0" sz="3350">
                <a:solidFill>
                  <a:srgbClr val="5C4828"/>
                </a:solidFill>
                <a:latin typeface="Microsoft Sans Serif"/>
                <a:cs typeface="Microsoft Sans Serif"/>
              </a:rPr>
              <a:t>duplicate</a:t>
            </a:r>
            <a:r>
              <a:rPr dirty="0" sz="3350" spc="-10">
                <a:solidFill>
                  <a:srgbClr val="5C4828"/>
                </a:solidFill>
                <a:latin typeface="Microsoft Sans Serif"/>
                <a:cs typeface="Microsoft Sans Serif"/>
              </a:rPr>
              <a:t> records. </a:t>
            </a:r>
            <a:r>
              <a:rPr dirty="0" sz="3350">
                <a:solidFill>
                  <a:srgbClr val="5C4828"/>
                </a:solidFill>
                <a:latin typeface="Microsoft Sans Serif"/>
                <a:cs typeface="Microsoft Sans Serif"/>
              </a:rPr>
              <a:t>Examined</a:t>
            </a:r>
            <a:r>
              <a:rPr dirty="0" sz="3350" spc="5">
                <a:solidFill>
                  <a:srgbClr val="5C4828"/>
                </a:solidFill>
                <a:latin typeface="Microsoft Sans Serif"/>
                <a:cs typeface="Microsoft Sans Serif"/>
              </a:rPr>
              <a:t> </a:t>
            </a:r>
            <a:r>
              <a:rPr dirty="0" sz="3350">
                <a:solidFill>
                  <a:srgbClr val="5C4828"/>
                </a:solidFill>
                <a:latin typeface="Microsoft Sans Serif"/>
                <a:cs typeface="Microsoft Sans Serif"/>
              </a:rPr>
              <a:t>data</a:t>
            </a:r>
            <a:r>
              <a:rPr dirty="0" sz="3350" spc="20">
                <a:solidFill>
                  <a:srgbClr val="5C4828"/>
                </a:solidFill>
                <a:latin typeface="Microsoft Sans Serif"/>
                <a:cs typeface="Microsoft Sans Serif"/>
              </a:rPr>
              <a:t> </a:t>
            </a:r>
            <a:r>
              <a:rPr dirty="0" sz="3350" spc="-10">
                <a:solidFill>
                  <a:srgbClr val="5C4828"/>
                </a:solidFill>
                <a:latin typeface="Microsoft Sans Serif"/>
                <a:cs typeface="Microsoft Sans Serif"/>
              </a:rPr>
              <a:t>consistency.</a:t>
            </a:r>
            <a:endParaRPr sz="3350">
              <a:latin typeface="Microsoft Sans Serif"/>
              <a:cs typeface="Microsoft Sans Serif"/>
            </a:endParaRPr>
          </a:p>
          <a:p>
            <a:pPr marL="739775">
              <a:lnSpc>
                <a:spcPct val="100000"/>
              </a:lnSpc>
              <a:spcBef>
                <a:spcPts val="370"/>
              </a:spcBef>
            </a:pPr>
            <a:r>
              <a:rPr dirty="0" sz="3350">
                <a:solidFill>
                  <a:srgbClr val="5C4828"/>
                </a:solidFill>
                <a:latin typeface="Microsoft Sans Serif"/>
                <a:cs typeface="Microsoft Sans Serif"/>
              </a:rPr>
              <a:t>Verified</a:t>
            </a:r>
            <a:r>
              <a:rPr dirty="0" sz="3350" spc="-10">
                <a:solidFill>
                  <a:srgbClr val="5C4828"/>
                </a:solidFill>
                <a:latin typeface="Microsoft Sans Serif"/>
                <a:cs typeface="Microsoft Sans Serif"/>
              </a:rPr>
              <a:t> </a:t>
            </a:r>
            <a:r>
              <a:rPr dirty="0" sz="3350">
                <a:solidFill>
                  <a:srgbClr val="5C4828"/>
                </a:solidFill>
                <a:latin typeface="Microsoft Sans Serif"/>
                <a:cs typeface="Microsoft Sans Serif"/>
              </a:rPr>
              <a:t>feature</a:t>
            </a:r>
            <a:r>
              <a:rPr dirty="0" sz="3350" spc="5">
                <a:solidFill>
                  <a:srgbClr val="5C4828"/>
                </a:solidFill>
                <a:latin typeface="Microsoft Sans Serif"/>
                <a:cs typeface="Microsoft Sans Serif"/>
              </a:rPr>
              <a:t> </a:t>
            </a:r>
            <a:r>
              <a:rPr dirty="0" sz="3350">
                <a:solidFill>
                  <a:srgbClr val="5C4828"/>
                </a:solidFill>
                <a:latin typeface="Microsoft Sans Serif"/>
                <a:cs typeface="Microsoft Sans Serif"/>
              </a:rPr>
              <a:t>distributions before</a:t>
            </a:r>
            <a:r>
              <a:rPr dirty="0" sz="3350" spc="5">
                <a:solidFill>
                  <a:srgbClr val="5C4828"/>
                </a:solidFill>
                <a:latin typeface="Microsoft Sans Serif"/>
                <a:cs typeface="Microsoft Sans Serif"/>
              </a:rPr>
              <a:t> </a:t>
            </a:r>
            <a:r>
              <a:rPr dirty="0" sz="3350" spc="-10">
                <a:solidFill>
                  <a:srgbClr val="5C4828"/>
                </a:solidFill>
                <a:latin typeface="Microsoft Sans Serif"/>
                <a:cs typeface="Microsoft Sans Serif"/>
              </a:rPr>
              <a:t>preprocessing</a:t>
            </a:r>
            <a:endParaRPr sz="33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dirty="0" sz="3350" b="1">
                <a:solidFill>
                  <a:srgbClr val="5C4828"/>
                </a:solidFill>
                <a:latin typeface="Arial"/>
                <a:cs typeface="Arial"/>
              </a:rPr>
              <a:t>Some</a:t>
            </a:r>
            <a:r>
              <a:rPr dirty="0" sz="3350" spc="-25" b="1">
                <a:solidFill>
                  <a:srgbClr val="5C4828"/>
                </a:solidFill>
                <a:latin typeface="Arial"/>
                <a:cs typeface="Arial"/>
              </a:rPr>
              <a:t> </a:t>
            </a:r>
            <a:r>
              <a:rPr dirty="0" sz="3350" b="1">
                <a:solidFill>
                  <a:srgbClr val="5C4828"/>
                </a:solidFill>
                <a:latin typeface="Arial"/>
                <a:cs typeface="Arial"/>
              </a:rPr>
              <a:t>Key</a:t>
            </a:r>
            <a:r>
              <a:rPr dirty="0" sz="3350" spc="-10" b="1">
                <a:solidFill>
                  <a:srgbClr val="5C4828"/>
                </a:solidFill>
                <a:latin typeface="Arial"/>
                <a:cs typeface="Arial"/>
              </a:rPr>
              <a:t> Functions:</a:t>
            </a:r>
            <a:endParaRPr sz="3350">
              <a:latin typeface="Arial"/>
              <a:cs typeface="Arial"/>
            </a:endParaRPr>
          </a:p>
        </p:txBody>
      </p: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333197" y="8455411"/>
            <a:ext cx="133350" cy="13334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333197" y="9045961"/>
            <a:ext cx="133350" cy="133349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2647918" y="8128234"/>
            <a:ext cx="2402840" cy="12065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95"/>
              </a:spcBef>
            </a:pPr>
            <a:r>
              <a:rPr dirty="0" sz="3350" spc="-10">
                <a:solidFill>
                  <a:srgbClr val="5C4828"/>
                </a:solidFill>
                <a:latin typeface="Microsoft Sans Serif"/>
                <a:cs typeface="Microsoft Sans Serif"/>
                <a:hlinkClick r:id="rId8"/>
              </a:rPr>
              <a:t>df.info</a:t>
            </a:r>
            <a:r>
              <a:rPr dirty="0" sz="3350" spc="-10">
                <a:solidFill>
                  <a:srgbClr val="5C4828"/>
                </a:solidFill>
                <a:latin typeface="Microsoft Sans Serif"/>
                <a:cs typeface="Microsoft Sans Serif"/>
              </a:rPr>
              <a:t>() df.describe()</a:t>
            </a:r>
            <a:endParaRPr sz="3350">
              <a:latin typeface="Microsoft Sans Serif"/>
              <a:cs typeface="Microsoft Sans Serif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920447" y="9557422"/>
            <a:ext cx="184150" cy="1968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00" spc="-25">
                <a:solidFill>
                  <a:srgbClr val="5C4828"/>
                </a:solidFill>
                <a:latin typeface="Microsoft Sans Serif"/>
                <a:cs typeface="Microsoft Sans Serif"/>
              </a:rPr>
              <a:t>df.</a:t>
            </a:r>
            <a:endParaRPr sz="1100">
              <a:latin typeface="Microsoft Sans Serif"/>
              <a:cs typeface="Microsoft Sans Serif"/>
            </a:endParaRPr>
          </a:p>
        </p:txBody>
      </p:sp>
      <p:pic>
        <p:nvPicPr>
          <p:cNvPr id="18" name="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502711" y="8509680"/>
            <a:ext cx="133350" cy="133349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502711" y="9147855"/>
            <a:ext cx="133350" cy="133349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5819516" y="8150270"/>
            <a:ext cx="4218305" cy="1301750"/>
          </a:xfrm>
          <a:prstGeom prst="rect">
            <a:avLst/>
          </a:prstGeom>
        </p:spPr>
        <p:txBody>
          <a:bodyPr wrap="square" lIns="0" tIns="1022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dirty="0" sz="3600" spc="-10">
                <a:solidFill>
                  <a:srgbClr val="5C4828"/>
                </a:solidFill>
                <a:latin typeface="Times New Roman"/>
                <a:cs typeface="Times New Roman"/>
              </a:rPr>
              <a:t>df.isnull().sum()</a:t>
            </a:r>
            <a:endParaRPr sz="3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dirty="0" sz="3600" spc="-10">
                <a:solidFill>
                  <a:srgbClr val="5C4828"/>
                </a:solidFill>
                <a:latin typeface="Microsoft Sans Serif"/>
                <a:cs typeface="Microsoft Sans Serif"/>
              </a:rPr>
              <a:t>df.duplicated().sum()</a:t>
            </a:r>
            <a:endParaRPr sz="3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462145" y="4090082"/>
            <a:ext cx="3825875" cy="6196965"/>
          </a:xfrm>
          <a:custGeom>
            <a:avLst/>
            <a:gdLst/>
            <a:ahLst/>
            <a:cxnLst/>
            <a:rect l="l" t="t" r="r" b="b"/>
            <a:pathLst>
              <a:path w="3825875" h="6196965">
                <a:moveTo>
                  <a:pt x="0" y="6196916"/>
                </a:moveTo>
                <a:lnTo>
                  <a:pt x="33228" y="6139810"/>
                </a:lnTo>
                <a:lnTo>
                  <a:pt x="64937" y="6090387"/>
                </a:lnTo>
                <a:lnTo>
                  <a:pt x="99013" y="6041317"/>
                </a:lnTo>
                <a:lnTo>
                  <a:pt x="135388" y="5992516"/>
                </a:lnTo>
                <a:lnTo>
                  <a:pt x="173997" y="5943900"/>
                </a:lnTo>
                <a:lnTo>
                  <a:pt x="214773" y="5895384"/>
                </a:lnTo>
                <a:lnTo>
                  <a:pt x="257647" y="5846886"/>
                </a:lnTo>
                <a:lnTo>
                  <a:pt x="302555" y="5798321"/>
                </a:lnTo>
                <a:lnTo>
                  <a:pt x="349428" y="5749606"/>
                </a:lnTo>
                <a:lnTo>
                  <a:pt x="398199" y="5700656"/>
                </a:lnTo>
                <a:lnTo>
                  <a:pt x="448803" y="5651388"/>
                </a:lnTo>
                <a:lnTo>
                  <a:pt x="501172" y="5601718"/>
                </a:lnTo>
                <a:lnTo>
                  <a:pt x="555239" y="5551562"/>
                </a:lnTo>
                <a:lnTo>
                  <a:pt x="610937" y="5500837"/>
                </a:lnTo>
                <a:lnTo>
                  <a:pt x="639377" y="5475234"/>
                </a:lnTo>
                <a:lnTo>
                  <a:pt x="668200" y="5449457"/>
                </a:lnTo>
                <a:lnTo>
                  <a:pt x="697397" y="5423496"/>
                </a:lnTo>
                <a:lnTo>
                  <a:pt x="726961" y="5397341"/>
                </a:lnTo>
                <a:lnTo>
                  <a:pt x="756882" y="5370979"/>
                </a:lnTo>
                <a:lnTo>
                  <a:pt x="787152" y="5344402"/>
                </a:lnTo>
                <a:lnTo>
                  <a:pt x="1040887" y="5122760"/>
                </a:lnTo>
                <a:lnTo>
                  <a:pt x="1107228" y="5064457"/>
                </a:lnTo>
                <a:lnTo>
                  <a:pt x="1140789" y="5034814"/>
                </a:lnTo>
                <a:lnTo>
                  <a:pt x="1174600" y="5004830"/>
                </a:lnTo>
                <a:lnTo>
                  <a:pt x="1208650" y="4974494"/>
                </a:lnTo>
                <a:lnTo>
                  <a:pt x="1242934" y="4943795"/>
                </a:lnTo>
                <a:lnTo>
                  <a:pt x="1277441" y="4912723"/>
                </a:lnTo>
                <a:lnTo>
                  <a:pt x="1312163" y="4881267"/>
                </a:lnTo>
                <a:lnTo>
                  <a:pt x="1347093" y="4849418"/>
                </a:lnTo>
                <a:lnTo>
                  <a:pt x="1382222" y="4817164"/>
                </a:lnTo>
                <a:lnTo>
                  <a:pt x="1417541" y="4784495"/>
                </a:lnTo>
                <a:lnTo>
                  <a:pt x="1453043" y="4751401"/>
                </a:lnTo>
                <a:lnTo>
                  <a:pt x="1488718" y="4717870"/>
                </a:lnTo>
                <a:lnTo>
                  <a:pt x="1524558" y="4683894"/>
                </a:lnTo>
                <a:lnTo>
                  <a:pt x="1560556" y="4649460"/>
                </a:lnTo>
                <a:lnTo>
                  <a:pt x="1596703" y="4614559"/>
                </a:lnTo>
                <a:lnTo>
                  <a:pt x="1632989" y="4579180"/>
                </a:lnTo>
                <a:lnTo>
                  <a:pt x="1669408" y="4543313"/>
                </a:lnTo>
                <a:lnTo>
                  <a:pt x="1705951" y="4506947"/>
                </a:lnTo>
                <a:lnTo>
                  <a:pt x="1742608" y="4470072"/>
                </a:lnTo>
                <a:lnTo>
                  <a:pt x="1779373" y="4432677"/>
                </a:lnTo>
                <a:lnTo>
                  <a:pt x="1816236" y="4394752"/>
                </a:lnTo>
                <a:lnTo>
                  <a:pt x="1853189" y="4356286"/>
                </a:lnTo>
                <a:lnTo>
                  <a:pt x="1890225" y="4317268"/>
                </a:lnTo>
                <a:lnTo>
                  <a:pt x="1927333" y="4277689"/>
                </a:lnTo>
                <a:lnTo>
                  <a:pt x="1964507" y="4237538"/>
                </a:lnTo>
                <a:lnTo>
                  <a:pt x="2001738" y="4196805"/>
                </a:lnTo>
                <a:lnTo>
                  <a:pt x="2039017" y="4155478"/>
                </a:lnTo>
                <a:lnTo>
                  <a:pt x="2076336" y="4113547"/>
                </a:lnTo>
                <a:lnTo>
                  <a:pt x="2113687" y="4071002"/>
                </a:lnTo>
                <a:lnTo>
                  <a:pt x="2151061" y="4027833"/>
                </a:lnTo>
                <a:lnTo>
                  <a:pt x="2188450" y="3984029"/>
                </a:lnTo>
                <a:lnTo>
                  <a:pt x="2225846" y="3939579"/>
                </a:lnTo>
                <a:lnTo>
                  <a:pt x="2263240" y="3894473"/>
                </a:lnTo>
                <a:lnTo>
                  <a:pt x="2300623" y="3848701"/>
                </a:lnTo>
                <a:lnTo>
                  <a:pt x="2337989" y="3802251"/>
                </a:lnTo>
                <a:lnTo>
                  <a:pt x="2375327" y="3755114"/>
                </a:lnTo>
                <a:lnTo>
                  <a:pt x="2412631" y="3707279"/>
                </a:lnTo>
                <a:lnTo>
                  <a:pt x="2449891" y="3658736"/>
                </a:lnTo>
                <a:lnTo>
                  <a:pt x="2487099" y="3609474"/>
                </a:lnTo>
                <a:lnTo>
                  <a:pt x="2524246" y="3559482"/>
                </a:lnTo>
                <a:lnTo>
                  <a:pt x="2561326" y="3508751"/>
                </a:lnTo>
                <a:lnTo>
                  <a:pt x="2583337" y="3475935"/>
                </a:lnTo>
                <a:lnTo>
                  <a:pt x="2604574" y="3439546"/>
                </a:lnTo>
                <a:lnTo>
                  <a:pt x="2625090" y="3399714"/>
                </a:lnTo>
                <a:lnTo>
                  <a:pt x="2644939" y="3356571"/>
                </a:lnTo>
                <a:lnTo>
                  <a:pt x="2664177" y="3310246"/>
                </a:lnTo>
                <a:lnTo>
                  <a:pt x="2682857" y="3260869"/>
                </a:lnTo>
                <a:lnTo>
                  <a:pt x="2701034" y="3208572"/>
                </a:lnTo>
                <a:lnTo>
                  <a:pt x="2718762" y="3153484"/>
                </a:lnTo>
                <a:lnTo>
                  <a:pt x="2736097" y="3095737"/>
                </a:lnTo>
                <a:lnTo>
                  <a:pt x="2753092" y="3035460"/>
                </a:lnTo>
                <a:lnTo>
                  <a:pt x="2769801" y="2972785"/>
                </a:lnTo>
                <a:lnTo>
                  <a:pt x="2786280" y="2907841"/>
                </a:lnTo>
                <a:lnTo>
                  <a:pt x="2810685" y="2806458"/>
                </a:lnTo>
                <a:lnTo>
                  <a:pt x="2842925" y="2664558"/>
                </a:lnTo>
                <a:lnTo>
                  <a:pt x="2976809" y="2040146"/>
                </a:lnTo>
                <a:lnTo>
                  <a:pt x="3032939" y="1791885"/>
                </a:lnTo>
                <a:lnTo>
                  <a:pt x="3073334" y="1624930"/>
                </a:lnTo>
                <a:lnTo>
                  <a:pt x="3105502" y="1499695"/>
                </a:lnTo>
                <a:lnTo>
                  <a:pt x="3127940" y="1416441"/>
                </a:lnTo>
                <a:lnTo>
                  <a:pt x="3151236" y="1333528"/>
                </a:lnTo>
                <a:lnTo>
                  <a:pt x="3175445" y="1251087"/>
                </a:lnTo>
                <a:lnTo>
                  <a:pt x="3200621" y="1169248"/>
                </a:lnTo>
                <a:lnTo>
                  <a:pt x="3213589" y="1128595"/>
                </a:lnTo>
                <a:lnTo>
                  <a:pt x="3226819" y="1088141"/>
                </a:lnTo>
                <a:lnTo>
                  <a:pt x="3240317" y="1047903"/>
                </a:lnTo>
                <a:lnTo>
                  <a:pt x="3254092" y="1007897"/>
                </a:lnTo>
                <a:lnTo>
                  <a:pt x="3268149" y="968139"/>
                </a:lnTo>
                <a:lnTo>
                  <a:pt x="3282495" y="928647"/>
                </a:lnTo>
                <a:lnTo>
                  <a:pt x="3297138" y="889435"/>
                </a:lnTo>
                <a:lnTo>
                  <a:pt x="3312084" y="850520"/>
                </a:lnTo>
                <a:lnTo>
                  <a:pt x="3327339" y="811919"/>
                </a:lnTo>
                <a:lnTo>
                  <a:pt x="3342911" y="773647"/>
                </a:lnTo>
                <a:lnTo>
                  <a:pt x="3358807" y="735722"/>
                </a:lnTo>
                <a:lnTo>
                  <a:pt x="3375032" y="698160"/>
                </a:lnTo>
                <a:lnTo>
                  <a:pt x="3391595" y="660976"/>
                </a:lnTo>
                <a:lnTo>
                  <a:pt x="3408501" y="624187"/>
                </a:lnTo>
                <a:lnTo>
                  <a:pt x="3425759" y="587810"/>
                </a:lnTo>
                <a:lnTo>
                  <a:pt x="3443373" y="551861"/>
                </a:lnTo>
                <a:lnTo>
                  <a:pt x="3461352" y="516355"/>
                </a:lnTo>
                <a:lnTo>
                  <a:pt x="3479702" y="481310"/>
                </a:lnTo>
                <a:lnTo>
                  <a:pt x="3498430" y="446742"/>
                </a:lnTo>
                <a:lnTo>
                  <a:pt x="3517542" y="412666"/>
                </a:lnTo>
                <a:lnTo>
                  <a:pt x="3537046" y="379100"/>
                </a:lnTo>
                <a:lnTo>
                  <a:pt x="3556948" y="346060"/>
                </a:lnTo>
                <a:lnTo>
                  <a:pt x="3577255" y="313561"/>
                </a:lnTo>
                <a:lnTo>
                  <a:pt x="3619112" y="250255"/>
                </a:lnTo>
                <a:lnTo>
                  <a:pt x="3662671" y="189312"/>
                </a:lnTo>
                <a:lnTo>
                  <a:pt x="3707986" y="130862"/>
                </a:lnTo>
                <a:lnTo>
                  <a:pt x="3755112" y="75037"/>
                </a:lnTo>
                <a:lnTo>
                  <a:pt x="3804103" y="21967"/>
                </a:lnTo>
                <a:lnTo>
                  <a:pt x="3825856" y="0"/>
                </a:lnTo>
                <a:lnTo>
                  <a:pt x="3825856" y="6196916"/>
                </a:lnTo>
                <a:lnTo>
                  <a:pt x="0" y="6196916"/>
                </a:lnTo>
                <a:close/>
              </a:path>
            </a:pathLst>
          </a:custGeom>
          <a:solidFill>
            <a:srgbClr val="D9C6AB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146821" cy="3550122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947008" y="1033671"/>
            <a:ext cx="8215630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/>
              <a:t>Data</a:t>
            </a:r>
            <a:r>
              <a:rPr dirty="0" sz="4800" spc="-75"/>
              <a:t> </a:t>
            </a:r>
            <a:r>
              <a:rPr dirty="0" sz="4800"/>
              <a:t>Cleaning</a:t>
            </a:r>
            <a:r>
              <a:rPr dirty="0" sz="4800" spc="-75"/>
              <a:t> </a:t>
            </a:r>
            <a:r>
              <a:rPr dirty="0" sz="4800"/>
              <a:t>&amp;</a:t>
            </a:r>
            <a:r>
              <a:rPr dirty="0" sz="4800" spc="-75"/>
              <a:t> </a:t>
            </a:r>
            <a:r>
              <a:rPr dirty="0" sz="4800" spc="-10"/>
              <a:t>Preprocessing</a:t>
            </a:r>
            <a:endParaRPr sz="4800"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5717" y="3911758"/>
            <a:ext cx="133350" cy="1333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5717" y="4540408"/>
            <a:ext cx="133350" cy="1333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5717" y="5797708"/>
            <a:ext cx="133350" cy="1333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5717" y="6426358"/>
            <a:ext cx="133350" cy="13334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5717" y="7055008"/>
            <a:ext cx="133350" cy="13334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5717" y="8312308"/>
            <a:ext cx="133350" cy="13334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5717" y="8940958"/>
            <a:ext cx="133350" cy="13334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5717" y="9569608"/>
            <a:ext cx="133350" cy="133349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824867" y="1675371"/>
            <a:ext cx="11332210" cy="8197850"/>
          </a:xfrm>
          <a:prstGeom prst="rect">
            <a:avLst/>
          </a:prstGeom>
        </p:spPr>
        <p:txBody>
          <a:bodyPr wrap="square" lIns="0" tIns="996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dirty="0" sz="3550" b="1">
                <a:solidFill>
                  <a:srgbClr val="5C4828"/>
                </a:solidFill>
                <a:latin typeface="Times New Roman"/>
                <a:cs typeface="Times New Roman"/>
              </a:rPr>
              <a:t>Data</a:t>
            </a:r>
            <a:r>
              <a:rPr dirty="0" sz="3550" spc="-10" b="1">
                <a:solidFill>
                  <a:srgbClr val="5C4828"/>
                </a:solidFill>
                <a:latin typeface="Times New Roman"/>
                <a:cs typeface="Times New Roman"/>
              </a:rPr>
              <a:t> Cleaning:</a:t>
            </a:r>
            <a:endParaRPr sz="3550">
              <a:latin typeface="Times New Roman"/>
              <a:cs typeface="Times New Roman"/>
            </a:endParaRPr>
          </a:p>
          <a:p>
            <a:pPr marL="784860" marR="5454015">
              <a:lnSpc>
                <a:spcPct val="116199"/>
              </a:lnSpc>
            </a:pPr>
            <a:r>
              <a:rPr dirty="0" sz="3550">
                <a:solidFill>
                  <a:srgbClr val="5C4828"/>
                </a:solidFill>
                <a:latin typeface="Times New Roman"/>
                <a:cs typeface="Times New Roman"/>
              </a:rPr>
              <a:t>Removed</a:t>
            </a:r>
            <a:r>
              <a:rPr dirty="0" sz="3550" spc="-20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550">
                <a:solidFill>
                  <a:srgbClr val="5C4828"/>
                </a:solidFill>
                <a:latin typeface="Times New Roman"/>
                <a:cs typeface="Times New Roman"/>
              </a:rPr>
              <a:t>duplicate</a:t>
            </a:r>
            <a:r>
              <a:rPr dirty="0" sz="3550" spc="-20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550" spc="-10">
                <a:solidFill>
                  <a:srgbClr val="5C4828"/>
                </a:solidFill>
                <a:latin typeface="Times New Roman"/>
                <a:cs typeface="Times New Roman"/>
              </a:rPr>
              <a:t>records. </a:t>
            </a:r>
            <a:r>
              <a:rPr dirty="0" sz="3550">
                <a:solidFill>
                  <a:srgbClr val="5C4828"/>
                </a:solidFill>
                <a:latin typeface="Times New Roman"/>
                <a:cs typeface="Times New Roman"/>
              </a:rPr>
              <a:t>Handled</a:t>
            </a:r>
            <a:r>
              <a:rPr dirty="0" sz="3550" spc="-3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550">
                <a:solidFill>
                  <a:srgbClr val="5C4828"/>
                </a:solidFill>
                <a:latin typeface="Times New Roman"/>
                <a:cs typeface="Times New Roman"/>
              </a:rPr>
              <a:t>missing</a:t>
            </a:r>
            <a:r>
              <a:rPr dirty="0" sz="3550" spc="-2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550" spc="-10">
                <a:solidFill>
                  <a:srgbClr val="5C4828"/>
                </a:solidFill>
                <a:latin typeface="Times New Roman"/>
                <a:cs typeface="Times New Roman"/>
              </a:rPr>
              <a:t>values.</a:t>
            </a:r>
            <a:endParaRPr sz="3550">
              <a:latin typeface="Times New Roman"/>
              <a:cs typeface="Times New Roman"/>
            </a:endParaRPr>
          </a:p>
          <a:p>
            <a:pPr marL="784860" marR="2777490">
              <a:lnSpc>
                <a:spcPct val="116199"/>
              </a:lnSpc>
            </a:pPr>
            <a:r>
              <a:rPr dirty="0" sz="3550">
                <a:solidFill>
                  <a:srgbClr val="5C4828"/>
                </a:solidFill>
                <a:latin typeface="Times New Roman"/>
                <a:cs typeface="Times New Roman"/>
              </a:rPr>
              <a:t>Corrected</a:t>
            </a:r>
            <a:r>
              <a:rPr dirty="0" sz="3550" spc="-2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550">
                <a:solidFill>
                  <a:srgbClr val="5C4828"/>
                </a:solidFill>
                <a:latin typeface="Times New Roman"/>
                <a:cs typeface="Times New Roman"/>
              </a:rPr>
              <a:t>inconsistent</a:t>
            </a:r>
            <a:r>
              <a:rPr dirty="0" sz="3550" spc="-2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550">
                <a:solidFill>
                  <a:srgbClr val="5C4828"/>
                </a:solidFill>
                <a:latin typeface="Times New Roman"/>
                <a:cs typeface="Times New Roman"/>
              </a:rPr>
              <a:t>data</a:t>
            </a:r>
            <a:r>
              <a:rPr dirty="0" sz="3550" spc="-2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550" spc="-10">
                <a:solidFill>
                  <a:srgbClr val="5C4828"/>
                </a:solidFill>
                <a:latin typeface="Times New Roman"/>
                <a:cs typeface="Times New Roman"/>
              </a:rPr>
              <a:t>types.</a:t>
            </a:r>
            <a:r>
              <a:rPr dirty="0" sz="3550" spc="88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550">
                <a:solidFill>
                  <a:srgbClr val="5C4828"/>
                </a:solidFill>
                <a:latin typeface="Times New Roman"/>
                <a:cs typeface="Times New Roman"/>
              </a:rPr>
              <a:t>Detected</a:t>
            </a:r>
            <a:r>
              <a:rPr dirty="0" sz="3550" spc="-30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550">
                <a:solidFill>
                  <a:srgbClr val="5C4828"/>
                </a:solidFill>
                <a:latin typeface="Times New Roman"/>
                <a:cs typeface="Times New Roman"/>
              </a:rPr>
              <a:t>outliers</a:t>
            </a:r>
            <a:r>
              <a:rPr dirty="0" sz="3550" spc="-1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550">
                <a:solidFill>
                  <a:srgbClr val="5C4828"/>
                </a:solidFill>
                <a:latin typeface="Times New Roman"/>
                <a:cs typeface="Times New Roman"/>
              </a:rPr>
              <a:t>using</a:t>
            </a:r>
            <a:r>
              <a:rPr dirty="0" sz="3550" spc="-1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550">
                <a:solidFill>
                  <a:srgbClr val="5C4828"/>
                </a:solidFill>
                <a:latin typeface="Times New Roman"/>
                <a:cs typeface="Times New Roman"/>
              </a:rPr>
              <a:t>box</a:t>
            </a:r>
            <a:r>
              <a:rPr dirty="0" sz="3550" spc="-20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550">
                <a:solidFill>
                  <a:srgbClr val="5C4828"/>
                </a:solidFill>
                <a:latin typeface="Times New Roman"/>
                <a:cs typeface="Times New Roman"/>
              </a:rPr>
              <a:t>plots</a:t>
            </a:r>
            <a:r>
              <a:rPr dirty="0" sz="3550" spc="-1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550">
                <a:solidFill>
                  <a:srgbClr val="5C4828"/>
                </a:solidFill>
                <a:latin typeface="Times New Roman"/>
                <a:cs typeface="Times New Roman"/>
              </a:rPr>
              <a:t>and</a:t>
            </a:r>
            <a:r>
              <a:rPr dirty="0" sz="3550" spc="-1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550" spc="-20">
                <a:solidFill>
                  <a:srgbClr val="5C4828"/>
                </a:solidFill>
                <a:latin typeface="Times New Roman"/>
                <a:cs typeface="Times New Roman"/>
              </a:rPr>
              <a:t>IQR.</a:t>
            </a:r>
            <a:endParaRPr sz="3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dirty="0" sz="3550" b="1">
                <a:solidFill>
                  <a:srgbClr val="5C4828"/>
                </a:solidFill>
                <a:latin typeface="Times New Roman"/>
                <a:cs typeface="Times New Roman"/>
              </a:rPr>
              <a:t>Data</a:t>
            </a:r>
            <a:r>
              <a:rPr dirty="0" sz="3550" spc="-20" b="1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550" spc="-10" b="1">
                <a:solidFill>
                  <a:srgbClr val="5C4828"/>
                </a:solidFill>
                <a:latin typeface="Times New Roman"/>
                <a:cs typeface="Times New Roman"/>
              </a:rPr>
              <a:t>Preprocessing:</a:t>
            </a:r>
            <a:endParaRPr sz="3550">
              <a:latin typeface="Times New Roman"/>
              <a:cs typeface="Times New Roman"/>
            </a:endParaRPr>
          </a:p>
          <a:p>
            <a:pPr marL="784860">
              <a:lnSpc>
                <a:spcPct val="100000"/>
              </a:lnSpc>
              <a:spcBef>
                <a:spcPts val="690"/>
              </a:spcBef>
            </a:pPr>
            <a:r>
              <a:rPr dirty="0" sz="3550">
                <a:solidFill>
                  <a:srgbClr val="5C4828"/>
                </a:solidFill>
                <a:latin typeface="Times New Roman"/>
                <a:cs typeface="Times New Roman"/>
              </a:rPr>
              <a:t>Selected</a:t>
            </a:r>
            <a:r>
              <a:rPr dirty="0" sz="3550" spc="-40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550">
                <a:solidFill>
                  <a:srgbClr val="5C4828"/>
                </a:solidFill>
                <a:latin typeface="Times New Roman"/>
                <a:cs typeface="Times New Roman"/>
              </a:rPr>
              <a:t>relevant</a:t>
            </a:r>
            <a:r>
              <a:rPr dirty="0" sz="3550" spc="-30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550" spc="-10">
                <a:solidFill>
                  <a:srgbClr val="5C4828"/>
                </a:solidFill>
                <a:latin typeface="Times New Roman"/>
                <a:cs typeface="Times New Roman"/>
              </a:rPr>
              <a:t>features.</a:t>
            </a:r>
            <a:endParaRPr sz="3550">
              <a:latin typeface="Times New Roman"/>
              <a:cs typeface="Times New Roman"/>
            </a:endParaRPr>
          </a:p>
          <a:p>
            <a:pPr marL="784860">
              <a:lnSpc>
                <a:spcPct val="100000"/>
              </a:lnSpc>
              <a:spcBef>
                <a:spcPts val="690"/>
              </a:spcBef>
            </a:pPr>
            <a:r>
              <a:rPr dirty="0" sz="3550">
                <a:solidFill>
                  <a:srgbClr val="5C4828"/>
                </a:solidFill>
                <a:latin typeface="Times New Roman"/>
                <a:cs typeface="Times New Roman"/>
              </a:rPr>
              <a:t>Prepared</a:t>
            </a:r>
            <a:r>
              <a:rPr dirty="0" sz="3550" spc="-20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550">
                <a:solidFill>
                  <a:srgbClr val="5C4828"/>
                </a:solidFill>
                <a:latin typeface="Times New Roman"/>
                <a:cs typeface="Times New Roman"/>
              </a:rPr>
              <a:t>data</a:t>
            </a:r>
            <a:r>
              <a:rPr dirty="0" sz="3550" spc="-1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550">
                <a:solidFill>
                  <a:srgbClr val="5C4828"/>
                </a:solidFill>
                <a:latin typeface="Times New Roman"/>
                <a:cs typeface="Times New Roman"/>
              </a:rPr>
              <a:t>for</a:t>
            </a:r>
            <a:r>
              <a:rPr dirty="0" sz="3550" spc="-1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550">
                <a:solidFill>
                  <a:srgbClr val="5C4828"/>
                </a:solidFill>
                <a:latin typeface="Times New Roman"/>
                <a:cs typeface="Times New Roman"/>
              </a:rPr>
              <a:t>Exploratory</a:t>
            </a:r>
            <a:r>
              <a:rPr dirty="0" sz="3550" spc="-1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550">
                <a:solidFill>
                  <a:srgbClr val="5C4828"/>
                </a:solidFill>
                <a:latin typeface="Times New Roman"/>
                <a:cs typeface="Times New Roman"/>
              </a:rPr>
              <a:t>Data</a:t>
            </a:r>
            <a:r>
              <a:rPr dirty="0" sz="3550" spc="-1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550" spc="-10">
                <a:solidFill>
                  <a:srgbClr val="5C4828"/>
                </a:solidFill>
                <a:latin typeface="Times New Roman"/>
                <a:cs typeface="Times New Roman"/>
              </a:rPr>
              <a:t>Analysis.</a:t>
            </a:r>
            <a:endParaRPr sz="3550">
              <a:latin typeface="Times New Roman"/>
              <a:cs typeface="Times New Roman"/>
            </a:endParaRPr>
          </a:p>
          <a:p>
            <a:pPr marL="784860">
              <a:lnSpc>
                <a:spcPct val="100000"/>
              </a:lnSpc>
              <a:spcBef>
                <a:spcPts val="690"/>
              </a:spcBef>
            </a:pPr>
            <a:r>
              <a:rPr dirty="0" sz="3550">
                <a:solidFill>
                  <a:srgbClr val="5C4828"/>
                </a:solidFill>
                <a:latin typeface="Times New Roman"/>
                <a:cs typeface="Times New Roman"/>
              </a:rPr>
              <a:t>Organized</a:t>
            </a:r>
            <a:r>
              <a:rPr dirty="0" sz="3550" spc="-20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550">
                <a:solidFill>
                  <a:srgbClr val="5C4828"/>
                </a:solidFill>
                <a:latin typeface="Times New Roman"/>
                <a:cs typeface="Times New Roman"/>
              </a:rPr>
              <a:t>the</a:t>
            </a:r>
            <a:r>
              <a:rPr dirty="0" sz="3550" spc="-20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550">
                <a:solidFill>
                  <a:srgbClr val="5C4828"/>
                </a:solidFill>
                <a:latin typeface="Times New Roman"/>
                <a:cs typeface="Times New Roman"/>
              </a:rPr>
              <a:t>cleaned</a:t>
            </a:r>
            <a:r>
              <a:rPr dirty="0" sz="3550" spc="-20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550">
                <a:solidFill>
                  <a:srgbClr val="5C4828"/>
                </a:solidFill>
                <a:latin typeface="Times New Roman"/>
                <a:cs typeface="Times New Roman"/>
              </a:rPr>
              <a:t>dataset</a:t>
            </a:r>
            <a:r>
              <a:rPr dirty="0" sz="3550" spc="-20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550">
                <a:solidFill>
                  <a:srgbClr val="5C4828"/>
                </a:solidFill>
                <a:latin typeface="Times New Roman"/>
                <a:cs typeface="Times New Roman"/>
              </a:rPr>
              <a:t>for</a:t>
            </a:r>
            <a:r>
              <a:rPr dirty="0" sz="3550" spc="-20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550">
                <a:solidFill>
                  <a:srgbClr val="5C4828"/>
                </a:solidFill>
                <a:latin typeface="Times New Roman"/>
                <a:cs typeface="Times New Roman"/>
              </a:rPr>
              <a:t>future</a:t>
            </a:r>
            <a:r>
              <a:rPr dirty="0" sz="3550" spc="-20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550">
                <a:solidFill>
                  <a:srgbClr val="5C4828"/>
                </a:solidFill>
                <a:latin typeface="Times New Roman"/>
                <a:cs typeface="Times New Roman"/>
              </a:rPr>
              <a:t>machine</a:t>
            </a:r>
            <a:r>
              <a:rPr dirty="0" sz="3550" spc="-20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550" spc="-10">
                <a:solidFill>
                  <a:srgbClr val="5C4828"/>
                </a:solidFill>
                <a:latin typeface="Times New Roman"/>
                <a:cs typeface="Times New Roman"/>
              </a:rPr>
              <a:t>learning</a:t>
            </a:r>
            <a:endParaRPr sz="3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dirty="0" sz="3550" b="1">
                <a:solidFill>
                  <a:srgbClr val="5C4828"/>
                </a:solidFill>
                <a:latin typeface="Times New Roman"/>
                <a:cs typeface="Times New Roman"/>
              </a:rPr>
              <a:t>Some</a:t>
            </a:r>
            <a:r>
              <a:rPr dirty="0" sz="3550" spc="-20" b="1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550" b="1">
                <a:solidFill>
                  <a:srgbClr val="5C4828"/>
                </a:solidFill>
                <a:latin typeface="Times New Roman"/>
                <a:cs typeface="Times New Roman"/>
              </a:rPr>
              <a:t>Key</a:t>
            </a:r>
            <a:r>
              <a:rPr dirty="0" sz="3550" spc="-5" b="1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550" spc="-10" b="1">
                <a:solidFill>
                  <a:srgbClr val="5C4828"/>
                </a:solidFill>
                <a:latin typeface="Times New Roman"/>
                <a:cs typeface="Times New Roman"/>
              </a:rPr>
              <a:t>Functions:</a:t>
            </a:r>
            <a:endParaRPr sz="3550">
              <a:latin typeface="Times New Roman"/>
              <a:cs typeface="Times New Roman"/>
            </a:endParaRPr>
          </a:p>
          <a:p>
            <a:pPr marL="784860" marR="3878579">
              <a:lnSpc>
                <a:spcPct val="116199"/>
              </a:lnSpc>
            </a:pPr>
            <a:r>
              <a:rPr dirty="0" sz="3550">
                <a:solidFill>
                  <a:srgbClr val="5C4828"/>
                </a:solidFill>
                <a:latin typeface="Times New Roman"/>
                <a:cs typeface="Times New Roman"/>
              </a:rPr>
              <a:t>fillna()</a:t>
            </a:r>
            <a:r>
              <a:rPr dirty="0" sz="3550" spc="-30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550">
                <a:solidFill>
                  <a:srgbClr val="5C4828"/>
                </a:solidFill>
                <a:latin typeface="Times New Roman"/>
                <a:cs typeface="Times New Roman"/>
              </a:rPr>
              <a:t>–</a:t>
            </a:r>
            <a:r>
              <a:rPr dirty="0" sz="3550" spc="-1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550">
                <a:solidFill>
                  <a:srgbClr val="5C4828"/>
                </a:solidFill>
                <a:latin typeface="Times New Roman"/>
                <a:cs typeface="Times New Roman"/>
              </a:rPr>
              <a:t>Handle</a:t>
            </a:r>
            <a:r>
              <a:rPr dirty="0" sz="3550" spc="-20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550">
                <a:solidFill>
                  <a:srgbClr val="5C4828"/>
                </a:solidFill>
                <a:latin typeface="Times New Roman"/>
                <a:cs typeface="Times New Roman"/>
              </a:rPr>
              <a:t>Missing</a:t>
            </a:r>
            <a:r>
              <a:rPr dirty="0" sz="3550" spc="-1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550" spc="-10">
                <a:solidFill>
                  <a:srgbClr val="5C4828"/>
                </a:solidFill>
                <a:latin typeface="Times New Roman"/>
                <a:cs typeface="Times New Roman"/>
              </a:rPr>
              <a:t>Values </a:t>
            </a:r>
            <a:r>
              <a:rPr dirty="0" sz="3550">
                <a:solidFill>
                  <a:srgbClr val="5C4828"/>
                </a:solidFill>
                <a:latin typeface="Times New Roman"/>
                <a:cs typeface="Times New Roman"/>
              </a:rPr>
              <a:t>replace()</a:t>
            </a:r>
            <a:r>
              <a:rPr dirty="0" sz="3550" spc="-20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550">
                <a:solidFill>
                  <a:srgbClr val="5C4828"/>
                </a:solidFill>
                <a:latin typeface="Times New Roman"/>
                <a:cs typeface="Times New Roman"/>
              </a:rPr>
              <a:t>–</a:t>
            </a:r>
            <a:r>
              <a:rPr dirty="0" sz="3550" spc="-1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550">
                <a:solidFill>
                  <a:srgbClr val="5C4828"/>
                </a:solidFill>
                <a:latin typeface="Times New Roman"/>
                <a:cs typeface="Times New Roman"/>
              </a:rPr>
              <a:t>Replace</a:t>
            </a:r>
            <a:r>
              <a:rPr dirty="0" sz="3550" spc="-1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550">
                <a:solidFill>
                  <a:srgbClr val="5C4828"/>
                </a:solidFill>
                <a:latin typeface="Times New Roman"/>
                <a:cs typeface="Times New Roman"/>
              </a:rPr>
              <a:t>Incorrect</a:t>
            </a:r>
            <a:r>
              <a:rPr dirty="0" sz="3550" spc="-20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550" spc="-10">
                <a:solidFill>
                  <a:srgbClr val="5C4828"/>
                </a:solidFill>
                <a:latin typeface="Times New Roman"/>
                <a:cs typeface="Times New Roman"/>
              </a:rPr>
              <a:t>Values </a:t>
            </a:r>
            <a:r>
              <a:rPr dirty="0" sz="3550">
                <a:solidFill>
                  <a:srgbClr val="5C4828"/>
                </a:solidFill>
                <a:latin typeface="Times New Roman"/>
                <a:cs typeface="Times New Roman"/>
              </a:rPr>
              <a:t>astype()</a:t>
            </a:r>
            <a:r>
              <a:rPr dirty="0" sz="3550" spc="-10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550">
                <a:solidFill>
                  <a:srgbClr val="5C4828"/>
                </a:solidFill>
                <a:latin typeface="Times New Roman"/>
                <a:cs typeface="Times New Roman"/>
              </a:rPr>
              <a:t>–</a:t>
            </a:r>
            <a:r>
              <a:rPr dirty="0" sz="3550" spc="-10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550">
                <a:solidFill>
                  <a:srgbClr val="5C4828"/>
                </a:solidFill>
                <a:latin typeface="Times New Roman"/>
                <a:cs typeface="Times New Roman"/>
              </a:rPr>
              <a:t>Convert</a:t>
            </a:r>
            <a:r>
              <a:rPr dirty="0" sz="3550" spc="-10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550">
                <a:solidFill>
                  <a:srgbClr val="5C4828"/>
                </a:solidFill>
                <a:latin typeface="Times New Roman"/>
                <a:cs typeface="Times New Roman"/>
              </a:rPr>
              <a:t>Data</a:t>
            </a:r>
            <a:r>
              <a:rPr dirty="0" sz="3550" spc="-10">
                <a:solidFill>
                  <a:srgbClr val="5C4828"/>
                </a:solidFill>
                <a:latin typeface="Times New Roman"/>
                <a:cs typeface="Times New Roman"/>
              </a:rPr>
              <a:t> Types</a:t>
            </a:r>
            <a:endParaRPr sz="35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2924" y="4314655"/>
            <a:ext cx="6071235" cy="15113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294255" marR="5080" indent="-2282190">
              <a:lnSpc>
                <a:spcPct val="116100"/>
              </a:lnSpc>
              <a:spcBef>
                <a:spcPts val="95"/>
              </a:spcBef>
            </a:pPr>
            <a:r>
              <a:rPr dirty="0" sz="4200" b="1">
                <a:solidFill>
                  <a:srgbClr val="5C4828"/>
                </a:solidFill>
                <a:latin typeface="Times New Roman"/>
                <a:cs typeface="Times New Roman"/>
              </a:rPr>
              <a:t>Exploratory</a:t>
            </a:r>
            <a:r>
              <a:rPr dirty="0" sz="4200" spc="-5" b="1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4200" spc="-20" b="1">
                <a:solidFill>
                  <a:srgbClr val="5C4828"/>
                </a:solidFill>
                <a:latin typeface="Times New Roman"/>
                <a:cs typeface="Times New Roman"/>
              </a:rPr>
              <a:t>Data</a:t>
            </a:r>
            <a:r>
              <a:rPr dirty="0" sz="4200" spc="-240" b="1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4200" spc="-10" b="1">
                <a:solidFill>
                  <a:srgbClr val="5C4828"/>
                </a:solidFill>
                <a:latin typeface="Times New Roman"/>
                <a:cs typeface="Times New Roman"/>
              </a:rPr>
              <a:t>Analysis (EDA)</a:t>
            </a:r>
            <a:endParaRPr sz="4200">
              <a:latin typeface="Times New Roman"/>
              <a:cs typeface="Times New Roman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603872" y="981106"/>
            <a:ext cx="4695190" cy="635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/>
              <a:t>Analysis</a:t>
            </a:r>
            <a:r>
              <a:rPr dirty="0" sz="4000" spc="-110"/>
              <a:t> </a:t>
            </a:r>
            <a:r>
              <a:rPr dirty="0" sz="4000" spc="-10"/>
              <a:t>Pewrformed</a:t>
            </a:r>
            <a:endParaRPr sz="40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65987" y="2550794"/>
            <a:ext cx="133350" cy="1333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65987" y="3188969"/>
            <a:ext cx="133350" cy="1333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65987" y="3827145"/>
            <a:ext cx="133350" cy="1333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65987" y="4465319"/>
            <a:ext cx="133350" cy="1333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65987" y="5741669"/>
            <a:ext cx="133350" cy="13334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65987" y="6379844"/>
            <a:ext cx="133350" cy="13334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65987" y="7018019"/>
            <a:ext cx="133350" cy="13334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65987" y="7656194"/>
            <a:ext cx="133350" cy="13334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465987" y="8932544"/>
            <a:ext cx="133350" cy="133349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8005612" y="1553209"/>
            <a:ext cx="6451600" cy="7683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89305" marR="993775" indent="-777240">
              <a:lnSpc>
                <a:spcPct val="116300"/>
              </a:lnSpc>
              <a:spcBef>
                <a:spcPts val="100"/>
              </a:spcBef>
            </a:pPr>
            <a:r>
              <a:rPr dirty="0" sz="3600" spc="-20" b="1">
                <a:solidFill>
                  <a:srgbClr val="5C4828"/>
                </a:solidFill>
                <a:latin typeface="Times New Roman"/>
                <a:cs typeface="Times New Roman"/>
              </a:rPr>
              <a:t>Univariate</a:t>
            </a:r>
            <a:r>
              <a:rPr dirty="0" sz="3600" spc="-165" b="1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600" spc="-10" b="1">
                <a:solidFill>
                  <a:srgbClr val="5C4828"/>
                </a:solidFill>
                <a:latin typeface="Times New Roman"/>
                <a:cs typeface="Times New Roman"/>
              </a:rPr>
              <a:t>Analysis: </a:t>
            </a:r>
            <a:r>
              <a:rPr dirty="0" sz="3600">
                <a:solidFill>
                  <a:srgbClr val="5C4828"/>
                </a:solidFill>
                <a:latin typeface="Times New Roman"/>
                <a:cs typeface="Times New Roman"/>
              </a:rPr>
              <a:t>Popularity</a:t>
            </a:r>
            <a:r>
              <a:rPr dirty="0" sz="3600" spc="-160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600" spc="-10">
                <a:solidFill>
                  <a:srgbClr val="5C4828"/>
                </a:solidFill>
                <a:latin typeface="Times New Roman"/>
                <a:cs typeface="Times New Roman"/>
              </a:rPr>
              <a:t>Distribution </a:t>
            </a:r>
            <a:r>
              <a:rPr dirty="0" sz="3600">
                <a:solidFill>
                  <a:srgbClr val="5C4828"/>
                </a:solidFill>
                <a:latin typeface="Times New Roman"/>
                <a:cs typeface="Times New Roman"/>
              </a:rPr>
              <a:t>Danceability</a:t>
            </a:r>
            <a:r>
              <a:rPr dirty="0" sz="3600" spc="-18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600" spc="-10">
                <a:solidFill>
                  <a:srgbClr val="5C4828"/>
                </a:solidFill>
                <a:latin typeface="Times New Roman"/>
                <a:cs typeface="Times New Roman"/>
              </a:rPr>
              <a:t>Distribution </a:t>
            </a:r>
            <a:r>
              <a:rPr dirty="0" sz="3600">
                <a:solidFill>
                  <a:srgbClr val="5C4828"/>
                </a:solidFill>
                <a:latin typeface="Times New Roman"/>
                <a:cs typeface="Times New Roman"/>
              </a:rPr>
              <a:t>Energy</a:t>
            </a:r>
            <a:r>
              <a:rPr dirty="0" sz="3600" spc="-13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600" spc="-10">
                <a:solidFill>
                  <a:srgbClr val="5C4828"/>
                </a:solidFill>
                <a:latin typeface="Times New Roman"/>
                <a:cs typeface="Times New Roman"/>
              </a:rPr>
              <a:t>Distribution </a:t>
            </a:r>
            <a:r>
              <a:rPr dirty="0" sz="3600">
                <a:solidFill>
                  <a:srgbClr val="5C4828"/>
                </a:solidFill>
                <a:latin typeface="Times New Roman"/>
                <a:cs typeface="Times New Roman"/>
              </a:rPr>
              <a:t>Language</a:t>
            </a:r>
            <a:r>
              <a:rPr dirty="0" sz="3600" spc="-14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600" spc="-10">
                <a:solidFill>
                  <a:srgbClr val="5C4828"/>
                </a:solidFill>
                <a:latin typeface="Times New Roman"/>
                <a:cs typeface="Times New Roman"/>
              </a:rPr>
              <a:t>Distribution</a:t>
            </a:r>
            <a:endParaRPr sz="3600">
              <a:latin typeface="Times New Roman"/>
              <a:cs typeface="Times New Roman"/>
            </a:endParaRPr>
          </a:p>
          <a:p>
            <a:pPr marL="789305" marR="777875" indent="-777240">
              <a:lnSpc>
                <a:spcPct val="116300"/>
              </a:lnSpc>
            </a:pPr>
            <a:r>
              <a:rPr dirty="0" sz="3600" spc="-20" b="1">
                <a:solidFill>
                  <a:srgbClr val="5C4828"/>
                </a:solidFill>
                <a:latin typeface="Times New Roman"/>
                <a:cs typeface="Times New Roman"/>
              </a:rPr>
              <a:t>Bivariate</a:t>
            </a:r>
            <a:r>
              <a:rPr dirty="0" sz="3600" spc="-165" b="1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600" spc="-10" b="1">
                <a:solidFill>
                  <a:srgbClr val="5C4828"/>
                </a:solidFill>
                <a:latin typeface="Times New Roman"/>
                <a:cs typeface="Times New Roman"/>
              </a:rPr>
              <a:t>Analysis: </a:t>
            </a:r>
            <a:r>
              <a:rPr dirty="0" sz="3600">
                <a:solidFill>
                  <a:srgbClr val="5C4828"/>
                </a:solidFill>
                <a:latin typeface="Times New Roman"/>
                <a:cs typeface="Times New Roman"/>
              </a:rPr>
              <a:t>Popularity</a:t>
            </a:r>
            <a:r>
              <a:rPr dirty="0" sz="3600" spc="-8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600">
                <a:solidFill>
                  <a:srgbClr val="5C4828"/>
                </a:solidFill>
                <a:latin typeface="Times New Roman"/>
                <a:cs typeface="Times New Roman"/>
              </a:rPr>
              <a:t>vs</a:t>
            </a:r>
            <a:r>
              <a:rPr dirty="0" sz="3600" spc="-7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600" spc="-10">
                <a:solidFill>
                  <a:srgbClr val="5C4828"/>
                </a:solidFill>
                <a:latin typeface="Times New Roman"/>
                <a:cs typeface="Times New Roman"/>
              </a:rPr>
              <a:t>Danceability </a:t>
            </a:r>
            <a:r>
              <a:rPr dirty="0" sz="3600">
                <a:solidFill>
                  <a:srgbClr val="5C4828"/>
                </a:solidFill>
                <a:latin typeface="Times New Roman"/>
                <a:cs typeface="Times New Roman"/>
              </a:rPr>
              <a:t>Popularity</a:t>
            </a:r>
            <a:r>
              <a:rPr dirty="0" sz="3600" spc="-8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600">
                <a:solidFill>
                  <a:srgbClr val="5C4828"/>
                </a:solidFill>
                <a:latin typeface="Times New Roman"/>
                <a:cs typeface="Times New Roman"/>
              </a:rPr>
              <a:t>vs</a:t>
            </a:r>
            <a:r>
              <a:rPr dirty="0" sz="3600" spc="-7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600" spc="-10">
                <a:solidFill>
                  <a:srgbClr val="5C4828"/>
                </a:solidFill>
                <a:latin typeface="Times New Roman"/>
                <a:cs typeface="Times New Roman"/>
              </a:rPr>
              <a:t>Energy </a:t>
            </a:r>
            <a:r>
              <a:rPr dirty="0" sz="3600">
                <a:solidFill>
                  <a:srgbClr val="5C4828"/>
                </a:solidFill>
                <a:latin typeface="Times New Roman"/>
                <a:cs typeface="Times New Roman"/>
              </a:rPr>
              <a:t>Energy</a:t>
            </a:r>
            <a:r>
              <a:rPr dirty="0" sz="3600" spc="-70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600">
                <a:solidFill>
                  <a:srgbClr val="5C4828"/>
                </a:solidFill>
                <a:latin typeface="Times New Roman"/>
                <a:cs typeface="Times New Roman"/>
              </a:rPr>
              <a:t>vs</a:t>
            </a:r>
            <a:r>
              <a:rPr dirty="0" sz="3600" spc="-6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600" spc="-10">
                <a:solidFill>
                  <a:srgbClr val="5C4828"/>
                </a:solidFill>
                <a:latin typeface="Times New Roman"/>
                <a:cs typeface="Times New Roman"/>
              </a:rPr>
              <a:t>Loudness </a:t>
            </a:r>
            <a:r>
              <a:rPr dirty="0" sz="3600">
                <a:solidFill>
                  <a:srgbClr val="5C4828"/>
                </a:solidFill>
                <a:latin typeface="Times New Roman"/>
                <a:cs typeface="Times New Roman"/>
              </a:rPr>
              <a:t>Language</a:t>
            </a:r>
            <a:r>
              <a:rPr dirty="0" sz="3600" spc="-7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600">
                <a:solidFill>
                  <a:srgbClr val="5C4828"/>
                </a:solidFill>
                <a:latin typeface="Times New Roman"/>
                <a:cs typeface="Times New Roman"/>
              </a:rPr>
              <a:t>vs</a:t>
            </a:r>
            <a:r>
              <a:rPr dirty="0" sz="3600" spc="-70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600" spc="-10">
                <a:solidFill>
                  <a:srgbClr val="5C4828"/>
                </a:solidFill>
                <a:latin typeface="Times New Roman"/>
                <a:cs typeface="Times New Roman"/>
              </a:rPr>
              <a:t>Popularity</a:t>
            </a:r>
            <a:endParaRPr sz="3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dirty="0" sz="3600" spc="-30" b="1">
                <a:solidFill>
                  <a:srgbClr val="5C4828"/>
                </a:solidFill>
                <a:latin typeface="Times New Roman"/>
                <a:cs typeface="Times New Roman"/>
              </a:rPr>
              <a:t>Correlation</a:t>
            </a:r>
            <a:r>
              <a:rPr dirty="0" sz="3600" spc="-125" b="1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600" spc="-10" b="1">
                <a:solidFill>
                  <a:srgbClr val="5C4828"/>
                </a:solidFill>
                <a:latin typeface="Times New Roman"/>
                <a:cs typeface="Times New Roman"/>
              </a:rPr>
              <a:t>Analysis:</a:t>
            </a:r>
            <a:endParaRPr sz="3600">
              <a:latin typeface="Times New Roman"/>
              <a:cs typeface="Times New Roman"/>
            </a:endParaRPr>
          </a:p>
          <a:p>
            <a:pPr marL="789305">
              <a:lnSpc>
                <a:spcPct val="100000"/>
              </a:lnSpc>
              <a:spcBef>
                <a:spcPts val="705"/>
              </a:spcBef>
            </a:pPr>
            <a:r>
              <a:rPr dirty="0" sz="3600">
                <a:solidFill>
                  <a:srgbClr val="5C4828"/>
                </a:solidFill>
                <a:latin typeface="Times New Roman"/>
                <a:cs typeface="Times New Roman"/>
              </a:rPr>
              <a:t>Heatmap</a:t>
            </a:r>
            <a:r>
              <a:rPr dirty="0" sz="3600" spc="-10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600">
                <a:solidFill>
                  <a:srgbClr val="5C4828"/>
                </a:solidFill>
                <a:latin typeface="Times New Roman"/>
                <a:cs typeface="Times New Roman"/>
              </a:rPr>
              <a:t>of</a:t>
            </a:r>
            <a:r>
              <a:rPr dirty="0" sz="3600" spc="-100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600">
                <a:solidFill>
                  <a:srgbClr val="5C4828"/>
                </a:solidFill>
                <a:latin typeface="Times New Roman"/>
                <a:cs typeface="Times New Roman"/>
              </a:rPr>
              <a:t>numerical</a:t>
            </a:r>
            <a:r>
              <a:rPr dirty="0" sz="3600" spc="-100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600" spc="-10">
                <a:solidFill>
                  <a:srgbClr val="5C4828"/>
                </a:solidFill>
                <a:latin typeface="Times New Roman"/>
                <a:cs typeface="Times New Roman"/>
              </a:rPr>
              <a:t>feature</a:t>
            </a:r>
            <a:r>
              <a:rPr dirty="0" sz="3600" spc="-10">
                <a:solidFill>
                  <a:srgbClr val="FAFAFA"/>
                </a:solidFill>
                <a:latin typeface="Times New Roman"/>
                <a:cs typeface="Times New Roman"/>
              </a:rPr>
              <a:t>s</a:t>
            </a:r>
            <a:endParaRPr sz="3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13428" y="-31930"/>
            <a:ext cx="2910411" cy="4088367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6026817"/>
            <a:ext cx="7974965" cy="4260215"/>
            <a:chOff x="0" y="6026817"/>
            <a:chExt cx="7974965" cy="4260215"/>
          </a:xfrm>
        </p:grpSpPr>
        <p:sp>
          <p:nvSpPr>
            <p:cNvPr id="4" name="object 4"/>
            <p:cNvSpPr/>
            <p:nvPr/>
          </p:nvSpPr>
          <p:spPr>
            <a:xfrm>
              <a:off x="0" y="6026817"/>
              <a:ext cx="7974965" cy="4260215"/>
            </a:xfrm>
            <a:custGeom>
              <a:avLst/>
              <a:gdLst/>
              <a:ahLst/>
              <a:cxnLst/>
              <a:rect l="l" t="t" r="r" b="b"/>
              <a:pathLst>
                <a:path w="7974965" h="4260215">
                  <a:moveTo>
                    <a:pt x="7974675" y="4260182"/>
                  </a:moveTo>
                  <a:lnTo>
                    <a:pt x="0" y="4260182"/>
                  </a:lnTo>
                  <a:lnTo>
                    <a:pt x="0" y="363120"/>
                  </a:lnTo>
                  <a:lnTo>
                    <a:pt x="53114" y="331263"/>
                  </a:lnTo>
                  <a:lnTo>
                    <a:pt x="115648" y="295756"/>
                  </a:lnTo>
                  <a:lnTo>
                    <a:pt x="177412" y="262760"/>
                  </a:lnTo>
                  <a:lnTo>
                    <a:pt x="238265" y="232307"/>
                  </a:lnTo>
                  <a:lnTo>
                    <a:pt x="298158" y="204391"/>
                  </a:lnTo>
                  <a:lnTo>
                    <a:pt x="356684" y="179162"/>
                  </a:lnTo>
                  <a:lnTo>
                    <a:pt x="413971" y="156536"/>
                  </a:lnTo>
                  <a:lnTo>
                    <a:pt x="473266" y="134941"/>
                  </a:lnTo>
                  <a:lnTo>
                    <a:pt x="531575" y="115132"/>
                  </a:lnTo>
                  <a:lnTo>
                    <a:pt x="588922" y="97063"/>
                  </a:lnTo>
                  <a:lnTo>
                    <a:pt x="645331" y="80690"/>
                  </a:lnTo>
                  <a:lnTo>
                    <a:pt x="700828" y="65971"/>
                  </a:lnTo>
                  <a:lnTo>
                    <a:pt x="755436" y="52860"/>
                  </a:lnTo>
                  <a:lnTo>
                    <a:pt x="809180" y="41314"/>
                  </a:lnTo>
                  <a:lnTo>
                    <a:pt x="862083" y="31289"/>
                  </a:lnTo>
                  <a:lnTo>
                    <a:pt x="914172" y="22741"/>
                  </a:lnTo>
                  <a:lnTo>
                    <a:pt x="965469" y="15625"/>
                  </a:lnTo>
                  <a:lnTo>
                    <a:pt x="1015999" y="9898"/>
                  </a:lnTo>
                  <a:lnTo>
                    <a:pt x="1065788" y="5516"/>
                  </a:lnTo>
                  <a:lnTo>
                    <a:pt x="1114858" y="2435"/>
                  </a:lnTo>
                  <a:lnTo>
                    <a:pt x="1164659" y="557"/>
                  </a:lnTo>
                  <a:lnTo>
                    <a:pt x="1167427" y="557"/>
                  </a:lnTo>
                  <a:lnTo>
                    <a:pt x="1210942" y="0"/>
                  </a:lnTo>
                  <a:lnTo>
                    <a:pt x="1258004" y="557"/>
                  </a:lnTo>
                  <a:lnTo>
                    <a:pt x="1304447" y="2240"/>
                  </a:lnTo>
                  <a:lnTo>
                    <a:pt x="1350293" y="5003"/>
                  </a:lnTo>
                  <a:lnTo>
                    <a:pt x="1395567" y="8804"/>
                  </a:lnTo>
                  <a:lnTo>
                    <a:pt x="1440295" y="13597"/>
                  </a:lnTo>
                  <a:lnTo>
                    <a:pt x="1484499" y="19339"/>
                  </a:lnTo>
                  <a:lnTo>
                    <a:pt x="1528205" y="25987"/>
                  </a:lnTo>
                  <a:lnTo>
                    <a:pt x="1571437" y="33495"/>
                  </a:lnTo>
                  <a:lnTo>
                    <a:pt x="1614219" y="41821"/>
                  </a:lnTo>
                  <a:lnTo>
                    <a:pt x="1656575" y="50919"/>
                  </a:lnTo>
                  <a:lnTo>
                    <a:pt x="1698531" y="60747"/>
                  </a:lnTo>
                  <a:lnTo>
                    <a:pt x="1740110" y="71260"/>
                  </a:lnTo>
                  <a:lnTo>
                    <a:pt x="1781337" y="82414"/>
                  </a:lnTo>
                  <a:lnTo>
                    <a:pt x="1822237" y="94165"/>
                  </a:lnTo>
                  <a:lnTo>
                    <a:pt x="1862832" y="106469"/>
                  </a:lnTo>
                  <a:lnTo>
                    <a:pt x="1903149" y="119282"/>
                  </a:lnTo>
                  <a:lnTo>
                    <a:pt x="1943211" y="132561"/>
                  </a:lnTo>
                  <a:lnTo>
                    <a:pt x="1983043" y="146260"/>
                  </a:lnTo>
                  <a:lnTo>
                    <a:pt x="2022669" y="160337"/>
                  </a:lnTo>
                  <a:lnTo>
                    <a:pt x="2101401" y="189447"/>
                  </a:lnTo>
                  <a:lnTo>
                    <a:pt x="2490998" y="342674"/>
                  </a:lnTo>
                  <a:lnTo>
                    <a:pt x="2569470" y="372392"/>
                  </a:lnTo>
                  <a:lnTo>
                    <a:pt x="2648582" y="400980"/>
                  </a:lnTo>
                  <a:lnTo>
                    <a:pt x="2688439" y="414740"/>
                  </a:lnTo>
                  <a:lnTo>
                    <a:pt x="2728529" y="428086"/>
                  </a:lnTo>
                  <a:lnTo>
                    <a:pt x="2768876" y="440973"/>
                  </a:lnTo>
                  <a:lnTo>
                    <a:pt x="2809506" y="453358"/>
                  </a:lnTo>
                  <a:lnTo>
                    <a:pt x="2850441" y="465196"/>
                  </a:lnTo>
                  <a:lnTo>
                    <a:pt x="2891707" y="476444"/>
                  </a:lnTo>
                  <a:lnTo>
                    <a:pt x="2933328" y="487058"/>
                  </a:lnTo>
                  <a:lnTo>
                    <a:pt x="2975328" y="496993"/>
                  </a:lnTo>
                  <a:lnTo>
                    <a:pt x="3017732" y="506206"/>
                  </a:lnTo>
                  <a:lnTo>
                    <a:pt x="3060564" y="514653"/>
                  </a:lnTo>
                  <a:lnTo>
                    <a:pt x="3103849" y="522289"/>
                  </a:lnTo>
                  <a:lnTo>
                    <a:pt x="3180809" y="534210"/>
                  </a:lnTo>
                  <a:lnTo>
                    <a:pt x="3216170" y="540384"/>
                  </a:lnTo>
                  <a:lnTo>
                    <a:pt x="3253642" y="547605"/>
                  </a:lnTo>
                  <a:lnTo>
                    <a:pt x="3293172" y="555885"/>
                  </a:lnTo>
                  <a:lnTo>
                    <a:pt x="3334709" y="565235"/>
                  </a:lnTo>
                  <a:lnTo>
                    <a:pt x="3378199" y="575666"/>
                  </a:lnTo>
                  <a:lnTo>
                    <a:pt x="3423592" y="587190"/>
                  </a:lnTo>
                  <a:lnTo>
                    <a:pt x="3495134" y="606551"/>
                  </a:lnTo>
                  <a:lnTo>
                    <a:pt x="3570663" y="628435"/>
                  </a:lnTo>
                  <a:lnTo>
                    <a:pt x="3650003" y="652882"/>
                  </a:lnTo>
                  <a:lnTo>
                    <a:pt x="3732979" y="679930"/>
                  </a:lnTo>
                  <a:lnTo>
                    <a:pt x="3819414" y="709618"/>
                  </a:lnTo>
                  <a:lnTo>
                    <a:pt x="3909132" y="741984"/>
                  </a:lnTo>
                  <a:lnTo>
                    <a:pt x="4001959" y="777067"/>
                  </a:lnTo>
                  <a:lnTo>
                    <a:pt x="4097718" y="814907"/>
                  </a:lnTo>
                  <a:lnTo>
                    <a:pt x="4196233" y="855541"/>
                  </a:lnTo>
                  <a:lnTo>
                    <a:pt x="4297329" y="899009"/>
                  </a:lnTo>
                  <a:lnTo>
                    <a:pt x="4400830" y="945348"/>
                  </a:lnTo>
                  <a:lnTo>
                    <a:pt x="4506559" y="994599"/>
                  </a:lnTo>
                  <a:lnTo>
                    <a:pt x="4614342" y="1046799"/>
                  </a:lnTo>
                  <a:lnTo>
                    <a:pt x="4724003" y="1101987"/>
                  </a:lnTo>
                  <a:lnTo>
                    <a:pt x="4835365" y="1160202"/>
                  </a:lnTo>
                  <a:lnTo>
                    <a:pt x="4910465" y="1200713"/>
                  </a:lnTo>
                  <a:lnTo>
                    <a:pt x="4986191" y="1242598"/>
                  </a:lnTo>
                  <a:lnTo>
                    <a:pt x="5062491" y="1285869"/>
                  </a:lnTo>
                  <a:lnTo>
                    <a:pt x="5139313" y="1330536"/>
                  </a:lnTo>
                  <a:lnTo>
                    <a:pt x="5216604" y="1376612"/>
                  </a:lnTo>
                  <a:lnTo>
                    <a:pt x="5294314" y="1424108"/>
                  </a:lnTo>
                  <a:lnTo>
                    <a:pt x="5372389" y="1473035"/>
                  </a:lnTo>
                  <a:lnTo>
                    <a:pt x="5450778" y="1523404"/>
                  </a:lnTo>
                  <a:lnTo>
                    <a:pt x="5529428" y="1575229"/>
                  </a:lnTo>
                  <a:lnTo>
                    <a:pt x="5608288" y="1628519"/>
                  </a:lnTo>
                  <a:lnTo>
                    <a:pt x="5687305" y="1683286"/>
                  </a:lnTo>
                  <a:lnTo>
                    <a:pt x="5766427" y="1739542"/>
                  </a:lnTo>
                  <a:lnTo>
                    <a:pt x="5845602" y="1797298"/>
                  </a:lnTo>
                  <a:lnTo>
                    <a:pt x="5924779" y="1856565"/>
                  </a:lnTo>
                  <a:lnTo>
                    <a:pt x="5964351" y="1886770"/>
                  </a:lnTo>
                  <a:lnTo>
                    <a:pt x="6003904" y="1917356"/>
                  </a:lnTo>
                  <a:lnTo>
                    <a:pt x="6043432" y="1948326"/>
                  </a:lnTo>
                  <a:lnTo>
                    <a:pt x="6082927" y="1979682"/>
                  </a:lnTo>
                  <a:lnTo>
                    <a:pt x="6122383" y="2011424"/>
                  </a:lnTo>
                  <a:lnTo>
                    <a:pt x="6161794" y="2043553"/>
                  </a:lnTo>
                  <a:lnTo>
                    <a:pt x="6201153" y="2076072"/>
                  </a:lnTo>
                  <a:lnTo>
                    <a:pt x="6240454" y="2108982"/>
                  </a:lnTo>
                  <a:lnTo>
                    <a:pt x="6279689" y="2142285"/>
                  </a:lnTo>
                  <a:lnTo>
                    <a:pt x="6318854" y="2175980"/>
                  </a:lnTo>
                  <a:lnTo>
                    <a:pt x="6357941" y="2210071"/>
                  </a:lnTo>
                  <a:lnTo>
                    <a:pt x="6396943" y="2244559"/>
                  </a:lnTo>
                  <a:lnTo>
                    <a:pt x="6435855" y="2279445"/>
                  </a:lnTo>
                  <a:lnTo>
                    <a:pt x="6474669" y="2314730"/>
                  </a:lnTo>
                  <a:lnTo>
                    <a:pt x="6513379" y="2350415"/>
                  </a:lnTo>
                  <a:lnTo>
                    <a:pt x="6551979" y="2386503"/>
                  </a:lnTo>
                  <a:lnTo>
                    <a:pt x="6590461" y="2422995"/>
                  </a:lnTo>
                  <a:lnTo>
                    <a:pt x="6628821" y="2459892"/>
                  </a:lnTo>
                  <a:lnTo>
                    <a:pt x="6667050" y="2497196"/>
                  </a:lnTo>
                  <a:lnTo>
                    <a:pt x="6705143" y="2534907"/>
                  </a:lnTo>
                  <a:lnTo>
                    <a:pt x="6743093" y="2573029"/>
                  </a:lnTo>
                  <a:lnTo>
                    <a:pt x="6780894" y="2611561"/>
                  </a:lnTo>
                  <a:lnTo>
                    <a:pt x="6818538" y="2650505"/>
                  </a:lnTo>
                  <a:lnTo>
                    <a:pt x="6856020" y="2689863"/>
                  </a:lnTo>
                  <a:lnTo>
                    <a:pt x="6893333" y="2729636"/>
                  </a:lnTo>
                  <a:lnTo>
                    <a:pt x="6930471" y="2769826"/>
                  </a:lnTo>
                  <a:lnTo>
                    <a:pt x="6967426" y="2810434"/>
                  </a:lnTo>
                  <a:lnTo>
                    <a:pt x="7004193" y="2851461"/>
                  </a:lnTo>
                  <a:lnTo>
                    <a:pt x="7040765" y="2892910"/>
                  </a:lnTo>
                  <a:lnTo>
                    <a:pt x="7077136" y="2934781"/>
                  </a:lnTo>
                  <a:lnTo>
                    <a:pt x="7113298" y="2977075"/>
                  </a:lnTo>
                  <a:lnTo>
                    <a:pt x="7149246" y="3019795"/>
                  </a:lnTo>
                  <a:lnTo>
                    <a:pt x="7184972" y="3062941"/>
                  </a:lnTo>
                  <a:lnTo>
                    <a:pt x="7220471" y="3106516"/>
                  </a:lnTo>
                  <a:lnTo>
                    <a:pt x="7255736" y="3150520"/>
                  </a:lnTo>
                  <a:lnTo>
                    <a:pt x="7290760" y="3194955"/>
                  </a:lnTo>
                  <a:lnTo>
                    <a:pt x="7325537" y="3239822"/>
                  </a:lnTo>
                  <a:lnTo>
                    <a:pt x="7360061" y="3285124"/>
                  </a:lnTo>
                  <a:lnTo>
                    <a:pt x="7394324" y="3330860"/>
                  </a:lnTo>
                  <a:lnTo>
                    <a:pt x="7428321" y="3377034"/>
                  </a:lnTo>
                  <a:lnTo>
                    <a:pt x="7462044" y="3423645"/>
                  </a:lnTo>
                  <a:lnTo>
                    <a:pt x="7495488" y="3470696"/>
                  </a:lnTo>
                  <a:lnTo>
                    <a:pt x="7528645" y="3518188"/>
                  </a:lnTo>
                  <a:lnTo>
                    <a:pt x="7561510" y="3566122"/>
                  </a:lnTo>
                  <a:lnTo>
                    <a:pt x="7594076" y="3614501"/>
                  </a:lnTo>
                  <a:lnTo>
                    <a:pt x="7626336" y="3663324"/>
                  </a:lnTo>
                  <a:lnTo>
                    <a:pt x="7658284" y="3712594"/>
                  </a:lnTo>
                  <a:lnTo>
                    <a:pt x="7689912" y="3762313"/>
                  </a:lnTo>
                  <a:lnTo>
                    <a:pt x="7721216" y="3812481"/>
                  </a:lnTo>
                  <a:lnTo>
                    <a:pt x="7752188" y="3863100"/>
                  </a:lnTo>
                  <a:lnTo>
                    <a:pt x="7782821" y="3914172"/>
                  </a:lnTo>
                  <a:lnTo>
                    <a:pt x="7813110" y="3965697"/>
                  </a:lnTo>
                  <a:lnTo>
                    <a:pt x="7843048" y="4017678"/>
                  </a:lnTo>
                  <a:lnTo>
                    <a:pt x="7872627" y="4070116"/>
                  </a:lnTo>
                  <a:lnTo>
                    <a:pt x="7901843" y="4123012"/>
                  </a:lnTo>
                  <a:lnTo>
                    <a:pt x="7930687" y="4176367"/>
                  </a:lnTo>
                  <a:lnTo>
                    <a:pt x="7959154" y="4230184"/>
                  </a:lnTo>
                  <a:lnTo>
                    <a:pt x="7974675" y="4260182"/>
                  </a:lnTo>
                  <a:close/>
                </a:path>
              </a:pathLst>
            </a:custGeom>
            <a:solidFill>
              <a:srgbClr val="BFA172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85645" y="6626137"/>
              <a:ext cx="149089" cy="14908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85645" y="8053133"/>
              <a:ext cx="149089" cy="149088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74625">
              <a:lnSpc>
                <a:spcPct val="100000"/>
              </a:lnSpc>
              <a:spcBef>
                <a:spcPts val="100"/>
              </a:spcBef>
            </a:pPr>
            <a:r>
              <a:rPr dirty="0"/>
              <a:t>Results</a:t>
            </a:r>
            <a:r>
              <a:rPr dirty="0" spc="-60"/>
              <a:t> </a:t>
            </a:r>
            <a:r>
              <a:rPr dirty="0"/>
              <a:t>and</a:t>
            </a:r>
            <a:r>
              <a:rPr dirty="0" spc="-60"/>
              <a:t> </a:t>
            </a:r>
            <a:r>
              <a:rPr dirty="0" spc="-10"/>
              <a:t>Insights</a:t>
            </a: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85645" y="2345150"/>
            <a:ext cx="149089" cy="14908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285645" y="3772146"/>
            <a:ext cx="149089" cy="14908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285645" y="5199141"/>
            <a:ext cx="149089" cy="149089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Most</a:t>
            </a:r>
            <a:r>
              <a:rPr dirty="0" spc="-5"/>
              <a:t> </a:t>
            </a:r>
            <a:r>
              <a:rPr dirty="0"/>
              <a:t>tracks</a:t>
            </a:r>
            <a:r>
              <a:rPr dirty="0" spc="5"/>
              <a:t> </a:t>
            </a:r>
            <a:r>
              <a:rPr dirty="0"/>
              <a:t>have</a:t>
            </a:r>
            <a:r>
              <a:rPr dirty="0" spc="5"/>
              <a:t> </a:t>
            </a:r>
            <a:r>
              <a:rPr dirty="0"/>
              <a:t>medium</a:t>
            </a:r>
            <a:r>
              <a:rPr dirty="0" spc="5"/>
              <a:t> </a:t>
            </a:r>
            <a:r>
              <a:rPr dirty="0" spc="-10"/>
              <a:t>popularity.</a:t>
            </a:r>
          </a:p>
          <a:p>
            <a:pPr marL="12700" marR="3211830">
              <a:lnSpc>
                <a:spcPct val="234100"/>
              </a:lnSpc>
            </a:pPr>
            <a:r>
              <a:rPr dirty="0"/>
              <a:t>Energy</a:t>
            </a:r>
            <a:r>
              <a:rPr dirty="0" spc="-10"/>
              <a:t> </a:t>
            </a:r>
            <a:r>
              <a:rPr dirty="0"/>
              <a:t>and</a:t>
            </a:r>
            <a:r>
              <a:rPr dirty="0" spc="-10"/>
              <a:t> </a:t>
            </a:r>
            <a:r>
              <a:rPr dirty="0"/>
              <a:t>loudness</a:t>
            </a:r>
            <a:r>
              <a:rPr dirty="0" spc="-10"/>
              <a:t> </a:t>
            </a:r>
            <a:r>
              <a:rPr dirty="0"/>
              <a:t>are</a:t>
            </a:r>
            <a:r>
              <a:rPr dirty="0" spc="-10"/>
              <a:t> </a:t>
            </a:r>
            <a:r>
              <a:rPr dirty="0"/>
              <a:t>strongly</a:t>
            </a:r>
            <a:r>
              <a:rPr dirty="0" spc="-10"/>
              <a:t> related. </a:t>
            </a:r>
            <a:r>
              <a:rPr dirty="0"/>
              <a:t>Danceability</a:t>
            </a:r>
            <a:r>
              <a:rPr dirty="0" spc="5"/>
              <a:t> </a:t>
            </a:r>
            <a:r>
              <a:rPr dirty="0"/>
              <a:t>influences</a:t>
            </a:r>
            <a:r>
              <a:rPr dirty="0" spc="5"/>
              <a:t> </a:t>
            </a:r>
            <a:r>
              <a:rPr dirty="0"/>
              <a:t>popularity</a:t>
            </a:r>
            <a:r>
              <a:rPr dirty="0" spc="5"/>
              <a:t> </a:t>
            </a:r>
            <a:r>
              <a:rPr dirty="0"/>
              <a:t>to</a:t>
            </a:r>
            <a:r>
              <a:rPr dirty="0" spc="5"/>
              <a:t> </a:t>
            </a:r>
            <a:r>
              <a:rPr dirty="0"/>
              <a:t>some</a:t>
            </a:r>
            <a:r>
              <a:rPr dirty="0" spc="5"/>
              <a:t> </a:t>
            </a:r>
            <a:r>
              <a:rPr dirty="0" spc="-10"/>
              <a:t>extent. </a:t>
            </a:r>
            <a:r>
              <a:rPr dirty="0"/>
              <a:t>Outliers</a:t>
            </a:r>
            <a:r>
              <a:rPr dirty="0" spc="5"/>
              <a:t> </a:t>
            </a:r>
            <a:r>
              <a:rPr dirty="0"/>
              <a:t>exist</a:t>
            </a:r>
            <a:r>
              <a:rPr dirty="0" spc="5"/>
              <a:t> </a:t>
            </a:r>
            <a:r>
              <a:rPr dirty="0"/>
              <a:t>in</a:t>
            </a:r>
            <a:r>
              <a:rPr dirty="0" spc="5"/>
              <a:t> </a:t>
            </a:r>
            <a:r>
              <a:rPr dirty="0"/>
              <a:t>tempo</a:t>
            </a:r>
            <a:r>
              <a:rPr dirty="0" spc="5"/>
              <a:t> </a:t>
            </a:r>
            <a:r>
              <a:rPr dirty="0"/>
              <a:t>and</a:t>
            </a:r>
            <a:r>
              <a:rPr dirty="0" spc="5"/>
              <a:t> </a:t>
            </a:r>
            <a:r>
              <a:rPr dirty="0" spc="-10"/>
              <a:t>duration.</a:t>
            </a:r>
          </a:p>
          <a:p>
            <a:pPr>
              <a:lnSpc>
                <a:spcPct val="100000"/>
              </a:lnSpc>
              <a:spcBef>
                <a:spcPts val="1835"/>
              </a:spcBef>
            </a:pPr>
          </a:p>
          <a:p>
            <a:pPr marL="12700">
              <a:lnSpc>
                <a:spcPct val="100000"/>
              </a:lnSpc>
            </a:pPr>
            <a:r>
              <a:rPr dirty="0"/>
              <a:t>The</a:t>
            </a:r>
            <a:r>
              <a:rPr dirty="0" spc="5"/>
              <a:t> </a:t>
            </a:r>
            <a:r>
              <a:rPr dirty="0"/>
              <a:t>dataset</a:t>
            </a:r>
            <a:r>
              <a:rPr dirty="0" spc="5"/>
              <a:t> </a:t>
            </a:r>
            <a:r>
              <a:rPr dirty="0"/>
              <a:t>is</a:t>
            </a:r>
            <a:r>
              <a:rPr dirty="0" spc="5"/>
              <a:t> </a:t>
            </a:r>
            <a:r>
              <a:rPr dirty="0"/>
              <a:t>suitable</a:t>
            </a:r>
            <a:r>
              <a:rPr dirty="0" spc="5"/>
              <a:t> </a:t>
            </a:r>
            <a:r>
              <a:rPr dirty="0"/>
              <a:t>for</a:t>
            </a:r>
            <a:r>
              <a:rPr dirty="0" spc="5"/>
              <a:t> </a:t>
            </a:r>
            <a:r>
              <a:rPr dirty="0"/>
              <a:t>predictive</a:t>
            </a:r>
            <a:r>
              <a:rPr dirty="0" spc="5"/>
              <a:t> </a:t>
            </a:r>
            <a:r>
              <a:rPr dirty="0"/>
              <a:t>modeling</a:t>
            </a:r>
            <a:r>
              <a:rPr dirty="0" spc="5"/>
              <a:t> </a:t>
            </a:r>
            <a:r>
              <a:rPr dirty="0"/>
              <a:t>after</a:t>
            </a:r>
            <a:r>
              <a:rPr dirty="0" spc="5"/>
              <a:t> </a:t>
            </a:r>
            <a:r>
              <a:rPr dirty="0" spc="-10"/>
              <a:t>preprocessing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62241" y="3159442"/>
            <a:ext cx="142875" cy="14287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62241" y="3797617"/>
            <a:ext cx="142875" cy="1428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62241" y="4435792"/>
            <a:ext cx="142875" cy="1428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162241" y="5073967"/>
            <a:ext cx="142875" cy="1428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162241" y="5712142"/>
            <a:ext cx="142875" cy="142874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3948054" y="6355079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3349" y="133349"/>
                </a:moveTo>
                <a:lnTo>
                  <a:pt x="0" y="133349"/>
                </a:lnTo>
                <a:lnTo>
                  <a:pt x="0" y="0"/>
                </a:lnTo>
                <a:lnTo>
                  <a:pt x="133349" y="0"/>
                </a:lnTo>
                <a:lnTo>
                  <a:pt x="133349" y="133349"/>
                </a:lnTo>
                <a:close/>
              </a:path>
            </a:pathLst>
          </a:custGeom>
          <a:solidFill>
            <a:srgbClr val="5C482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948054" y="6993254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3349" y="133349"/>
                </a:moveTo>
                <a:lnTo>
                  <a:pt x="0" y="133349"/>
                </a:lnTo>
                <a:lnTo>
                  <a:pt x="0" y="0"/>
                </a:lnTo>
                <a:lnTo>
                  <a:pt x="133349" y="0"/>
                </a:lnTo>
                <a:lnTo>
                  <a:pt x="133349" y="133349"/>
                </a:lnTo>
                <a:close/>
              </a:path>
            </a:pathLst>
          </a:custGeom>
          <a:solidFill>
            <a:srgbClr val="5C482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948054" y="7631429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3349" y="133349"/>
                </a:moveTo>
                <a:lnTo>
                  <a:pt x="0" y="133349"/>
                </a:lnTo>
                <a:lnTo>
                  <a:pt x="0" y="0"/>
                </a:lnTo>
                <a:lnTo>
                  <a:pt x="133349" y="0"/>
                </a:lnTo>
                <a:lnTo>
                  <a:pt x="133349" y="133349"/>
                </a:lnTo>
                <a:close/>
              </a:path>
            </a:pathLst>
          </a:custGeom>
          <a:solidFill>
            <a:srgbClr val="5C4828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162241" y="8264842"/>
            <a:ext cx="142875" cy="14287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162241" y="8903017"/>
            <a:ext cx="142875" cy="14287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162241" y="9541192"/>
            <a:ext cx="142875" cy="142874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935104" y="1528445"/>
            <a:ext cx="8943975" cy="8321675"/>
          </a:xfrm>
          <a:prstGeom prst="rect">
            <a:avLst/>
          </a:prstGeom>
        </p:spPr>
        <p:txBody>
          <a:bodyPr wrap="square" lIns="0" tIns="1022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dirty="0" sz="3600" b="1">
                <a:solidFill>
                  <a:srgbClr val="5C4828"/>
                </a:solidFill>
                <a:latin typeface="Times New Roman"/>
                <a:cs typeface="Times New Roman"/>
              </a:rPr>
              <a:t>Next</a:t>
            </a:r>
            <a:r>
              <a:rPr dirty="0" sz="3600" spc="-75" b="1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600" spc="-10" b="1">
                <a:solidFill>
                  <a:srgbClr val="5C4828"/>
                </a:solidFill>
                <a:latin typeface="Times New Roman"/>
                <a:cs typeface="Times New Roman"/>
              </a:rPr>
              <a:t>Phase</a:t>
            </a:r>
            <a:endParaRPr sz="3600">
              <a:latin typeface="Times New Roman"/>
              <a:cs typeface="Times New Roman"/>
            </a:endParaRPr>
          </a:p>
          <a:p>
            <a:pPr marL="1566545" marR="429259" indent="-754380">
              <a:lnSpc>
                <a:spcPct val="116300"/>
              </a:lnSpc>
            </a:pPr>
            <a:r>
              <a:rPr dirty="0" sz="3600">
                <a:solidFill>
                  <a:srgbClr val="5C4828"/>
                </a:solidFill>
                <a:latin typeface="Times New Roman"/>
                <a:cs typeface="Times New Roman"/>
              </a:rPr>
              <a:t>In</a:t>
            </a:r>
            <a:r>
              <a:rPr dirty="0" sz="3600" spc="-5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600">
                <a:solidFill>
                  <a:srgbClr val="5C4828"/>
                </a:solidFill>
                <a:latin typeface="Times New Roman"/>
                <a:cs typeface="Times New Roman"/>
              </a:rPr>
              <a:t>the</a:t>
            </a:r>
            <a:r>
              <a:rPr dirty="0" sz="3600" spc="-5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600">
                <a:solidFill>
                  <a:srgbClr val="5C4828"/>
                </a:solidFill>
                <a:latin typeface="Times New Roman"/>
                <a:cs typeface="Times New Roman"/>
              </a:rPr>
              <a:t>next</a:t>
            </a:r>
            <a:r>
              <a:rPr dirty="0" sz="3600" spc="-50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600">
                <a:solidFill>
                  <a:srgbClr val="5C4828"/>
                </a:solidFill>
                <a:latin typeface="Times New Roman"/>
                <a:cs typeface="Times New Roman"/>
              </a:rPr>
              <a:t>phase,</a:t>
            </a:r>
            <a:r>
              <a:rPr dirty="0" sz="3600" spc="-5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600">
                <a:solidFill>
                  <a:srgbClr val="5C4828"/>
                </a:solidFill>
                <a:latin typeface="Times New Roman"/>
                <a:cs typeface="Times New Roman"/>
              </a:rPr>
              <a:t>the</a:t>
            </a:r>
            <a:r>
              <a:rPr dirty="0" sz="3600" spc="-50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600">
                <a:solidFill>
                  <a:srgbClr val="5C4828"/>
                </a:solidFill>
                <a:latin typeface="Times New Roman"/>
                <a:cs typeface="Times New Roman"/>
              </a:rPr>
              <a:t>project</a:t>
            </a:r>
            <a:r>
              <a:rPr dirty="0" sz="3600" spc="-5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600">
                <a:solidFill>
                  <a:srgbClr val="5C4828"/>
                </a:solidFill>
                <a:latin typeface="Times New Roman"/>
                <a:cs typeface="Times New Roman"/>
              </a:rPr>
              <a:t>will</a:t>
            </a:r>
            <a:r>
              <a:rPr dirty="0" sz="3600" spc="-5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600" spc="-10">
                <a:solidFill>
                  <a:srgbClr val="5C4828"/>
                </a:solidFill>
                <a:latin typeface="Times New Roman"/>
                <a:cs typeface="Times New Roman"/>
              </a:rPr>
              <a:t>include: </a:t>
            </a:r>
            <a:r>
              <a:rPr dirty="0" sz="3600">
                <a:solidFill>
                  <a:srgbClr val="5C4828"/>
                </a:solidFill>
                <a:latin typeface="Times New Roman"/>
                <a:cs typeface="Times New Roman"/>
              </a:rPr>
              <a:t>Feature</a:t>
            </a:r>
            <a:r>
              <a:rPr dirty="0" sz="3600" spc="-110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600" spc="-10">
                <a:solidFill>
                  <a:srgbClr val="5C4828"/>
                </a:solidFill>
                <a:latin typeface="Times New Roman"/>
                <a:cs typeface="Times New Roman"/>
              </a:rPr>
              <a:t>Engineering</a:t>
            </a:r>
            <a:endParaRPr sz="3600">
              <a:latin typeface="Times New Roman"/>
              <a:cs typeface="Times New Roman"/>
            </a:endParaRPr>
          </a:p>
          <a:p>
            <a:pPr marL="1566545" marR="5019675">
              <a:lnSpc>
                <a:spcPct val="116300"/>
              </a:lnSpc>
            </a:pPr>
            <a:r>
              <a:rPr dirty="0" sz="3600">
                <a:solidFill>
                  <a:srgbClr val="5C4828"/>
                </a:solidFill>
                <a:latin typeface="Times New Roman"/>
                <a:cs typeface="Times New Roman"/>
              </a:rPr>
              <a:t>Data</a:t>
            </a:r>
            <a:r>
              <a:rPr dirty="0" sz="3600" spc="-70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600" spc="-10">
                <a:solidFill>
                  <a:srgbClr val="5C4828"/>
                </a:solidFill>
                <a:latin typeface="Times New Roman"/>
                <a:cs typeface="Times New Roman"/>
              </a:rPr>
              <a:t>Scaling Encoding</a:t>
            </a:r>
            <a:endParaRPr sz="3600">
              <a:latin typeface="Times New Roman"/>
              <a:cs typeface="Times New Roman"/>
            </a:endParaRPr>
          </a:p>
          <a:p>
            <a:pPr marL="1566545">
              <a:lnSpc>
                <a:spcPct val="100000"/>
              </a:lnSpc>
              <a:spcBef>
                <a:spcPts val="705"/>
              </a:spcBef>
            </a:pPr>
            <a:r>
              <a:rPr dirty="0" sz="3600" spc="-15">
                <a:solidFill>
                  <a:srgbClr val="5C4828"/>
                </a:solidFill>
                <a:latin typeface="Times New Roman"/>
                <a:cs typeface="Times New Roman"/>
              </a:rPr>
              <a:t>Train-</a:t>
            </a:r>
            <a:r>
              <a:rPr dirty="0" sz="3600">
                <a:solidFill>
                  <a:srgbClr val="5C4828"/>
                </a:solidFill>
                <a:latin typeface="Times New Roman"/>
                <a:cs typeface="Times New Roman"/>
              </a:rPr>
              <a:t>Test</a:t>
            </a:r>
            <a:r>
              <a:rPr dirty="0" sz="3600" spc="-6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600" spc="-10">
                <a:solidFill>
                  <a:srgbClr val="5C4828"/>
                </a:solidFill>
                <a:latin typeface="Times New Roman"/>
                <a:cs typeface="Times New Roman"/>
              </a:rPr>
              <a:t>Split</a:t>
            </a:r>
            <a:endParaRPr sz="3600">
              <a:latin typeface="Times New Roman"/>
              <a:cs typeface="Times New Roman"/>
            </a:endParaRPr>
          </a:p>
          <a:p>
            <a:pPr marL="2343785" marR="2518410" indent="-777875">
              <a:lnSpc>
                <a:spcPct val="116300"/>
              </a:lnSpc>
            </a:pPr>
            <a:r>
              <a:rPr dirty="0" sz="3600">
                <a:solidFill>
                  <a:srgbClr val="5C4828"/>
                </a:solidFill>
                <a:latin typeface="Times New Roman"/>
                <a:cs typeface="Times New Roman"/>
              </a:rPr>
              <a:t>Machine</a:t>
            </a:r>
            <a:r>
              <a:rPr dirty="0" sz="3600" spc="-130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600">
                <a:solidFill>
                  <a:srgbClr val="5C4828"/>
                </a:solidFill>
                <a:latin typeface="Times New Roman"/>
                <a:cs typeface="Times New Roman"/>
              </a:rPr>
              <a:t>Learning</a:t>
            </a:r>
            <a:r>
              <a:rPr dirty="0" sz="3600" spc="-130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600" spc="-10">
                <a:solidFill>
                  <a:srgbClr val="5C4828"/>
                </a:solidFill>
                <a:latin typeface="Times New Roman"/>
                <a:cs typeface="Times New Roman"/>
              </a:rPr>
              <a:t>Models </a:t>
            </a:r>
            <a:r>
              <a:rPr dirty="0" sz="3600">
                <a:solidFill>
                  <a:srgbClr val="5C4828"/>
                </a:solidFill>
                <a:latin typeface="Times New Roman"/>
                <a:cs typeface="Times New Roman"/>
              </a:rPr>
              <a:t>Linear</a:t>
            </a:r>
            <a:r>
              <a:rPr dirty="0" sz="3600" spc="-9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600" spc="-10">
                <a:solidFill>
                  <a:srgbClr val="5C4828"/>
                </a:solidFill>
                <a:latin typeface="Times New Roman"/>
                <a:cs typeface="Times New Roman"/>
              </a:rPr>
              <a:t>Regression </a:t>
            </a:r>
            <a:r>
              <a:rPr dirty="0" sz="3600">
                <a:solidFill>
                  <a:srgbClr val="5C4828"/>
                </a:solidFill>
                <a:latin typeface="Times New Roman"/>
                <a:cs typeface="Times New Roman"/>
              </a:rPr>
              <a:t>Random</a:t>
            </a:r>
            <a:r>
              <a:rPr dirty="0" sz="3600" spc="-12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600" spc="-10">
                <a:solidFill>
                  <a:srgbClr val="5C4828"/>
                </a:solidFill>
                <a:latin typeface="Times New Roman"/>
                <a:cs typeface="Times New Roman"/>
              </a:rPr>
              <a:t>Forest </a:t>
            </a:r>
            <a:r>
              <a:rPr dirty="0" sz="3600">
                <a:solidFill>
                  <a:srgbClr val="5C4828"/>
                </a:solidFill>
                <a:latin typeface="Times New Roman"/>
                <a:cs typeface="Times New Roman"/>
              </a:rPr>
              <a:t>Decision</a:t>
            </a:r>
            <a:r>
              <a:rPr dirty="0" sz="3600" spc="-130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600" spc="-20">
                <a:solidFill>
                  <a:srgbClr val="5C4828"/>
                </a:solidFill>
                <a:latin typeface="Times New Roman"/>
                <a:cs typeface="Times New Roman"/>
              </a:rPr>
              <a:t>Tree</a:t>
            </a:r>
            <a:endParaRPr sz="3600">
              <a:latin typeface="Times New Roman"/>
              <a:cs typeface="Times New Roman"/>
            </a:endParaRPr>
          </a:p>
          <a:p>
            <a:pPr marL="1566545">
              <a:lnSpc>
                <a:spcPct val="100000"/>
              </a:lnSpc>
              <a:spcBef>
                <a:spcPts val="705"/>
              </a:spcBef>
            </a:pPr>
            <a:r>
              <a:rPr dirty="0" sz="3600">
                <a:solidFill>
                  <a:srgbClr val="5C4828"/>
                </a:solidFill>
                <a:latin typeface="Times New Roman"/>
                <a:cs typeface="Times New Roman"/>
              </a:rPr>
              <a:t>Model</a:t>
            </a:r>
            <a:r>
              <a:rPr dirty="0" sz="3600" spc="-9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600" spc="-10">
                <a:solidFill>
                  <a:srgbClr val="5C4828"/>
                </a:solidFill>
                <a:latin typeface="Times New Roman"/>
                <a:cs typeface="Times New Roman"/>
              </a:rPr>
              <a:t>Evaluation</a:t>
            </a:r>
            <a:endParaRPr sz="3600">
              <a:latin typeface="Times New Roman"/>
              <a:cs typeface="Times New Roman"/>
            </a:endParaRPr>
          </a:p>
          <a:p>
            <a:pPr marL="1566545" marR="5080">
              <a:lnSpc>
                <a:spcPct val="116300"/>
              </a:lnSpc>
            </a:pPr>
            <a:r>
              <a:rPr dirty="0" sz="3600">
                <a:solidFill>
                  <a:srgbClr val="5C4828"/>
                </a:solidFill>
                <a:latin typeface="Times New Roman"/>
                <a:cs typeface="Times New Roman"/>
              </a:rPr>
              <a:t>Interactive</a:t>
            </a:r>
            <a:r>
              <a:rPr dirty="0" sz="3600" spc="-15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600">
                <a:solidFill>
                  <a:srgbClr val="5C4828"/>
                </a:solidFill>
                <a:latin typeface="Times New Roman"/>
                <a:cs typeface="Times New Roman"/>
              </a:rPr>
              <a:t>Dashboard</a:t>
            </a:r>
            <a:r>
              <a:rPr dirty="0" sz="3600" spc="-15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600" spc="-10">
                <a:solidFill>
                  <a:srgbClr val="5C4828"/>
                </a:solidFill>
                <a:latin typeface="Times New Roman"/>
                <a:cs typeface="Times New Roman"/>
              </a:rPr>
              <a:t>(Streamlit/Plotly) </a:t>
            </a:r>
            <a:r>
              <a:rPr dirty="0" sz="3600">
                <a:solidFill>
                  <a:srgbClr val="5C4828"/>
                </a:solidFill>
                <a:latin typeface="Times New Roman"/>
                <a:cs typeface="Times New Roman"/>
              </a:rPr>
              <a:t>Business</a:t>
            </a:r>
            <a:r>
              <a:rPr dirty="0" sz="3600" spc="-20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600">
                <a:solidFill>
                  <a:srgbClr val="5C4828"/>
                </a:solidFill>
                <a:latin typeface="Times New Roman"/>
                <a:cs typeface="Times New Roman"/>
              </a:rPr>
              <a:t>Insights</a:t>
            </a:r>
            <a:r>
              <a:rPr dirty="0" sz="3600" spc="-15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600">
                <a:solidFill>
                  <a:srgbClr val="5C4828"/>
                </a:solidFill>
                <a:latin typeface="Times New Roman"/>
                <a:cs typeface="Times New Roman"/>
              </a:rPr>
              <a:t>and</a:t>
            </a:r>
            <a:r>
              <a:rPr dirty="0" sz="3600" spc="-20">
                <a:solidFill>
                  <a:srgbClr val="5C4828"/>
                </a:solidFill>
                <a:latin typeface="Times New Roman"/>
                <a:cs typeface="Times New Roman"/>
              </a:rPr>
              <a:t> </a:t>
            </a:r>
            <a:r>
              <a:rPr dirty="0" sz="3600" spc="-10">
                <a:solidFill>
                  <a:srgbClr val="5C4828"/>
                </a:solidFill>
                <a:latin typeface="Times New Roman"/>
                <a:cs typeface="Times New Roman"/>
              </a:rPr>
              <a:t>Storytelling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xfrm>
            <a:off x="1016148" y="742332"/>
            <a:ext cx="4009390" cy="8788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Future</a:t>
            </a:r>
            <a:r>
              <a:rPr dirty="0" spc="-315"/>
              <a:t> </a:t>
            </a:r>
            <a:r>
              <a:rPr dirty="0" spc="-45"/>
              <a:t>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5C4828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Viknesh T</dc:creator>
  <cp:keywords>DAHQwSSS5Zs,BAG8PAL23Bo</cp:keywords>
  <dc:title>Light Brown Dark Green Organic Retro Tropical Health and Wellness Strategy Deck Brand Guidelines Presentation</dc:title>
  <dcterms:created xsi:type="dcterms:W3CDTF">2026-07-29T18:15:02Z</dcterms:created>
  <dcterms:modified xsi:type="dcterms:W3CDTF">2026-07-29T18:15:02Z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2026-07-29T00:00:00Z</vt:filetime>
  </property>
  <property fmtid="{D5CDD505-2E9C-101B-9397-08002B2CF9AE}" pid="4" name="Creator">
    <vt:lpwstr>Canva</vt:lpwstr>
  </property>
  <property fmtid="{D5CDD505-2E9C-101B-9397-08002B2CF9AE}" pid="5" name="LastSaved">
    <vt:filetime>2026-07-29T00:00:00Z</vt:filetime>
  </property>
  <property fmtid="{D5CDD505-2E9C-101B-9397-08002B2CF9AE}" pid="6" name="Producer">
    <vt:lpwstr>Canva</vt:lpwstr>
  </property>
</Properties>
</file>