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imes New Roman Bold" charset="1" panose="02020803070505020304"/>
      <p:regular r:id="rId20"/>
    </p:embeddedFont>
    <p:embeddedFont>
      <p:font typeface="Times New Roman" charset="1" panose="02020603050405020304"/>
      <p:regular r:id="rId21"/>
    </p:embeddedFont>
    <p:embeddedFont>
      <p:font typeface="Poppins Bold" charset="1" panose="00000800000000000000"/>
      <p:regular r:id="rId22"/>
    </p:embeddedFont>
    <p:embeddedFont>
      <p:font typeface="Canva Sans Bold" charset="1" panose="020B0803030501040103"/>
      <p:regular r:id="rId23"/>
    </p:embeddedFont>
    <p:embeddedFont>
      <p:font typeface="Arimo Bold" charset="1" panose="020B0704020202020204"/>
      <p:regular r:id="rId24"/>
    </p:embeddedFont>
    <p:embeddedFont>
      <p:font typeface="Poppins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https://www.kaggle.com/datasets/nikitatkachenko/19332-spotify-songs?utm_source=chatgpt.com" TargetMode="External" Type="http://schemas.openxmlformats.org/officeDocument/2006/relationships/hyperlink"/><Relationship Id="rId5" Target="https://www.python.org" TargetMode="External" Type="http://schemas.openxmlformats.org/officeDocument/2006/relationships/hyperlink"/><Relationship Id="rId6" Target="https://pandas.pydata.org" TargetMode="External" Type="http://schemas.openxmlformats.org/officeDocument/2006/relationships/hyperlink"/><Relationship Id="rId7" Target="https://numpy.org" TargetMode="External" Type="http://schemas.openxmlformats.org/officeDocument/2006/relationships/hyperlink"/><Relationship Id="rId8" Target="https://matplotlib.org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" y="190500"/>
            <a:ext cx="1299886" cy="1278579"/>
            <a:chOff x="0" y="0"/>
            <a:chExt cx="1733182" cy="17047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3169" cy="1704721"/>
            </a:xfrm>
            <a:custGeom>
              <a:avLst/>
              <a:gdLst/>
              <a:ahLst/>
              <a:cxnLst/>
              <a:rect r="r" b="b" t="t" l="l"/>
              <a:pathLst>
                <a:path h="1704721" w="1733169">
                  <a:moveTo>
                    <a:pt x="0" y="0"/>
                  </a:moveTo>
                  <a:lnTo>
                    <a:pt x="1733169" y="0"/>
                  </a:lnTo>
                  <a:lnTo>
                    <a:pt x="1733169" y="1704721"/>
                  </a:lnTo>
                  <a:lnTo>
                    <a:pt x="0" y="1704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834" t="0" r="-11835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37786" y="190500"/>
            <a:ext cx="2519086" cy="945899"/>
            <a:chOff x="0" y="0"/>
            <a:chExt cx="3358782" cy="12611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58769" cy="1261237"/>
            </a:xfrm>
            <a:custGeom>
              <a:avLst/>
              <a:gdLst/>
              <a:ahLst/>
              <a:cxnLst/>
              <a:rect r="r" b="b" t="t" l="l"/>
              <a:pathLst>
                <a:path h="1261237" w="3358769">
                  <a:moveTo>
                    <a:pt x="0" y="0"/>
                  </a:moveTo>
                  <a:lnTo>
                    <a:pt x="3358769" y="0"/>
                  </a:lnTo>
                  <a:lnTo>
                    <a:pt x="3358769" y="1261237"/>
                  </a:lnTo>
                  <a:lnTo>
                    <a:pt x="0" y="1261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923" r="0" b="-1191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231061" y="410804"/>
            <a:ext cx="11180664" cy="263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6"/>
              </a:lnSpc>
            </a:pPr>
            <a:r>
              <a:rPr lang="en-US" sz="499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Artificial Intelligence and Data Science</a:t>
            </a:r>
          </a:p>
          <a:p>
            <a:pPr algn="ctr">
              <a:lnSpc>
                <a:spcPts val="6435"/>
              </a:lnSpc>
            </a:pPr>
            <a:r>
              <a:rPr lang="en-US" sz="459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Science and Visualization</a:t>
            </a:r>
          </a:p>
          <a:p>
            <a:pPr algn="ctr">
              <a:lnSpc>
                <a:spcPts val="6435"/>
              </a:lnSpc>
            </a:pPr>
            <a:r>
              <a:rPr lang="en-US" sz="459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24ADI204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19802" y="3317253"/>
            <a:ext cx="10410901" cy="135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5"/>
              </a:lnSpc>
            </a:pPr>
            <a:r>
              <a:rPr lang="en-US" sz="356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DATA-VIZ HACK-A-BIT (2026-2027) </a:t>
            </a:r>
          </a:p>
          <a:p>
            <a:pPr algn="ctr">
              <a:lnSpc>
                <a:spcPts val="498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008780" y="5412086"/>
            <a:ext cx="4887820" cy="64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6"/>
              </a:lnSpc>
            </a:pPr>
            <a:r>
              <a:rPr lang="en-US" sz="3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Number:  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57800" y="4417819"/>
            <a:ext cx="6324600" cy="51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MID REVIEW (September 2026)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77133" y="7126009"/>
            <a:ext cx="6044260" cy="249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Prithesa R – 25BAD083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Saravanan A – 25BAD102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777133" y="6130279"/>
            <a:ext cx="12733734" cy="5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Disc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overing the Factors Behind Song Popularity Through Data Science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35260" y="7621355"/>
            <a:ext cx="4576465" cy="150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Tejas T – 25BAD124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Viknesh A – 25BAD128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22448" y="742121"/>
            <a:ext cx="8840172" cy="136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8"/>
              </a:lnSpc>
            </a:pPr>
            <a:r>
              <a:rPr lang="en-US" sz="659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384"/>
            <a:ext cx="14749115" cy="914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music industry produces a huge number of songs every week, making it difficult to 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understand what contributes to a song's popularity.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152598"/>
            <a:ext cx="19188142" cy="5029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Spotify contains a large number of songs with different audio characteristics and popularity </a:t>
            </a: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</a:t>
            </a: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levels.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Understanding which song attributes are associated with popularity can help identify</a:t>
            </a: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meaningful patterns in music data.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project analyzes audio features such as danceability, energy, loudness, acousticness, </a:t>
            </a: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valence, tempo, speechiness, instrumentalness, and liveness.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Science and Visualization techniques are used to explore relationships between these </a:t>
            </a: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</a:t>
            </a: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 and song popularity.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goal is to transform raw Spotify data into meaningful insights through systematic analysis</a:t>
            </a: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</a:t>
            </a: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and visualization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22448" y="742121"/>
            <a:ext cx="8840172" cy="136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8"/>
              </a:lnSpc>
            </a:pPr>
            <a:r>
              <a:rPr lang="en-US" sz="659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49807"/>
            <a:ext cx="16731633" cy="640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Understand and analyze the Spotify Songs dataset.</a:t>
            </a:r>
          </a:p>
          <a:p>
            <a:pPr algn="just">
              <a:lnSpc>
                <a:spcPts val="3640"/>
              </a:lnSpc>
            </a:pP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Clean and prepare the dataset for reliable analysis.</a:t>
            </a:r>
          </a:p>
          <a:p>
            <a:pPr algn="just">
              <a:lnSpc>
                <a:spcPts val="3640"/>
              </a:lnSpc>
            </a:pP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Handle missing values and identify potential outliers.</a:t>
            </a:r>
          </a:p>
          <a:p>
            <a:pPr algn="just">
              <a:lnSpc>
                <a:spcPts val="3640"/>
              </a:lnSpc>
            </a:pP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 univariate and bivariate exploratory data analysis (EDA).</a:t>
            </a:r>
          </a:p>
          <a:p>
            <a:pPr algn="just">
              <a:lnSpc>
                <a:spcPts val="3640"/>
              </a:lnSpc>
            </a:pP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Analyze relationships between audio features and song popularity.</a:t>
            </a:r>
          </a:p>
          <a:p>
            <a:pPr algn="just">
              <a:lnSpc>
                <a:spcPts val="3640"/>
              </a:lnSpc>
            </a:pP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Study correlations among important numerical features.</a:t>
            </a:r>
          </a:p>
          <a:p>
            <a:pPr algn="just">
              <a:lnSpc>
                <a:spcPts val="3640"/>
              </a:lnSpc>
            </a:pP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 visualizations and an interactive dashboard for data storytelling.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22448" y="742121"/>
            <a:ext cx="8840172" cy="136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8"/>
              </a:lnSpc>
            </a:pPr>
            <a:r>
              <a:rPr lang="en-US" sz="659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Scope of the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29064" y="3573079"/>
            <a:ext cx="6913470" cy="506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Preparati</a:t>
            </a:r>
            <a:r>
              <a:rPr lang="en-US" b="true" sz="360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on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understanding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Missing-value handling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 detection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Analysis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Univariate analysis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Bivariate analysis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 analysis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3573079"/>
            <a:ext cx="8444291" cy="541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Analysis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engineering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selection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PCA and dimensionality reduction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Visualization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Statistical plots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 heatmaps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dashboard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Data-driven storytelling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22448" y="742121"/>
            <a:ext cx="8840172" cy="136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8"/>
              </a:lnSpc>
            </a:pPr>
            <a:r>
              <a:rPr lang="en-US" sz="659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Description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83974"/>
            <a:ext cx="8011930" cy="100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Spotify Songs Dataset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Source: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Kaggle – Nikita Tkachenko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489323"/>
            <a:ext cx="9101893" cy="150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Variable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Popularity: Score ranging from 0–100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904246"/>
            <a:ext cx="9542468" cy="199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Data Type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Structured dataset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Numerical and categorical attributes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757646"/>
            <a:ext cx="9261075" cy="199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W</a:t>
            </a: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orking Dataset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Approximately 19,335 rows and 45 columns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 reported in the project analysis.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625993" y="3299500"/>
            <a:ext cx="7708603" cy="645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mp</a:t>
            </a: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ortant Features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Danceability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Energy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Loudness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Speechiness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Acousticness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Instrumentalness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Liveness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Valence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Tempo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Duration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Key, Mode and Time Signature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4560" y="814187"/>
            <a:ext cx="16178870" cy="124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9"/>
              </a:lnSpc>
            </a:pPr>
            <a:r>
              <a:rPr lang="en-US" sz="58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Methodology(Process / Workflow)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2157" y="2615336"/>
            <a:ext cx="15418277" cy="787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┌─────────────────────┐       ┌─────────────────────┐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│    RAW DATASET      │       │  DATA UNDERSTANDING │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└──────────┬──────────┘       └──────────┬──────────┘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↓                             ↓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┌─────────────────────┐       ┌─────────────────────┐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│   DATA CLEANING     │       │        EDA          │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└──────────┬──────────┘       └──────────┬──────────┘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↓                             ↓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┌─────────────────────┐       ┌─────────────────────┐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│ FEATURE ENGINEERING │       │ FEATURE SELECTION   │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└──────────┬──────────┘       └──────────┬──────────┘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↓                             ↓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┌─────────────────────┐       ┌─────────────────────┐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│        PCA          │       │    VISUALIZATION    │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└──────────┬──────────┘       └──────────┬──────────┘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└──────────────┐     ┌────────┘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 ↓     ↓</a:t>
            </a:r>
          </a:p>
          <a:p>
            <a:pPr algn="ctr">
              <a:lnSpc>
                <a:spcPts val="3110"/>
              </a:lnSpc>
            </a:pPr>
            <a:r>
              <a:rPr lang="en-US" sz="222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┌─────────────────────┐</a:t>
            </a:r>
          </a:p>
          <a:p>
            <a:pPr algn="ctr">
              <a:lnSpc>
                <a:spcPts val="3110"/>
              </a:lnSpc>
              <a:spcBef>
                <a:spcPct val="0"/>
              </a:spcBef>
            </a:pPr>
            <a:r>
              <a:rPr lang="en-US" b="true" sz="22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│   INSIGHTS &amp; STOR</a:t>
            </a:r>
            <a:r>
              <a:rPr lang="en-US" b="true" sz="22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  │</a:t>
            </a:r>
          </a:p>
          <a:p>
            <a:pPr algn="ctr">
              <a:lnSpc>
                <a:spcPts val="3110"/>
              </a:lnSpc>
              <a:spcBef>
                <a:spcPct val="0"/>
              </a:spcBef>
            </a:pPr>
            <a:r>
              <a:rPr lang="en-US" b="true" sz="222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└─────────────────────┘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4560" y="814187"/>
            <a:ext cx="16178870" cy="124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9"/>
              </a:lnSpc>
            </a:pPr>
            <a:r>
              <a:rPr lang="en-US" sz="58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From Workflow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4560" y="2842151"/>
            <a:ext cx="18423236" cy="800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                                          </a:t>
            </a:r>
            <a:r>
              <a:rPr lang="en-US" sz="3200" b="true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 Data Preprocessing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Missing Value Handling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Numerical missing values were handled using median imputati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Categorical missing values in album.type were handled using mode imputation.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preview_url contained 7,524 missing values and was removed due to insufficient 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metadata availability.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 Detection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Boxplots were used for visual detection.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Z-score method was used for numerical outlier identification.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Values with |Z| &gt; 3 were considered potential outliers.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Potential outliers were retained because extreme audio characteristics may represent 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legitimate songs.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4560" y="814187"/>
            <a:ext cx="16178870" cy="124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9"/>
              </a:lnSpc>
            </a:pPr>
            <a:r>
              <a:rPr lang="en-US" sz="58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From Workflow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98468" y="2803205"/>
            <a:ext cx="6691064" cy="5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Expl</a:t>
            </a:r>
            <a:r>
              <a:rPr lang="en-US" b="true" sz="320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oratory Data Analysis (EDA)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560" y="3493425"/>
            <a:ext cx="7573797" cy="397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Univa</a:t>
            </a: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riate Analysis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Distribution of Popularity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Danceability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Energy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Loudness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Speechiness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351878" y="3607506"/>
            <a:ext cx="6918174" cy="2986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Bivariate Analysis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opularity vs Danceability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Popularity vs Energy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Energy vs Loudness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Popularity vs Valence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54560" y="7099302"/>
            <a:ext cx="17331766" cy="1995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 Analysis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orrelation heatmap was used to examine relationships among numerical features.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Note: Correlation shows association between variables and does not establish causation.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137023" y="3988775"/>
            <a:ext cx="7573797" cy="2986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ousticness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Instrumentalness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Liveness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Valence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Tempo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4560" y="814187"/>
            <a:ext cx="16178870" cy="124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9"/>
              </a:lnSpc>
            </a:pPr>
            <a:r>
              <a:rPr lang="en-US" sz="58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Final 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4560" y="2863277"/>
            <a:ext cx="14688095" cy="2491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&amp; Cleaning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orking dataset: approximately 19,335 rows × 45 columns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preview_url was removed due to 7,524 missing values.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Selected numerical features had no remaining missing values after cleaning.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54560" y="4845660"/>
            <a:ext cx="3870275" cy="5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Desc</a:t>
            </a: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riptive Statistics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5324475"/>
          <a:ext cx="16204730" cy="4962525"/>
        </p:xfrm>
        <a:graphic>
          <a:graphicData uri="http://schemas.openxmlformats.org/drawingml/2006/table">
            <a:tbl>
              <a:tblPr/>
              <a:tblGrid>
                <a:gridCol w="8377829"/>
                <a:gridCol w="7826901"/>
              </a:tblGrid>
              <a:tr h="11998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12D6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112D6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6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Danceability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0.616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6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Energy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0.584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6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Loudness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−8.60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6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Acousticness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0.309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79516" y="857250"/>
            <a:ext cx="8528968" cy="209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5"/>
              </a:lnSpc>
              <a:spcBef>
                <a:spcPct val="0"/>
              </a:spcBef>
            </a:pPr>
            <a:r>
              <a:rPr lang="en-US" b="true" sz="5889">
                <a:solidFill>
                  <a:srgbClr val="FAFAFB"/>
                </a:solidFill>
                <a:latin typeface="Poppins Bold"/>
                <a:ea typeface="Poppins Bold"/>
                <a:cs typeface="Poppins Bold"/>
                <a:sym typeface="Poppins Bold"/>
              </a:rPr>
              <a:t>Ex</a:t>
            </a:r>
            <a:r>
              <a:rPr lang="en-US" b="true" sz="5889">
                <a:solidFill>
                  <a:srgbClr val="FAFAFB"/>
                </a:solidFill>
                <a:latin typeface="Poppins Bold"/>
                <a:ea typeface="Poppins Bold"/>
                <a:cs typeface="Poppins Bold"/>
                <a:sym typeface="Poppins Bold"/>
              </a:rPr>
              <a:t>pected Final Results</a:t>
            </a:r>
          </a:p>
          <a:p>
            <a:pPr algn="ctr">
              <a:lnSpc>
                <a:spcPts val="8245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69769"/>
            <a:ext cx="7146727" cy="5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utlier Analysis / Data Quality Findings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0123" y="3570224"/>
            <a:ext cx="9031014" cy="5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Potential 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outliers identified using Z-score (|Z| &gt; 3):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540123" y="4356404"/>
          <a:ext cx="14971429" cy="5162550"/>
        </p:xfrm>
        <a:graphic>
          <a:graphicData uri="http://schemas.openxmlformats.org/drawingml/2006/table">
            <a:tbl>
              <a:tblPr/>
              <a:tblGrid>
                <a:gridCol w="7604178"/>
                <a:gridCol w="7367251"/>
              </a:tblGrid>
              <a:tr h="13242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8"/>
                        </a:lnSpc>
                        <a:defRPr/>
                      </a:pPr>
                      <a:r>
                        <a:rPr lang="en-US" sz="3599" b="true">
                          <a:solidFill>
                            <a:srgbClr val="112D6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112D6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Potential Outliers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95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Acousticness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95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Danceability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95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Energy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95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Loudness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479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667452" y="2990196"/>
          <a:ext cx="15591848" cy="6915150"/>
        </p:xfrm>
        <a:graphic>
          <a:graphicData uri="http://schemas.openxmlformats.org/drawingml/2006/table">
            <a:tbl>
              <a:tblPr/>
              <a:tblGrid>
                <a:gridCol w="7093896"/>
                <a:gridCol w="8497952"/>
              </a:tblGrid>
              <a:tr h="13217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8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Team Member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Roles &amp; Responsibilities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83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Prithesa R – 25BAD083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Dataset research and project planning</a:t>
                      </a:r>
                      <a:endParaRPr lang="en-US" sz="1100"/>
                    </a:p>
                    <a:p>
                      <a:pPr algn="l">
                        <a:lnSpc>
                          <a:spcPts val="3640"/>
                        </a:lnSpc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 understanding and documentation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83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Saravanan A – 25BAD102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 cleaning and preprocessing</a:t>
                      </a:r>
                      <a:endParaRPr lang="en-US" sz="1100"/>
                    </a:p>
                    <a:p>
                      <a:pPr algn="l">
                        <a:lnSpc>
                          <a:spcPts val="3640"/>
                        </a:lnSpc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Missing-value and outlier analysis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83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Tejas T – 25BAD124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Exploratory Data Analysis</a:t>
                      </a:r>
                      <a:endParaRPr lang="en-US" sz="1100"/>
                    </a:p>
                    <a:p>
                      <a:pPr algn="l">
                        <a:lnSpc>
                          <a:spcPts val="3640"/>
                        </a:lnSpc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Statistical analysis and visualizations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83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Viknesh T – 25BAD128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Project integration and documentation</a:t>
                      </a:r>
                      <a:endParaRPr lang="en-US" sz="1100"/>
                    </a:p>
                    <a:p>
                      <a:pPr algn="l">
                        <a:lnSpc>
                          <a:spcPts val="3640"/>
                        </a:lnSpc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Visualization and presentation preparation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54560" y="814187"/>
            <a:ext cx="16178870" cy="124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9"/>
              </a:lnSpc>
            </a:pPr>
            <a:r>
              <a:rPr lang="en-US" sz="58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Roles &amp; Responsibilities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4560" y="814187"/>
            <a:ext cx="16178870" cy="124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9"/>
              </a:lnSpc>
            </a:pPr>
            <a:r>
              <a:rPr lang="en-US" sz="58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Challenges Faced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5041" y="3050313"/>
            <a:ext cx="16197444" cy="595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Handling missing values across different types of attributes.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Deciding suitable methods for numerical and categorical imputation.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Identifying potential outliers without removing meaningful song characteristics.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Understanding relationships among multiple audio features.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Managing a dataset with numerous attributes.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Presenting statistical findings in a simple and meaningful visual form.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4560" y="814187"/>
            <a:ext cx="16178870" cy="124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9"/>
              </a:lnSpc>
            </a:pPr>
            <a:r>
              <a:rPr lang="en-US" sz="58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 &amp;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0257" y="3479566"/>
            <a:ext cx="6137153" cy="546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Engineering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Selection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PCA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Analysis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Dashboard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337418" y="3479566"/>
            <a:ext cx="10281692" cy="447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799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onclusion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successfully cleaned and analyzed.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audio features were explored.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Relationships with popularity were studied.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Further analysis will provide deeper insights.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596" y="250650"/>
            <a:ext cx="18381193" cy="2431361"/>
          </a:xfrm>
          <a:custGeom>
            <a:avLst/>
            <a:gdLst/>
            <a:ahLst/>
            <a:cxnLst/>
            <a:rect r="r" b="b" t="t" l="l"/>
            <a:pathLst>
              <a:path h="2431361" w="18381193">
                <a:moveTo>
                  <a:pt x="0" y="0"/>
                </a:moveTo>
                <a:lnTo>
                  <a:pt x="18381192" y="0"/>
                </a:lnTo>
                <a:lnTo>
                  <a:pt x="18381192" y="2431361"/>
                </a:lnTo>
                <a:lnTo>
                  <a:pt x="0" y="243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4560" y="814187"/>
            <a:ext cx="16178870" cy="124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9"/>
              </a:lnSpc>
            </a:pPr>
            <a:r>
              <a:rPr lang="en-US" sz="58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96286"/>
            <a:ext cx="15456829" cy="794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Kaggle – Spotify Songs Dataset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</a:t>
            </a: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Nikita Tkachenko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b="true" sz="2799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4" tooltip="https://www.kaggle.com/datasets/nikitatkachenko/19332-spotify-songs?utm_source=chatgpt.com"/>
              </a:rPr>
              <a:t>https://www.kaggle.com/datasets/nikitatkachenko/19332-spotify-songs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Documentation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b="true" sz="2799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5" tooltip="https://www.python.org"/>
              </a:rPr>
              <a:t>https://www.python.org/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Pandas Documentation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b="true" sz="2799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6" tooltip="https://pandas.pydata.org"/>
              </a:rPr>
              <a:t>https://pandas.pydata.org/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NumPy Documentation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b="true" sz="2799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7" tooltip="https://numpy.org"/>
              </a:rPr>
              <a:t>https://numpy.org/</a:t>
            </a:r>
          </a:p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Matplotlib Documentation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b="true" sz="2799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  <a:hlinkClick r:id="rId8" tooltip="https://matplotlib.org"/>
              </a:rPr>
              <a:t>https://matplotlib.org/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DAHWIKmDL6U</dc:identifier>
  <dcterms:modified xsi:type="dcterms:W3CDTF">2011-08-01T06:04:30Z</dcterms:modified>
  <cp:revision>1</cp:revision>
  <dc:title>Data Science and Visualization 24ADI204 _Template (1).pptx</dc:title>
</cp:coreProperties>
</file>