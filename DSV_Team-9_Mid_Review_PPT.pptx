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8288000" cy="10287000"/>
  <p:notesSz cx="6858000" cy="9144000"/>
  <p:embeddedFontLst>
    <p:embeddedFont>
      <p:font typeface="Poppins" panose="00000500000000000000" pitchFamily="2" charset="0"/>
      <p:regular r:id="rId18"/>
      <p:bold r:id="rId19"/>
      <p:italic r:id="rId20"/>
      <p:boldItalic r:id="rId21"/>
    </p:embeddedFont>
    <p:embeddedFont>
      <p:font typeface="Poppins Bold" panose="00000800000000000000" charset="0"/>
      <p:regular r:id="rId22"/>
      <p:bold r:id="rId23"/>
    </p:embeddedFont>
    <p:embeddedFont>
      <p:font typeface="Poppins Bold Italics" panose="020B0604020202020204" charset="0"/>
      <p:regular r:id="rId24"/>
    </p:embeddedFont>
    <p:embeddedFont>
      <p:font typeface="Times New Roman Bold" panose="02020803070505020304" pitchFamily="18" charset="0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F5CB7D-F697-ACB2-664D-D7E6AFCFB53F}" v="12" dt="2026-03-09T12:42:18.155"/>
    <p1510:client id="{51287185-4F37-FF56-C474-350C26ED8CC8}" v="326" dt="2026-03-09T12:41:48.936"/>
    <p1510:client id="{8B138E48-3DF8-0276-956E-60BF194BDDA8}" v="17" dt="2026-03-09T10:57:37.1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8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7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qeeq S 24BAD109" userId="S::shaqeeq.24ad@kct.ac.in::71df80c3-3251-4cde-b824-159bd162868f" providerId="AD" clId="Web-{39F5CB7D-F697-ACB2-664D-D7E6AFCFB53F}"/>
    <pc:docChg chg="modSld">
      <pc:chgData name="Shaqeeq S 24BAD109" userId="S::shaqeeq.24ad@kct.ac.in::71df80c3-3251-4cde-b824-159bd162868f" providerId="AD" clId="Web-{39F5CB7D-F697-ACB2-664D-D7E6AFCFB53F}" dt="2026-03-09T12:42:16.670" v="8" actId="20577"/>
      <pc:docMkLst>
        <pc:docMk/>
      </pc:docMkLst>
      <pc:sldChg chg="delSp modSp">
        <pc:chgData name="Shaqeeq S 24BAD109" userId="S::shaqeeq.24ad@kct.ac.in::71df80c3-3251-4cde-b824-159bd162868f" providerId="AD" clId="Web-{39F5CB7D-F697-ACB2-664D-D7E6AFCFB53F}" dt="2026-03-09T12:42:08.545" v="3"/>
        <pc:sldMkLst>
          <pc:docMk/>
          <pc:sldMk cId="0" sldId="256"/>
        </pc:sldMkLst>
        <pc:spChg chg="del mod">
          <ac:chgData name="Shaqeeq S 24BAD109" userId="S::shaqeeq.24ad@kct.ac.in::71df80c3-3251-4cde-b824-159bd162868f" providerId="AD" clId="Web-{39F5CB7D-F697-ACB2-664D-D7E6AFCFB53F}" dt="2026-03-09T12:42:08.545" v="3"/>
          <ac:spMkLst>
            <pc:docMk/>
            <pc:sldMk cId="0" sldId="256"/>
            <ac:spMk id="7" creationId="{00000000-0000-0000-0000-000000000000}"/>
          </ac:spMkLst>
        </pc:spChg>
      </pc:sldChg>
      <pc:sldChg chg="delSp modSp">
        <pc:chgData name="Shaqeeq S 24BAD109" userId="S::shaqeeq.24ad@kct.ac.in::71df80c3-3251-4cde-b824-159bd162868f" providerId="AD" clId="Web-{39F5CB7D-F697-ACB2-664D-D7E6AFCFB53F}" dt="2026-03-09T12:42:13.733" v="6"/>
        <pc:sldMkLst>
          <pc:docMk/>
          <pc:sldMk cId="0" sldId="257"/>
        </pc:sldMkLst>
        <pc:spChg chg="del mod">
          <ac:chgData name="Shaqeeq S 24BAD109" userId="S::shaqeeq.24ad@kct.ac.in::71df80c3-3251-4cde-b824-159bd162868f" providerId="AD" clId="Web-{39F5CB7D-F697-ACB2-664D-D7E6AFCFB53F}" dt="2026-03-09T12:42:13.733" v="6"/>
          <ac:spMkLst>
            <pc:docMk/>
            <pc:sldMk cId="0" sldId="257"/>
            <ac:spMk id="6" creationId="{00000000-0000-0000-0000-000000000000}"/>
          </ac:spMkLst>
        </pc:spChg>
      </pc:sldChg>
      <pc:sldChg chg="modSp">
        <pc:chgData name="Shaqeeq S 24BAD109" userId="S::shaqeeq.24ad@kct.ac.in::71df80c3-3251-4cde-b824-159bd162868f" providerId="AD" clId="Web-{39F5CB7D-F697-ACB2-664D-D7E6AFCFB53F}" dt="2026-03-09T12:42:16.670" v="8" actId="20577"/>
        <pc:sldMkLst>
          <pc:docMk/>
          <pc:sldMk cId="0" sldId="258"/>
        </pc:sldMkLst>
        <pc:spChg chg="mod">
          <ac:chgData name="Shaqeeq S 24BAD109" userId="S::shaqeeq.24ad@kct.ac.in::71df80c3-3251-4cde-b824-159bd162868f" providerId="AD" clId="Web-{39F5CB7D-F697-ACB2-664D-D7E6AFCFB53F}" dt="2026-03-09T12:42:16.670" v="8" actId="20577"/>
          <ac:spMkLst>
            <pc:docMk/>
            <pc:sldMk cId="0" sldId="258"/>
            <ac:spMk id="6" creationId="{00000000-0000-0000-0000-000000000000}"/>
          </ac:spMkLst>
        </pc:spChg>
      </pc:sldChg>
    </pc:docChg>
  </pc:docChgLst>
  <pc:docChgLst>
    <pc:chgData name="Shaqeeq S 24BAD109" userId="S::shaqeeq.24ad@kct.ac.in::71df80c3-3251-4cde-b824-159bd162868f" providerId="AD" clId="Web-{51287185-4F37-FF56-C474-350C26ED8CC8}"/>
    <pc:docChg chg="modSld">
      <pc:chgData name="Shaqeeq S 24BAD109" userId="S::shaqeeq.24ad@kct.ac.in::71df80c3-3251-4cde-b824-159bd162868f" providerId="AD" clId="Web-{51287185-4F37-FF56-C474-350C26ED8CC8}" dt="2026-03-09T12:41:48.936" v="206" actId="14100"/>
      <pc:docMkLst>
        <pc:docMk/>
      </pc:docMkLst>
      <pc:sldChg chg="modSp">
        <pc:chgData name="Shaqeeq S 24BAD109" userId="S::shaqeeq.24ad@kct.ac.in::71df80c3-3251-4cde-b824-159bd162868f" providerId="AD" clId="Web-{51287185-4F37-FF56-C474-350C26ED8CC8}" dt="2026-03-09T12:25:07.732" v="42" actId="20577"/>
        <pc:sldMkLst>
          <pc:docMk/>
          <pc:sldMk cId="0" sldId="256"/>
        </pc:sldMkLst>
        <pc:spChg chg="mod">
          <ac:chgData name="Shaqeeq S 24BAD109" userId="S::shaqeeq.24ad@kct.ac.in::71df80c3-3251-4cde-b824-159bd162868f" providerId="AD" clId="Web-{51287185-4F37-FF56-C474-350C26ED8CC8}" dt="2026-03-09T12:25:07.732" v="42" actId="20577"/>
          <ac:spMkLst>
            <pc:docMk/>
            <pc:sldMk cId="0" sldId="256"/>
            <ac:spMk id="7" creationId="{00000000-0000-0000-0000-000000000000}"/>
          </ac:spMkLst>
        </pc:spChg>
      </pc:sldChg>
      <pc:sldChg chg="modSp">
        <pc:chgData name="Shaqeeq S 24BAD109" userId="S::shaqeeq.24ad@kct.ac.in::71df80c3-3251-4cde-b824-159bd162868f" providerId="AD" clId="Web-{51287185-4F37-FF56-C474-350C26ED8CC8}" dt="2026-03-09T12:26:08.607" v="52" actId="20577"/>
        <pc:sldMkLst>
          <pc:docMk/>
          <pc:sldMk cId="0" sldId="257"/>
        </pc:sldMkLst>
        <pc:spChg chg="mod">
          <ac:chgData name="Shaqeeq S 24BAD109" userId="S::shaqeeq.24ad@kct.ac.in::71df80c3-3251-4cde-b824-159bd162868f" providerId="AD" clId="Web-{51287185-4F37-FF56-C474-350C26ED8CC8}" dt="2026-03-09T12:26:08.607" v="52" actId="20577"/>
          <ac:spMkLst>
            <pc:docMk/>
            <pc:sldMk cId="0" sldId="257"/>
            <ac:spMk id="6" creationId="{00000000-0000-0000-0000-000000000000}"/>
          </ac:spMkLst>
        </pc:spChg>
      </pc:sldChg>
      <pc:sldChg chg="modSp">
        <pc:chgData name="Shaqeeq S 24BAD109" userId="S::shaqeeq.24ad@kct.ac.in::71df80c3-3251-4cde-b824-159bd162868f" providerId="AD" clId="Web-{51287185-4F37-FF56-C474-350C26ED8CC8}" dt="2026-03-09T12:29:28.849" v="88" actId="20577"/>
        <pc:sldMkLst>
          <pc:docMk/>
          <pc:sldMk cId="0" sldId="258"/>
        </pc:sldMkLst>
        <pc:spChg chg="mod">
          <ac:chgData name="Shaqeeq S 24BAD109" userId="S::shaqeeq.24ad@kct.ac.in::71df80c3-3251-4cde-b824-159bd162868f" providerId="AD" clId="Web-{51287185-4F37-FF56-C474-350C26ED8CC8}" dt="2026-03-09T12:29:28.849" v="88" actId="20577"/>
          <ac:spMkLst>
            <pc:docMk/>
            <pc:sldMk cId="0" sldId="258"/>
            <ac:spMk id="6" creationId="{00000000-0000-0000-0000-000000000000}"/>
          </ac:spMkLst>
        </pc:spChg>
      </pc:sldChg>
      <pc:sldChg chg="addSp delSp modSp">
        <pc:chgData name="Shaqeeq S 24BAD109" userId="S::shaqeeq.24ad@kct.ac.in::71df80c3-3251-4cde-b824-159bd162868f" providerId="AD" clId="Web-{51287185-4F37-FF56-C474-350C26ED8CC8}" dt="2026-03-09T12:41:48.936" v="206" actId="14100"/>
        <pc:sldMkLst>
          <pc:docMk/>
          <pc:sldMk cId="0" sldId="259"/>
        </pc:sldMkLst>
        <pc:spChg chg="add del mod">
          <ac:chgData name="Shaqeeq S 24BAD109" userId="S::shaqeeq.24ad@kct.ac.in::71df80c3-3251-4cde-b824-159bd162868f" providerId="AD" clId="Web-{51287185-4F37-FF56-C474-350C26ED8CC8}" dt="2026-03-09T12:41:48.936" v="206" actId="14100"/>
          <ac:spMkLst>
            <pc:docMk/>
            <pc:sldMk cId="0" sldId="259"/>
            <ac:spMk id="6" creationId="{39830326-9244-16C5-6A34-4705E606B26E}"/>
          </ac:spMkLst>
        </pc:spChg>
        <pc:spChg chg="add del mod">
          <ac:chgData name="Shaqeeq S 24BAD109" userId="S::shaqeeq.24ad@kct.ac.in::71df80c3-3251-4cde-b824-159bd162868f" providerId="AD" clId="Web-{51287185-4F37-FF56-C474-350C26ED8CC8}" dt="2026-03-09T12:41:48.827" v="204"/>
          <ac:spMkLst>
            <pc:docMk/>
            <pc:sldMk cId="0" sldId="259"/>
            <ac:spMk id="8" creationId="{D75AD6F8-7901-AD0C-1FAD-9B4BD1C27926}"/>
          </ac:spMkLst>
        </pc:spChg>
      </pc:sldChg>
      <pc:sldChg chg="modSp">
        <pc:chgData name="Shaqeeq S 24BAD109" userId="S::shaqeeq.24ad@kct.ac.in::71df80c3-3251-4cde-b824-159bd162868f" providerId="AD" clId="Web-{51287185-4F37-FF56-C474-350C26ED8CC8}" dt="2026-03-09T12:41:48.561" v="199" actId="20577"/>
        <pc:sldMkLst>
          <pc:docMk/>
          <pc:sldMk cId="0" sldId="260"/>
        </pc:sldMkLst>
        <pc:spChg chg="mod">
          <ac:chgData name="Shaqeeq S 24BAD109" userId="S::shaqeeq.24ad@kct.ac.in::71df80c3-3251-4cde-b824-159bd162868f" providerId="AD" clId="Web-{51287185-4F37-FF56-C474-350C26ED8CC8}" dt="2026-03-09T12:41:48.561" v="199" actId="20577"/>
          <ac:spMkLst>
            <pc:docMk/>
            <pc:sldMk cId="0" sldId="260"/>
            <ac:spMk id="6" creationId="{00000000-0000-0000-0000-000000000000}"/>
          </ac:spMkLst>
        </pc:spChg>
      </pc:sldChg>
      <pc:sldChg chg="modSp">
        <pc:chgData name="Shaqeeq S 24BAD109" userId="S::shaqeeq.24ad@kct.ac.in::71df80c3-3251-4cde-b824-159bd162868f" providerId="AD" clId="Web-{51287185-4F37-FF56-C474-350C26ED8CC8}" dt="2026-03-09T12:41:48.202" v="191" actId="20577"/>
        <pc:sldMkLst>
          <pc:docMk/>
          <pc:sldMk cId="0" sldId="261"/>
        </pc:sldMkLst>
        <pc:spChg chg="mod">
          <ac:chgData name="Shaqeeq S 24BAD109" userId="S::shaqeeq.24ad@kct.ac.in::71df80c3-3251-4cde-b824-159bd162868f" providerId="AD" clId="Web-{51287185-4F37-FF56-C474-350C26ED8CC8}" dt="2026-03-09T12:41:48.202" v="191" actId="20577"/>
          <ac:spMkLst>
            <pc:docMk/>
            <pc:sldMk cId="0" sldId="261"/>
            <ac:spMk id="6" creationId="{00000000-0000-0000-0000-000000000000}"/>
          </ac:spMkLst>
        </pc:spChg>
      </pc:sldChg>
    </pc:docChg>
  </pc:docChgLst>
  <pc:docChgLst>
    <pc:chgData name="Shaqeeq S 24BAD109" userId="S::shaqeeq.24ad@kct.ac.in::71df80c3-3251-4cde-b824-159bd162868f" providerId="AD" clId="Web-{8B138E48-3DF8-0276-956E-60BF194BDDA8}"/>
    <pc:docChg chg="modSld">
      <pc:chgData name="Shaqeeq S 24BAD109" userId="S::shaqeeq.24ad@kct.ac.in::71df80c3-3251-4cde-b824-159bd162868f" providerId="AD" clId="Web-{8B138E48-3DF8-0276-956E-60BF194BDDA8}" dt="2026-03-09T10:57:35.505" v="7" actId="20577"/>
      <pc:docMkLst>
        <pc:docMk/>
      </pc:docMkLst>
      <pc:sldChg chg="modSp">
        <pc:chgData name="Shaqeeq S 24BAD109" userId="S::shaqeeq.24ad@kct.ac.in::71df80c3-3251-4cde-b824-159bd162868f" providerId="AD" clId="Web-{8B138E48-3DF8-0276-956E-60BF194BDDA8}" dt="2026-03-09T10:57:35.505" v="7" actId="20577"/>
        <pc:sldMkLst>
          <pc:docMk/>
          <pc:sldMk cId="0" sldId="256"/>
        </pc:sldMkLst>
        <pc:spChg chg="mod">
          <ac:chgData name="Shaqeeq S 24BAD109" userId="S::shaqeeq.24ad@kct.ac.in::71df80c3-3251-4cde-b824-159bd162868f" providerId="AD" clId="Web-{8B138E48-3DF8-0276-956E-60BF194BDDA8}" dt="2026-03-09T10:57:35.505" v="7" actId="20577"/>
          <ac:spMkLst>
            <pc:docMk/>
            <pc:sldMk cId="0" sldId="256"/>
            <ac:spMk id="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" TargetMode="External"/><Relationship Id="rId7" Type="http://schemas.openxmlformats.org/officeDocument/2006/relationships/image" Target="../media/image11.svg"/><Relationship Id="rId2" Type="http://schemas.openxmlformats.org/officeDocument/2006/relationships/hyperlink" Target="https://pandas.pydata.org/docs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cikit-learn.org/stable/" TargetMode="External"/><Relationship Id="rId5" Type="http://schemas.openxmlformats.org/officeDocument/2006/relationships/hyperlink" Target="https://seaborn.pydata.org/" TargetMode="External"/><Relationship Id="rId4" Type="http://schemas.openxmlformats.org/officeDocument/2006/relationships/hyperlink" Target="https://matplotlib.org/stabl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8600" y="190500"/>
            <a:ext cx="1299889" cy="1278575"/>
          </a:xfrm>
          <a:custGeom>
            <a:avLst/>
            <a:gdLst/>
            <a:ahLst/>
            <a:cxnLst/>
            <a:rect l="l" t="t" r="r" b="b"/>
            <a:pathLst>
              <a:path w="2488943" h="2529537">
                <a:moveTo>
                  <a:pt x="0" y="0"/>
                </a:moveTo>
                <a:lnTo>
                  <a:pt x="2488944" y="0"/>
                </a:lnTo>
                <a:lnTo>
                  <a:pt x="2488944" y="2529538"/>
                </a:lnTo>
                <a:lnTo>
                  <a:pt x="0" y="252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070" t="-4622" r="-22184" b="-2965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737790" y="190500"/>
            <a:ext cx="2519089" cy="945897"/>
          </a:xfrm>
          <a:custGeom>
            <a:avLst/>
            <a:gdLst/>
            <a:ahLst/>
            <a:cxnLst/>
            <a:rect l="l" t="t" r="r" b="b"/>
            <a:pathLst>
              <a:path w="4049893" h="1883200">
                <a:moveTo>
                  <a:pt x="0" y="0"/>
                </a:moveTo>
                <a:lnTo>
                  <a:pt x="4049893" y="0"/>
                </a:lnTo>
                <a:lnTo>
                  <a:pt x="4049893" y="1883200"/>
                </a:lnTo>
                <a:lnTo>
                  <a:pt x="0" y="18832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3231061" y="534627"/>
            <a:ext cx="11180668" cy="2507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6"/>
              </a:lnSpc>
            </a:pPr>
            <a:r>
              <a:rPr lang="en-US" sz="499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Artificial Intelligence and Data Science</a:t>
            </a:r>
          </a:p>
          <a:p>
            <a:pPr algn="ctr">
              <a:lnSpc>
                <a:spcPts val="6436"/>
              </a:lnSpc>
              <a:spcBef>
                <a:spcPct val="0"/>
              </a:spcBef>
            </a:pPr>
            <a:r>
              <a:rPr lang="en-US" sz="459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Science and Visualization</a:t>
            </a:r>
          </a:p>
          <a:p>
            <a:pPr algn="ctr">
              <a:lnSpc>
                <a:spcPts val="6436"/>
              </a:lnSpc>
              <a:spcBef>
                <a:spcPct val="0"/>
              </a:spcBef>
            </a:pPr>
            <a:r>
              <a:rPr lang="en-US" sz="4597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24ADI204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519804" y="3412505"/>
            <a:ext cx="10410901" cy="1262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85"/>
              </a:lnSpc>
            </a:pPr>
            <a:r>
              <a:rPr lang="en-US" sz="3561" b="1" dirty="0">
                <a:solidFill>
                  <a:srgbClr val="000000"/>
                </a:solidFill>
                <a:latin typeface="Times New Roman" panose="02020603050405020304" pitchFamily="18" charset="0"/>
                <a:ea typeface="Poppins Bold Italics"/>
                <a:cs typeface="Times New Roman" panose="02020603050405020304" pitchFamily="18" charset="0"/>
                <a:sym typeface="Poppins Bold Italics"/>
              </a:rPr>
              <a:t>DATA-VIZ HACK-A-BIT (2026-2027) </a:t>
            </a:r>
          </a:p>
          <a:p>
            <a:pPr algn="ctr">
              <a:lnSpc>
                <a:spcPts val="4985"/>
              </a:lnSpc>
              <a:spcBef>
                <a:spcPct val="0"/>
              </a:spcBef>
            </a:pPr>
            <a:endParaRPr lang="en-US" sz="3561" b="1" i="1" dirty="0">
              <a:solidFill>
                <a:srgbClr val="000000"/>
              </a:solidFill>
              <a:latin typeface="Poppins Bold Italics"/>
              <a:ea typeface="Poppins Bold Italics"/>
              <a:cs typeface="Poppins Bold Italics"/>
              <a:sym typeface="Poppins Bold Italic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008777" y="5507337"/>
            <a:ext cx="4887823" cy="6204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67"/>
              </a:lnSpc>
              <a:spcBef>
                <a:spcPct val="0"/>
              </a:spcBef>
            </a:pPr>
            <a:r>
              <a:rPr lang="en-US" sz="3619" dirty="0">
                <a:solidFill>
                  <a:srgbClr val="00000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Team Number:  </a:t>
            </a:r>
            <a:r>
              <a:rPr lang="en-US" sz="3619" b="1" dirty="0">
                <a:solidFill>
                  <a:srgbClr val="000000"/>
                </a:solidFill>
                <a:latin typeface="Times New Roman" panose="02020603050405020304" pitchFamily="18" charset="0"/>
                <a:ea typeface="Poppins"/>
                <a:cs typeface="Times New Roman" panose="02020603050405020304" pitchFamily="18" charset="0"/>
                <a:sym typeface="Poppins"/>
              </a:rPr>
              <a:t>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7800" y="4455918"/>
            <a:ext cx="6324600" cy="480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963"/>
              </a:lnSpc>
              <a:spcBef>
                <a:spcPct val="0"/>
              </a:spcBef>
            </a:pPr>
            <a:r>
              <a:rPr lang="en-US" sz="3200" b="1" dirty="0">
                <a:solidFill>
                  <a:srgbClr val="000000"/>
                </a:solidFill>
                <a:latin typeface="Times New Roman" panose="02020603050405020304" pitchFamily="18" charset="0"/>
                <a:ea typeface="Poppins Bold"/>
                <a:cs typeface="Times New Roman" panose="02020603050405020304" pitchFamily="18" charset="0"/>
                <a:sym typeface="Poppins Bold"/>
              </a:rPr>
              <a:t>MID REVIEW (September 2026)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738894-2BCF-4AB0-7E98-0C744547D55A}"/>
              </a:ext>
            </a:extLst>
          </p:cNvPr>
          <p:cNvSpPr txBox="1"/>
          <p:nvPr/>
        </p:nvSpPr>
        <p:spPr>
          <a:xfrm>
            <a:off x="3519804" y="6438900"/>
            <a:ext cx="108204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Prithesa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 				 25BAD083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Saravanan A 			 25BAD102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Tejas T 				 25BAD124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Viknesh T 				 25BAD128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422448" y="923093"/>
            <a:ext cx="8840169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9"/>
              </a:lnSpc>
              <a:spcBef>
                <a:spcPct val="0"/>
              </a:spcBef>
            </a:pPr>
            <a:r>
              <a:rPr lang="en-US"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 </a:t>
            </a:r>
          </a:p>
        </p:txBody>
      </p:sp>
      <p:sp>
        <p:nvSpPr>
          <p:cNvPr id="7" name="Freeform 7"/>
          <p:cNvSpPr/>
          <p:nvPr/>
        </p:nvSpPr>
        <p:spPr>
          <a:xfrm>
            <a:off x="734625" y="3363003"/>
            <a:ext cx="1906078" cy="1732798"/>
          </a:xfrm>
          <a:custGeom>
            <a:avLst/>
            <a:gdLst/>
            <a:ahLst/>
            <a:cxnLst/>
            <a:rect l="l" t="t" r="r" b="b"/>
            <a:pathLst>
              <a:path w="1906078" h="1732798">
                <a:moveTo>
                  <a:pt x="0" y="0"/>
                </a:moveTo>
                <a:lnTo>
                  <a:pt x="1906078" y="0"/>
                </a:lnTo>
                <a:lnTo>
                  <a:pt x="1906078" y="1732798"/>
                </a:lnTo>
                <a:lnTo>
                  <a:pt x="0" y="17327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217638-0E81-1718-A8BC-F659B6416835}"/>
              </a:ext>
            </a:extLst>
          </p:cNvPr>
          <p:cNvSpPr txBox="1"/>
          <p:nvPr/>
        </p:nvSpPr>
        <p:spPr>
          <a:xfrm>
            <a:off x="3581400" y="2981663"/>
            <a:ext cx="13868400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Music streaming platforms contain millions of songs with different audio characteristics and popularity levels.</a:t>
            </a:r>
          </a:p>
          <a:p>
            <a:pPr lvl="0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which musical features are associated with song popularity is challenging.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Popularity may depend on danceability, energy, loudness,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acousticness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several other factors.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project uses data science and visualization techniques to identify meaningful relationships between audio features and song popularity.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422448" y="923093"/>
            <a:ext cx="8840169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9"/>
              </a:lnSpc>
              <a:spcBef>
                <a:spcPct val="0"/>
              </a:spcBef>
            </a:pPr>
            <a:r>
              <a:rPr lang="en-US"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60631" y="3907276"/>
            <a:ext cx="14707123" cy="505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26390" lvl="1" algn="ctr">
              <a:lnSpc>
                <a:spcPts val="4235"/>
              </a:lnSpc>
              <a:spcBef>
                <a:spcPct val="0"/>
              </a:spcBef>
            </a:pPr>
            <a:endParaRPr lang="en-US" sz="3000" dirty="0">
              <a:solidFill>
                <a:srgbClr val="545454"/>
              </a:solidFill>
              <a:ea typeface="Calibri"/>
              <a:cs typeface="Calibri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718753" y="3315304"/>
            <a:ext cx="1828196" cy="1828196"/>
          </a:xfrm>
          <a:custGeom>
            <a:avLst/>
            <a:gdLst/>
            <a:ahLst/>
            <a:cxnLst/>
            <a:rect l="l" t="t" r="r" b="b"/>
            <a:pathLst>
              <a:path w="1828196" h="1828196">
                <a:moveTo>
                  <a:pt x="0" y="0"/>
                </a:moveTo>
                <a:lnTo>
                  <a:pt x="1828196" y="0"/>
                </a:lnTo>
                <a:lnTo>
                  <a:pt x="1828196" y="1828196"/>
                </a:lnTo>
                <a:lnTo>
                  <a:pt x="0" y="18281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D01598-89DB-08C0-7016-4DBD518F936C}"/>
              </a:ext>
            </a:extLst>
          </p:cNvPr>
          <p:cNvSpPr txBox="1"/>
          <p:nvPr/>
        </p:nvSpPr>
        <p:spPr>
          <a:xfrm>
            <a:off x="3543300" y="3237012"/>
            <a:ext cx="129921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Spotify dataset and its attributes.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handle missing values, duplicate records, and potential outliers.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Exploratory Data Analysis (EDA) to identify musical trends.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relationships between audio features and popularity.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feature engineering, encoding, and scaling.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feature selection and PCA for dimensionality reduction.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interactive dashboard to present the findings.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422448" y="923093"/>
            <a:ext cx="8840169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9"/>
              </a:lnSpc>
              <a:spcBef>
                <a:spcPct val="0"/>
              </a:spcBef>
            </a:pPr>
            <a:r>
              <a:rPr lang="en-US"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Scope of the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830326-9244-16C5-6A34-4705E606B26E}"/>
              </a:ext>
            </a:extLst>
          </p:cNvPr>
          <p:cNvSpPr txBox="1"/>
          <p:nvPr/>
        </p:nvSpPr>
        <p:spPr>
          <a:xfrm>
            <a:off x="2814183" y="4095267"/>
            <a:ext cx="2743200" cy="53553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3000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6EBFF7-64A0-9BD2-C23E-15FEC5222A3F}"/>
              </a:ext>
            </a:extLst>
          </p:cNvPr>
          <p:cNvSpPr txBox="1"/>
          <p:nvPr/>
        </p:nvSpPr>
        <p:spPr>
          <a:xfrm>
            <a:off x="2814183" y="2903371"/>
            <a:ext cx="151638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Spotify song metadata and audio characteristics.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popularity, danceability, energy, loudness, tempo, and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acousticness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data cleaning and statistical analysis.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important features associated with song popularity.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feature dimensions using PCA.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findings through an interactive dashboard.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data-driven understanding of the musical characteristics associated with song popularity.</a:t>
            </a:r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6F522D90-0879-208C-47F1-30D23C77A1C3}"/>
              </a:ext>
            </a:extLst>
          </p:cNvPr>
          <p:cNvSpPr/>
          <p:nvPr/>
        </p:nvSpPr>
        <p:spPr>
          <a:xfrm>
            <a:off x="233934" y="3093509"/>
            <a:ext cx="2249599" cy="2229148"/>
          </a:xfrm>
          <a:custGeom>
            <a:avLst/>
            <a:gdLst/>
            <a:ahLst/>
            <a:cxnLst/>
            <a:rect l="l" t="t" r="r" b="b"/>
            <a:pathLst>
              <a:path w="2249599" h="2229148">
                <a:moveTo>
                  <a:pt x="0" y="0"/>
                </a:moveTo>
                <a:lnTo>
                  <a:pt x="2249598" y="0"/>
                </a:lnTo>
                <a:lnTo>
                  <a:pt x="2249598" y="2229148"/>
                </a:lnTo>
                <a:lnTo>
                  <a:pt x="0" y="22291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422448" y="923093"/>
            <a:ext cx="8840169" cy="1185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229"/>
              </a:lnSpc>
              <a:spcBef>
                <a:spcPct val="0"/>
              </a:spcBef>
            </a:pPr>
            <a:r>
              <a:rPr lang="en-US" sz="65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Dataset Description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589484" y="3326504"/>
            <a:ext cx="1561780" cy="1561780"/>
          </a:xfrm>
          <a:custGeom>
            <a:avLst/>
            <a:gdLst/>
            <a:ahLst/>
            <a:cxnLst/>
            <a:rect l="l" t="t" r="r" b="b"/>
            <a:pathLst>
              <a:path w="1561780" h="1561780">
                <a:moveTo>
                  <a:pt x="0" y="0"/>
                </a:moveTo>
                <a:lnTo>
                  <a:pt x="1561781" y="0"/>
                </a:lnTo>
                <a:lnTo>
                  <a:pt x="1561781" y="1561780"/>
                </a:lnTo>
                <a:lnTo>
                  <a:pt x="0" y="156178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508702C-EA41-BCC2-83C8-385834F35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528195"/>
              </p:ext>
            </p:extLst>
          </p:nvPr>
        </p:nvGraphicFramePr>
        <p:xfrm>
          <a:off x="3352800" y="5448300"/>
          <a:ext cx="10820400" cy="35814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10200">
                  <a:extLst>
                    <a:ext uri="{9D8B030D-6E8A-4147-A177-3AD203B41FA5}">
                      <a16:colId xmlns:a16="http://schemas.microsoft.com/office/drawing/2014/main" val="1569979285"/>
                    </a:ext>
                  </a:extLst>
                </a:gridCol>
                <a:gridCol w="5410200">
                  <a:extLst>
                    <a:ext uri="{9D8B030D-6E8A-4147-A177-3AD203B41FA5}">
                      <a16:colId xmlns:a16="http://schemas.microsoft.com/office/drawing/2014/main" val="66365344"/>
                    </a:ext>
                  </a:extLst>
                </a:gridCol>
              </a:tblGrid>
              <a:tr h="511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Attribute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8880171"/>
                  </a:ext>
                </a:extLst>
              </a:tr>
              <a:tr h="511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Kaggle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7998078"/>
                  </a:ext>
                </a:extLst>
              </a:tr>
              <a:tr h="511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Original 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19,335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4184856"/>
                  </a:ext>
                </a:extLst>
              </a:tr>
              <a:tr h="511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Original 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46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5644875"/>
                  </a:ext>
                </a:extLst>
              </a:tr>
              <a:tr h="511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CSV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0798884"/>
                  </a:ext>
                </a:extLst>
              </a:tr>
              <a:tr h="511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Data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Structured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137604"/>
                  </a:ext>
                </a:extLst>
              </a:tr>
              <a:tr h="511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Target 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Popularity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13594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BED9D15-E042-AB89-4DEC-89F7A0404371}"/>
              </a:ext>
            </a:extLst>
          </p:cNvPr>
          <p:cNvSpPr txBox="1"/>
          <p:nvPr/>
        </p:nvSpPr>
        <p:spPr>
          <a:xfrm>
            <a:off x="3352800" y="3326504"/>
            <a:ext cx="11582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Spotify Songs Dataset</a:t>
            </a: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Danceability, energy, loudness,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speechiness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acousticness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instrumentalness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liveness, valence, and tempo.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Methodology(Process / Workflow)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95599" y="2815964"/>
            <a:ext cx="14833221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>
              <a:buAutoNum type="arabicPeriod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(Weeks 1–2)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Selected and inspected the Spotify dataset.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Preprocessing (Week 3)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Handled missing values, checked duplicates, and detected outliers.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Exploratory Data Analysis (Week 4)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song popularity, audio-feature distributions, and correlations.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Feature Engineering (Week 6)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Created new features, encoded categorical variables, and scaled numerical attributes.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Feature Selection &amp; PCA (Week 7)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Identified relevant audio features and reduced dimensionality.</a:t>
            </a:r>
          </a:p>
        </p:txBody>
      </p:sp>
      <p:sp>
        <p:nvSpPr>
          <p:cNvPr id="7" name="Freeform 7"/>
          <p:cNvSpPr/>
          <p:nvPr/>
        </p:nvSpPr>
        <p:spPr>
          <a:xfrm>
            <a:off x="339787" y="3086100"/>
            <a:ext cx="2066922" cy="2057400"/>
          </a:xfrm>
          <a:custGeom>
            <a:avLst/>
            <a:gdLst/>
            <a:ahLst/>
            <a:cxnLst/>
            <a:rect l="l" t="t" r="r" b="b"/>
            <a:pathLst>
              <a:path w="2066922" h="2057400">
                <a:moveTo>
                  <a:pt x="0" y="0"/>
                </a:moveTo>
                <a:lnTo>
                  <a:pt x="2066922" y="0"/>
                </a:lnTo>
                <a:lnTo>
                  <a:pt x="206692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From Workflow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010FB6-A9DB-E784-02CB-47D1A4C90E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081031"/>
              </p:ext>
            </p:extLst>
          </p:nvPr>
        </p:nvGraphicFramePr>
        <p:xfrm>
          <a:off x="3124200" y="6233641"/>
          <a:ext cx="9153831" cy="3118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51277">
                  <a:extLst>
                    <a:ext uri="{9D8B030D-6E8A-4147-A177-3AD203B41FA5}">
                      <a16:colId xmlns:a16="http://schemas.microsoft.com/office/drawing/2014/main" val="1209660443"/>
                    </a:ext>
                  </a:extLst>
                </a:gridCol>
                <a:gridCol w="3051277">
                  <a:extLst>
                    <a:ext uri="{9D8B030D-6E8A-4147-A177-3AD203B41FA5}">
                      <a16:colId xmlns:a16="http://schemas.microsoft.com/office/drawing/2014/main" val="857235414"/>
                    </a:ext>
                  </a:extLst>
                </a:gridCol>
                <a:gridCol w="3051277">
                  <a:extLst>
                    <a:ext uri="{9D8B030D-6E8A-4147-A177-3AD203B41FA5}">
                      <a16:colId xmlns:a16="http://schemas.microsoft.com/office/drawing/2014/main" val="2786866551"/>
                    </a:ext>
                  </a:extLst>
                </a:gridCol>
              </a:tblGrid>
              <a:tr h="779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Before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After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801988"/>
                  </a:ext>
                </a:extLst>
              </a:tr>
              <a:tr h="779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Missing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7,707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3832163"/>
                  </a:ext>
                </a:extLst>
              </a:tr>
              <a:tr h="779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Duplicate Rows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7970630"/>
                  </a:ext>
                </a:extLst>
              </a:tr>
              <a:tr h="7797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19,335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19,335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59867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43BE758-8DCC-3FC1-6734-D8702ED510AA}"/>
              </a:ext>
            </a:extLst>
          </p:cNvPr>
          <p:cNvSpPr txBox="1"/>
          <p:nvPr/>
        </p:nvSpPr>
        <p:spPr>
          <a:xfrm>
            <a:off x="3124200" y="2911032"/>
            <a:ext cx="13335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Applied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Median imputation for numerical missing values.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 imputation for categorical missing values.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detection using Pandas.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 using boxplots, IQR, and Z-score methods.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 potential outliers to preserve meaningful musical information.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Results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Cleaned dataset prepared for further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457287" y="3118147"/>
            <a:ext cx="1765895" cy="2312481"/>
          </a:xfrm>
          <a:custGeom>
            <a:avLst/>
            <a:gdLst/>
            <a:ahLst/>
            <a:cxnLst/>
            <a:rect l="l" t="t" r="r" b="b"/>
            <a:pathLst>
              <a:path w="1765895" h="2312481">
                <a:moveTo>
                  <a:pt x="0" y="0"/>
                </a:moveTo>
                <a:lnTo>
                  <a:pt x="1765895" y="0"/>
                </a:lnTo>
                <a:lnTo>
                  <a:pt x="1765895" y="2312481"/>
                </a:lnTo>
                <a:lnTo>
                  <a:pt x="0" y="23124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Results From Workflow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807DD6A-0F98-72AE-D4D3-B4A092CF5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322614"/>
              </p:ext>
            </p:extLst>
          </p:nvPr>
        </p:nvGraphicFramePr>
        <p:xfrm>
          <a:off x="3021264" y="6269074"/>
          <a:ext cx="10008936" cy="30322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04468">
                  <a:extLst>
                    <a:ext uri="{9D8B030D-6E8A-4147-A177-3AD203B41FA5}">
                      <a16:colId xmlns:a16="http://schemas.microsoft.com/office/drawing/2014/main" val="3967305101"/>
                    </a:ext>
                  </a:extLst>
                </a:gridCol>
                <a:gridCol w="5004468">
                  <a:extLst>
                    <a:ext uri="{9D8B030D-6E8A-4147-A177-3AD203B41FA5}">
                      <a16:colId xmlns:a16="http://schemas.microsoft.com/office/drawing/2014/main" val="4201160501"/>
                    </a:ext>
                  </a:extLst>
                </a:gridCol>
              </a:tblGrid>
              <a:tr h="505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Correlation with Popularity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731057"/>
                  </a:ext>
                </a:extLst>
              </a:tr>
              <a:tr h="505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Loudness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+0.337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7312073"/>
                  </a:ext>
                </a:extLst>
              </a:tr>
              <a:tr h="505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+0.241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1029087"/>
                  </a:ext>
                </a:extLst>
              </a:tr>
              <a:tr h="505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Danceability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+0.178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5007240"/>
                  </a:ext>
                </a:extLst>
              </a:tr>
              <a:tr h="505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Instrumentalness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−0.330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367560"/>
                  </a:ext>
                </a:extLst>
              </a:tr>
              <a:tr h="5053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Acousticness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−0.295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287738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B2397A62-ACBE-3D45-4425-DFBD26FF7257}"/>
              </a:ext>
            </a:extLst>
          </p:cNvPr>
          <p:cNvSpPr txBox="1"/>
          <p:nvPr/>
        </p:nvSpPr>
        <p:spPr>
          <a:xfrm>
            <a:off x="2984394" y="2918302"/>
            <a:ext cx="1181135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Statistics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popularity: 58.14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danceability: 0.62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energy: 0.58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tempo: 119.79 BPM</a:t>
            </a: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Findings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Loudness showed the strongest positive association, while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instrumentalness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showed the strongest negative association among the reported features.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62279" y="3424008"/>
            <a:ext cx="2201327" cy="1929163"/>
          </a:xfrm>
          <a:custGeom>
            <a:avLst/>
            <a:gdLst/>
            <a:ahLst/>
            <a:cxnLst/>
            <a:rect l="l" t="t" r="r" b="b"/>
            <a:pathLst>
              <a:path w="2201327" h="1929163">
                <a:moveTo>
                  <a:pt x="0" y="0"/>
                </a:moveTo>
                <a:lnTo>
                  <a:pt x="2201327" y="0"/>
                </a:lnTo>
                <a:lnTo>
                  <a:pt x="2201327" y="1929163"/>
                </a:lnTo>
                <a:lnTo>
                  <a:pt x="0" y="192916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703883" y="2998259"/>
            <a:ext cx="14060117" cy="6401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Quality Improvements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and handled 7,707 missing values.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that no exact duplicate records remained.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Detected and retained potential outliers.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duration_minutes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release_year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one-hot encoding, standardization, and Min-Max normalization.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35 processed input features.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7 Results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feature selection.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nine audio features to six PCA components.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Retained approximately 90.06% of total variance.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Status: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prepared for further analysis and dashboard development.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Expected Final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03816" y="3187394"/>
            <a:ext cx="2395573" cy="2260550"/>
          </a:xfrm>
          <a:custGeom>
            <a:avLst/>
            <a:gdLst/>
            <a:ahLst/>
            <a:cxnLst/>
            <a:rect l="l" t="t" r="r" b="b"/>
            <a:pathLst>
              <a:path w="2395573" h="2260550">
                <a:moveTo>
                  <a:pt x="0" y="0"/>
                </a:moveTo>
                <a:lnTo>
                  <a:pt x="2395573" y="0"/>
                </a:lnTo>
                <a:lnTo>
                  <a:pt x="2395573" y="2260550"/>
                </a:lnTo>
                <a:lnTo>
                  <a:pt x="0" y="22605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040740"/>
              </p:ext>
            </p:extLst>
          </p:nvPr>
        </p:nvGraphicFramePr>
        <p:xfrm>
          <a:off x="3124200" y="3390900"/>
          <a:ext cx="13339985" cy="5589612"/>
        </p:xfrm>
        <a:graphic>
          <a:graphicData uri="http://schemas.openxmlformats.org/drawingml/2006/table">
            <a:tbl>
              <a:tblPr/>
              <a:tblGrid>
                <a:gridCol w="470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30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22412">
                <a:tc>
                  <a:txBody>
                    <a:bodyPr/>
                    <a:lstStyle/>
                    <a:p>
                      <a:pPr algn="ctr">
                        <a:lnSpc>
                          <a:spcPts val="5039"/>
                        </a:lnSpc>
                        <a:defRPr/>
                      </a:pPr>
                      <a:r>
                        <a:rPr lang="en-US" sz="35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Team Member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Roles &amp; Responsibilities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4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Prithesa</a:t>
                      </a: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inspection, missing-value handling, and data preparation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29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Saravanan A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Descriptive statistics, data validation, categorical encoding, and correlation analysis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5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Tejas T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Outlier detection, audio-feature visualization, scaling, and PCA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469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Viknesh T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quality reporting, Z-score analysis, feature engineering, feature selection, and documentation</a:t>
                      </a:r>
                    </a:p>
                  </a:txBody>
                  <a:tcPr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Roles &amp; Responsibilities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33934" y="3093509"/>
            <a:ext cx="2249599" cy="2229148"/>
          </a:xfrm>
          <a:custGeom>
            <a:avLst/>
            <a:gdLst/>
            <a:ahLst/>
            <a:cxnLst/>
            <a:rect l="l" t="t" r="r" b="b"/>
            <a:pathLst>
              <a:path w="2249599" h="2229148">
                <a:moveTo>
                  <a:pt x="0" y="0"/>
                </a:moveTo>
                <a:lnTo>
                  <a:pt x="2249598" y="0"/>
                </a:lnTo>
                <a:lnTo>
                  <a:pt x="2249598" y="2229148"/>
                </a:lnTo>
                <a:lnTo>
                  <a:pt x="0" y="22291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2895600" y="3093509"/>
            <a:ext cx="14566435" cy="5917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preview_url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contained 7,524 missing entries.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 Inconsistencies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Some numerical attributes were stored as text.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IQR and Z-score methods produced different outlier counts.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Transformation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Some features were highly skewed.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</a:t>
            </a:r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release_year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Yeo–Johnson transformation produced an invalid result.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Selecting relevant features while preserving information required careful analysis.</a:t>
            </a:r>
          </a:p>
          <a:p>
            <a:pPr algn="l">
              <a:lnSpc>
                <a:spcPts val="4235"/>
              </a:lnSpc>
            </a:pPr>
            <a:endParaRPr lang="en-US" sz="3200" i="1" dirty="0">
              <a:solidFill>
                <a:srgbClr val="545454"/>
              </a:solidFill>
              <a:latin typeface="Times New Roman" panose="02020603050405020304" pitchFamily="18" charset="0"/>
              <a:ea typeface="Poppins Italics"/>
              <a:cs typeface="Times New Roman" panose="02020603050405020304" pitchFamily="18" charset="0"/>
              <a:sym typeface="Poppins Itali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Challenges Faced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229502" y="3093509"/>
            <a:ext cx="2186679" cy="2434562"/>
          </a:xfrm>
          <a:custGeom>
            <a:avLst/>
            <a:gdLst/>
            <a:ahLst/>
            <a:cxnLst/>
            <a:rect l="l" t="t" r="r" b="b"/>
            <a:pathLst>
              <a:path w="2186679" h="2434562">
                <a:moveTo>
                  <a:pt x="0" y="0"/>
                </a:moveTo>
                <a:lnTo>
                  <a:pt x="2186679" y="0"/>
                </a:lnTo>
                <a:lnTo>
                  <a:pt x="2186679" y="2434562"/>
                </a:lnTo>
                <a:lnTo>
                  <a:pt x="0" y="24345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6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Future Work &amp; 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E85A70-2EF8-9438-BAA2-D04C4A0F91EF}"/>
              </a:ext>
            </a:extLst>
          </p:cNvPr>
          <p:cNvSpPr txBox="1"/>
          <p:nvPr/>
        </p:nvSpPr>
        <p:spPr>
          <a:xfrm>
            <a:off x="3352800" y="3093509"/>
            <a:ext cx="134112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Resolve remaining data transformation issues.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selected features and PCA results for further analysis.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interactive Spotify Music Analytics Dashboard.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song popularity trends and feature relationships.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the final project report and presentation.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dataset understanding, cleaning, EDA, feature engineering, and feature selection.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important associations between audio features and popularity.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PCA to reduce nine features to six components while retaining approximately 90.06% variance.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Established a foundation for dashboard development.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576841"/>
            <a:ext cx="18288000" cy="2058570"/>
            <a:chOff x="0" y="0"/>
            <a:chExt cx="3738189" cy="4207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38189" cy="420785"/>
            </a:xfrm>
            <a:custGeom>
              <a:avLst/>
              <a:gdLst/>
              <a:ahLst/>
              <a:cxnLst/>
              <a:rect l="l" t="t" r="r" b="b"/>
              <a:pathLst>
                <a:path w="3738189" h="420785">
                  <a:moveTo>
                    <a:pt x="3534989" y="0"/>
                  </a:moveTo>
                  <a:lnTo>
                    <a:pt x="0" y="0"/>
                  </a:lnTo>
                  <a:lnTo>
                    <a:pt x="0" y="420785"/>
                  </a:lnTo>
                  <a:lnTo>
                    <a:pt x="3534989" y="420785"/>
                  </a:lnTo>
                  <a:lnTo>
                    <a:pt x="3738189" y="210393"/>
                  </a:lnTo>
                  <a:lnTo>
                    <a:pt x="3534989" y="0"/>
                  </a:lnTo>
                  <a:close/>
                </a:path>
              </a:pathLst>
            </a:custGeom>
            <a:solidFill>
              <a:srgbClr val="112D63"/>
            </a:solidFill>
            <a:ln w="19050" cap="sq">
              <a:solidFill>
                <a:srgbClr val="112D63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623889" cy="4874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54565" y="985640"/>
            <a:ext cx="16178870" cy="10695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50"/>
              </a:lnSpc>
              <a:spcBef>
                <a:spcPct val="0"/>
              </a:spcBef>
            </a:pPr>
            <a:r>
              <a:rPr lang="en-US" sz="589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A1E08F-E7E8-75FC-85A0-CDCFB191A43E}"/>
              </a:ext>
            </a:extLst>
          </p:cNvPr>
          <p:cNvSpPr txBox="1"/>
          <p:nvPr/>
        </p:nvSpPr>
        <p:spPr>
          <a:xfrm>
            <a:off x="3048000" y="2992325"/>
            <a:ext cx="126492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Spotify Songs Dataset — Kaggle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Documentation —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https://pandas.pydata.org/docs/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Documentation —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https://numpy.org/doc/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Documentation —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https://matplotlib.org/stable/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Documentation —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https://seaborn.pydata.org/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Documentation —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https://scikit-learn.org/stable/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DSV Team 9 — Weekly Project Report (Weeks 1–7)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29077EA7-225C-C815-1711-B7A1D04E6037}"/>
              </a:ext>
            </a:extLst>
          </p:cNvPr>
          <p:cNvSpPr/>
          <p:nvPr/>
        </p:nvSpPr>
        <p:spPr>
          <a:xfrm>
            <a:off x="229502" y="3093509"/>
            <a:ext cx="2186679" cy="2434562"/>
          </a:xfrm>
          <a:custGeom>
            <a:avLst/>
            <a:gdLst/>
            <a:ahLst/>
            <a:cxnLst/>
            <a:rect l="l" t="t" r="r" b="b"/>
            <a:pathLst>
              <a:path w="2186679" h="2434562">
                <a:moveTo>
                  <a:pt x="0" y="0"/>
                </a:moveTo>
                <a:lnTo>
                  <a:pt x="2186679" y="0"/>
                </a:lnTo>
                <a:lnTo>
                  <a:pt x="2186679" y="2434562"/>
                </a:lnTo>
                <a:lnTo>
                  <a:pt x="0" y="243456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230E0C5F7F31408C24F79FEC3547A8" ma:contentTypeVersion="30" ma:contentTypeDescription="Create a new document." ma:contentTypeScope="" ma:versionID="43aeafdb121866d4c41a050b1c0f9fb4">
  <xsd:schema xmlns:xsd="http://www.w3.org/2001/XMLSchema" xmlns:xs="http://www.w3.org/2001/XMLSchema" xmlns:p="http://schemas.microsoft.com/office/2006/metadata/properties" xmlns:ns2="f8f6405e-9d26-4665-a572-60b6287e955e" xmlns:ns3="75f1d1de-8b6f-4690-bd7e-4a7619080584" targetNamespace="http://schemas.microsoft.com/office/2006/metadata/properties" ma:root="true" ma:fieldsID="a188b3ef85d914b1f0b5272ad37f5517" ns2:_="" ns3:_="">
    <xsd:import namespace="f8f6405e-9d26-4665-a572-60b6287e955e"/>
    <xsd:import namespace="75f1d1de-8b6f-4690-bd7e-4a7619080584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f6405e-9d26-4665-a572-60b6287e955e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6ea1b0d9-6ead-405e-a20d-02fb1ff6912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3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f1d1de-8b6f-4690-bd7e-4a7619080584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38ee401d-fe31-4260-9afb-a78595968dbb}" ma:internalName="TaxCatchAll" ma:showField="CatchAllData" ma:web="75f1d1de-8b6f-4690-bd7e-4a761908058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8f6405e-9d26-4665-a572-60b6287e955e">
      <Terms xmlns="http://schemas.microsoft.com/office/infopath/2007/PartnerControls"/>
    </lcf76f155ced4ddcb4097134ff3c332f>
    <TaxCatchAll xmlns="75f1d1de-8b6f-4690-bd7e-4a7619080584" xsi:nil="true"/>
    <Self_Registration_Enabled xmlns="f8f6405e-9d26-4665-a572-60b6287e955e" xsi:nil="true"/>
    <Teachers xmlns="f8f6405e-9d26-4665-a572-60b6287e955e">
      <UserInfo>
        <DisplayName/>
        <AccountId xsi:nil="true"/>
        <AccountType/>
      </UserInfo>
    </Teachers>
    <Distribution_Groups xmlns="f8f6405e-9d26-4665-a572-60b6287e955e" xsi:nil="true"/>
    <Invited_Teachers xmlns="f8f6405e-9d26-4665-a572-60b6287e955e" xsi:nil="true"/>
    <IsNotebookLocked xmlns="f8f6405e-9d26-4665-a572-60b6287e955e" xsi:nil="true"/>
    <Is_Collaboration_Space_Locked xmlns="f8f6405e-9d26-4665-a572-60b6287e955e" xsi:nil="true"/>
    <Templates xmlns="f8f6405e-9d26-4665-a572-60b6287e955e" xsi:nil="true"/>
    <Has_Teacher_Only_SectionGroup xmlns="f8f6405e-9d26-4665-a572-60b6287e955e" xsi:nil="true"/>
    <FolderType xmlns="f8f6405e-9d26-4665-a572-60b6287e955e" xsi:nil="true"/>
    <CultureName xmlns="f8f6405e-9d26-4665-a572-60b6287e955e" xsi:nil="true"/>
    <LMS_Mappings xmlns="f8f6405e-9d26-4665-a572-60b6287e955e" xsi:nil="true"/>
    <NotebookType xmlns="f8f6405e-9d26-4665-a572-60b6287e955e" xsi:nil="true"/>
    <Teams_Channel_Section_Location xmlns="f8f6405e-9d26-4665-a572-60b6287e955e" xsi:nil="true"/>
    <Math_Settings xmlns="f8f6405e-9d26-4665-a572-60b6287e955e" xsi:nil="true"/>
    <Owner xmlns="f8f6405e-9d26-4665-a572-60b6287e955e">
      <UserInfo>
        <DisplayName/>
        <AccountId xsi:nil="true"/>
        <AccountType/>
      </UserInfo>
    </Owner>
    <Students xmlns="f8f6405e-9d26-4665-a572-60b6287e955e">
      <UserInfo>
        <DisplayName/>
        <AccountId xsi:nil="true"/>
        <AccountType/>
      </UserInfo>
    </Students>
    <Student_Groups xmlns="f8f6405e-9d26-4665-a572-60b6287e955e">
      <UserInfo>
        <DisplayName/>
        <AccountId xsi:nil="true"/>
        <AccountType/>
      </UserInfo>
    </Student_Groups>
    <AppVersion xmlns="f8f6405e-9d26-4665-a572-60b6287e955e" xsi:nil="true"/>
    <TeamsChannelId xmlns="f8f6405e-9d26-4665-a572-60b6287e955e" xsi:nil="true"/>
    <Invited_Students xmlns="f8f6405e-9d26-4665-a572-60b6287e955e" xsi:nil="true"/>
    <DefaultSectionNames xmlns="f8f6405e-9d26-4665-a572-60b6287e955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FDA871-35C3-49FC-BE2F-8D9ECBCC2D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f6405e-9d26-4665-a572-60b6287e955e"/>
    <ds:schemaRef ds:uri="75f1d1de-8b6f-4690-bd7e-4a761908058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578F222-1B32-4B85-AB90-876A769BC140}">
  <ds:schemaRefs>
    <ds:schemaRef ds:uri="http://schemas.microsoft.com/office/2006/metadata/properties"/>
    <ds:schemaRef ds:uri="http://schemas.microsoft.com/office/infopath/2007/PartnerControls"/>
    <ds:schemaRef ds:uri="d75b73e7-722c-4013-b0ab-557461f00139"/>
    <ds:schemaRef ds:uri="123cd861-5ec8-471f-a092-4a549bd61773"/>
    <ds:schemaRef ds:uri="f8f6405e-9d26-4665-a572-60b6287e955e"/>
    <ds:schemaRef ds:uri="75f1d1de-8b6f-4690-bd7e-4a7619080584"/>
  </ds:schemaRefs>
</ds:datastoreItem>
</file>

<file path=customXml/itemProps3.xml><?xml version="1.0" encoding="utf-8"?>
<ds:datastoreItem xmlns:ds="http://schemas.openxmlformats.org/officeDocument/2006/customXml" ds:itemID="{933E3D7C-5C3D-4B60-9674-3050C6F34F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949</Words>
  <Application>Microsoft Office PowerPoint</Application>
  <PresentationFormat>Custom</PresentationFormat>
  <Paragraphs>177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Times New Roman</vt:lpstr>
      <vt:lpstr>Calibri</vt:lpstr>
      <vt:lpstr>Times New Roman Bold</vt:lpstr>
      <vt:lpstr>Poppins Bold Italics</vt:lpstr>
      <vt:lpstr>Poppins</vt:lpstr>
      <vt:lpstr>Arial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and Visualization 24ADI204</dc:title>
  <cp:lastModifiedBy>Saravanan A 25BAD102</cp:lastModifiedBy>
  <cp:revision>101</cp:revision>
  <dcterms:created xsi:type="dcterms:W3CDTF">2006-08-16T00:00:00Z</dcterms:created>
  <dcterms:modified xsi:type="dcterms:W3CDTF">2026-10-13T19:02:28Z</dcterms:modified>
  <dc:identifier>DAHC23RksKI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0x0101004F230E0C5F7F31408C24F79FEC3547A8</vt:lpwstr>
  </property>
  <property fmtid="{D5CDD505-2E9C-101B-9397-08002B2CF9AE}" pid="3" name="MediaServiceImageTags">
    <vt:lpwstr/>
  </property>
</Properties>
</file>